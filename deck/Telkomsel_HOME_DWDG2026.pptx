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7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charts/chart8.xml" ContentType="application/vnd.openxmlformats-officedocument.drawingml.chart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9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10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4002B"/>
            </a:solidFill>
            <a:ln w="22225" cap="flat">
              <a:solidFill>
                <a:srgbClr val="E400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1F2937"/>
                    </a:solidFill>
                    <a:latin typeface="Segoe U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E4002B"/>
              </a:solidFill>
              <a:ln w="9525" cap="flat">
                <a:solidFill>
                  <a:srgbClr val="E400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1Q25</c:v>
                  </c:pt>
                  <c:pt idx="1">
                    <c:v>2Q25</c:v>
                  </c:pt>
                  <c:pt idx="2">
                    <c:v>3Q25</c:v>
                  </c:pt>
                  <c:pt idx="3">
                    <c:v>4Q25</c:v>
                  </c:pt>
                  <c:pt idx="4">
                    <c:v>1Q26</c:v>
                  </c:pt>
                  <c:pt idx="5">
                    <c:v>2Q26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6683</c:v>
                </c:pt>
                <c:pt idx="1">
                  <c:v>6599</c:v>
                </c:pt>
                <c:pt idx="2">
                  <c:v>6490</c:v>
                </c:pt>
                <c:pt idx="3">
                  <c:v>6396</c:v>
                </c:pt>
                <c:pt idx="4">
                  <c:v>6370</c:v>
                </c:pt>
                <c:pt idx="5">
                  <c:v>6410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1F2937"/>
                  </a:solidFill>
                  <a:latin typeface="Segoe U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475569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800"/>
          <c:min val="62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Orbit (cheapest pack mix)</c:v>
                </c:pt>
              </c:strCache>
            </c:strRef>
          </c:tx>
          <c:spPr>
            <a:solidFill>
              <a:srgbClr val="E4002B"/>
            </a:solidFill>
            <a:ln w="22225" cap="flat">
              <a:solidFill>
                <a:srgbClr val="E400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1F2937"/>
                    </a:solidFill>
                    <a:latin typeface="Segoe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E4002B"/>
              </a:solidFill>
              <a:ln w="9525" cap="flat">
                <a:solidFill>
                  <a:srgbClr val="E400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25 GB</c:v>
                  </c:pt>
                  <c:pt idx="1">
                    <c:v>50 GB</c:v>
                  </c:pt>
                  <c:pt idx="2">
                    <c:v>100 GB</c:v>
                  </c:pt>
                  <c:pt idx="3">
                    <c:v>150 GB</c:v>
                  </c:pt>
                  <c:pt idx="4">
                    <c:v>250 GB</c:v>
                  </c:pt>
                  <c:pt idx="5">
                    <c:v>450 GB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</c:v>
                </c:pt>
                <c:pt idx="1">
                  <c:v>100</c:v>
                </c:pt>
                <c:pt idx="2">
                  <c:v>176</c:v>
                </c:pt>
                <c:pt idx="3">
                  <c:v>232</c:v>
                </c:pt>
                <c:pt idx="4">
                  <c:v>352</c:v>
                </c:pt>
                <c:pt idx="5">
                  <c:v>642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IndiHome entry</c:v>
                </c:pt>
              </c:strCache>
            </c:strRef>
          </c:tx>
          <c:spPr>
            <a:solidFill>
              <a:srgbClr val="1F2937"/>
            </a:solidFill>
            <a:ln w="22225" cap="flat">
              <a:solidFill>
                <a:srgbClr val="1F293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1F2937"/>
                    </a:solidFill>
                    <a:latin typeface="Segoe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F2937"/>
              </a:solidFill>
              <a:ln w="9525" cap="flat">
                <a:solidFill>
                  <a:srgbClr val="1F293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25 GB</c:v>
                  </c:pt>
                  <c:pt idx="1">
                    <c:v>50 GB</c:v>
                  </c:pt>
                  <c:pt idx="2">
                    <c:v>100 GB</c:v>
                  </c:pt>
                  <c:pt idx="3">
                    <c:v>150 GB</c:v>
                  </c:pt>
                  <c:pt idx="4">
                    <c:v>250 GB</c:v>
                  </c:pt>
                  <c:pt idx="5">
                    <c:v>450 GB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240</c:v>
                </c:pt>
                <c:pt idx="1">
                  <c:v>240</c:v>
                </c:pt>
                <c:pt idx="2">
                  <c:v>240</c:v>
                </c:pt>
                <c:pt idx="3">
                  <c:v>240</c:v>
                </c:pt>
                <c:pt idx="4">
                  <c:v>240</c:v>
                </c:pt>
                <c:pt idx="5">
                  <c:v>240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EZnet fiber / EZnet Wireless</c:v>
                </c:pt>
              </c:strCache>
            </c:strRef>
          </c:tx>
          <c:spPr>
            <a:solidFill>
              <a:srgbClr val="475569"/>
            </a:solidFill>
            <a:ln w="22225" cap="flat">
              <a:solidFill>
                <a:srgbClr val="4755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1F2937"/>
                    </a:solidFill>
                    <a:latin typeface="Segoe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475569"/>
              </a:solidFill>
              <a:ln w="9525" cap="flat">
                <a:solidFill>
                  <a:srgbClr val="4755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25 GB</c:v>
                  </c:pt>
                  <c:pt idx="1">
                    <c:v>50 GB</c:v>
                  </c:pt>
                  <c:pt idx="2">
                    <c:v>100 GB</c:v>
                  </c:pt>
                  <c:pt idx="3">
                    <c:v>150 GB</c:v>
                  </c:pt>
                  <c:pt idx="4">
                    <c:v>250 GB</c:v>
                  </c:pt>
                  <c:pt idx="5">
                    <c:v>450 GB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188.7</c:v>
                </c:pt>
                <c:pt idx="1">
                  <c:v>188.7</c:v>
                </c:pt>
                <c:pt idx="2">
                  <c:v>188.7</c:v>
                </c:pt>
                <c:pt idx="3">
                  <c:v>188.7</c:v>
                </c:pt>
                <c:pt idx="4">
                  <c:v>188.7</c:v>
                </c:pt>
                <c:pt idx="5">
                  <c:v>188.7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Starlite / Internet Rakyat</c:v>
                </c:pt>
              </c:strCache>
            </c:strRef>
          </c:tx>
          <c:spPr>
            <a:solidFill>
              <a:srgbClr val="94A3B8"/>
            </a:solidFill>
            <a:ln w="22225" cap="flat">
              <a:solidFill>
                <a:srgbClr val="94A3B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1F2937"/>
                    </a:solidFill>
                    <a:latin typeface="Segoe UI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25 GB</c:v>
                  </c:pt>
                  <c:pt idx="1">
                    <c:v>50 GB</c:v>
                  </c:pt>
                  <c:pt idx="2">
                    <c:v>100 GB</c:v>
                  </c:pt>
                  <c:pt idx="3">
                    <c:v>150 GB</c:v>
                  </c:pt>
                  <c:pt idx="4">
                    <c:v>250 GB</c:v>
                  </c:pt>
                  <c:pt idx="5">
                    <c:v>450 GB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1F2937"/>
                  </a:solidFill>
                  <a:latin typeface="Segoe UI"/>
                </a:defRPr>
              </a:pPr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475569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
              <a:solidFill>
                <a:srgbClr val="475569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cash</c:v>
                </c:pt>
              </c:strCache>
            </c:strRef>
          </c:tx>
          <c:spPr>
            <a:solidFill>
              <a:srgbClr val="E400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1F2937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E4002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2027</c:v>
                  </c:pt>
                  <c:pt idx="1">
                    <c:v>2028</c:v>
                  </c:pt>
                  <c:pt idx="2">
                    <c:v>2029</c:v>
                  </c:pt>
                  <c:pt idx="3">
                    <c:v>2030</c:v>
                  </c:pt>
                  <c:pt idx="4">
                    <c:v>2031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-135</c:v>
                </c:pt>
                <c:pt idx="1">
                  <c:v>-231</c:v>
                </c:pt>
                <c:pt idx="2">
                  <c:v>-225</c:v>
                </c:pt>
                <c:pt idx="3">
                  <c:v>-154</c:v>
                </c:pt>
                <c:pt idx="4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1F2937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475569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-3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E400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1F2937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1Q25</c:v>
                  </c:pt>
                  <c:pt idx="1">
                    <c:v>2Q25</c:v>
                  </c:pt>
                  <c:pt idx="2">
                    <c:v>3Q25</c:v>
                  </c:pt>
                  <c:pt idx="3">
                    <c:v>4Q25</c:v>
                  </c:pt>
                  <c:pt idx="4">
                    <c:v>1Q26</c:v>
                  </c:pt>
                  <c:pt idx="5">
                    <c:v>2Q26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6683</c:v>
                </c:pt>
                <c:pt idx="1">
                  <c:v>6599</c:v>
                </c:pt>
                <c:pt idx="2">
                  <c:v>6490</c:v>
                </c:pt>
                <c:pt idx="3">
                  <c:v>6396</c:v>
                </c:pt>
                <c:pt idx="4">
                  <c:v>6370</c:v>
                </c:pt>
                <c:pt idx="5">
                  <c:v>6410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1F2937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475569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800"/>
          <c:min val="6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2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A500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1F2937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4Q24</c:v>
                  </c:pt>
                  <c:pt idx="1">
                    <c:v>1Q25</c:v>
                  </c:pt>
                  <c:pt idx="2">
                    <c:v>2Q25</c:v>
                  </c:pt>
                  <c:pt idx="3">
                    <c:v>3Q25</c:v>
                  </c:pt>
                  <c:pt idx="4">
                    <c:v>4Q25</c:v>
                  </c:pt>
                  <c:pt idx="5">
                    <c:v>1Q26</c:v>
                  </c:pt>
                  <c:pt idx="6">
                    <c:v>2Q26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9612</c:v>
                </c:pt>
                <c:pt idx="1">
                  <c:v>9842</c:v>
                </c:pt>
                <c:pt idx="2">
                  <c:v>10061</c:v>
                </c:pt>
                <c:pt idx="3">
                  <c:v>10261</c:v>
                </c:pt>
                <c:pt idx="4">
                  <c:v>10324</c:v>
                </c:pt>
                <c:pt idx="5">
                  <c:v>10327</c:v>
                </c:pt>
                <c:pt idx="6">
                  <c:v>9513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1F2937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475569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600"/>
          <c:min val="9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4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Converged homes</c:v>
                </c:pt>
              </c:strCache>
            </c:strRef>
          </c:tx>
          <c:spPr>
            <a:solidFill>
              <a:srgbClr val="A5002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580" u="none">
                    <a:solidFill>
                      <a:srgbClr val="1F2937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1Q25</c:v>
                  </c:pt>
                  <c:pt idx="1">
                    <c:v>2Q25</c:v>
                  </c:pt>
                  <c:pt idx="2">
                    <c:v>3Q25</c:v>
                  </c:pt>
                  <c:pt idx="3">
                    <c:v>4Q25</c:v>
                  </c:pt>
                  <c:pt idx="4">
                    <c:v>1Q26</c:v>
                  </c:pt>
                  <c:pt idx="5">
                    <c:v>2Q26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-38</c:v>
                </c:pt>
                <c:pt idx="1">
                  <c:v>52</c:v>
                </c:pt>
                <c:pt idx="2">
                  <c:v>151</c:v>
                </c:pt>
                <c:pt idx="3">
                  <c:v>420</c:v>
                </c:pt>
                <c:pt idx="4">
                  <c:v>19</c:v>
                </c:pt>
                <c:pt idx="5">
                  <c:v>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Homes without a Telkomsel line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580" u="none">
                    <a:solidFill>
                      <a:srgbClr val="1F2937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1Q25</c:v>
                  </c:pt>
                  <c:pt idx="1">
                    <c:v>2Q25</c:v>
                  </c:pt>
                  <c:pt idx="2">
                    <c:v>3Q25</c:v>
                  </c:pt>
                  <c:pt idx="3">
                    <c:v>4Q25</c:v>
                  </c:pt>
                  <c:pt idx="4">
                    <c:v>1Q26</c:v>
                  </c:pt>
                  <c:pt idx="5">
                    <c:v>2Q26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268</c:v>
                </c:pt>
                <c:pt idx="1">
                  <c:v>167</c:v>
                </c:pt>
                <c:pt idx="2">
                  <c:v>48</c:v>
                </c:pt>
                <c:pt idx="3">
                  <c:v>-357</c:v>
                </c:pt>
                <c:pt idx="4">
                  <c:v>-16</c:v>
                </c:pt>
                <c:pt idx="5">
                  <c:v>-899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580" u="none">
                  <a:solidFill>
                    <a:srgbClr val="1F2937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475569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0"/>
          <c:min val="-1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
              <a:solidFill>
                <a:srgbClr val="475569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</c:v>
                </c:pt>
              </c:strCache>
            </c:strRef>
          </c:tx>
          <c:spPr>
            <a:solidFill>
              <a:srgbClr val="E4002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1F2937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Reported view</c:v>
                  </c:pt>
                  <c:pt idx="1">
                    <c:v>Built in 1H25</c:v>
                  </c:pt>
                  <c:pt idx="2">
                    <c:v>Built Jan 2024–Jun 2025</c:v>
                  </c:pt>
                  <c:pt idx="3">
                    <c:v>Constant legacy stock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-9.7</c:v>
                </c:pt>
                <c:pt idx="1">
                  <c:v>-0.7</c:v>
                </c:pt>
                <c:pt idx="2">
                  <c:v>-2.9</c:v>
                </c:pt>
                <c:pt idx="3">
                  <c:v>-10.8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650" u="none">
                  <a:solidFill>
                    <a:srgbClr val="1F2937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475569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"/>
          <c:min val="-12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3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2Q25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1F2937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Starlite fiber</c:v>
                  </c:pt>
                  <c:pt idx="1">
                    <c:v>Internet Rakyat (FWA)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0.39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2Q26</c:v>
                </c:pt>
              </c:strCache>
            </c:strRef>
          </c:tx>
          <c:spPr>
            <a:solidFill>
              <a:srgbClr val="E400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1F2937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Starlite fiber</c:v>
                  </c:pt>
                  <c:pt idx="1">
                    <c:v>Internet Rakyat (FWA)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1.85</c:v>
                </c:pt>
                <c:pt idx="1">
                  <c:v>0.513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650" u="none">
                  <a:solidFill>
                    <a:srgbClr val="1F2937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475569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650">
              <a:solidFill>
                <a:srgbClr val="475569"/>
              </a:solidFill>
              <a:latin typeface="Segoe UI"/>
              <a:cs typeface="Segoe U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E400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1F2937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Roles by network and tier</c:v>
                  </c:pt>
                  <c:pt idx="1">
                    <c:v>Experience where contested</c:v>
                  </c:pt>
                  <c:pt idx="2">
                    <c:v>No designed path</c:v>
                  </c:pt>
                  <c:pt idx="3">
                    <c:v>Acquisition outside mobile</c:v>
                  </c:pt>
                  <c:pt idx="4">
                    <c:v>Extras given away or lent</c:v>
                  </c:pt>
                  <c:pt idx="5">
                    <c:v>Bundle gives little reason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4.05</c:v>
                </c:pt>
                <c:pt idx="1">
                  <c:v>3.8</c:v>
                </c:pt>
                <c:pt idx="2">
                  <c:v>3.8</c:v>
                </c:pt>
                <c:pt idx="3">
                  <c:v>3.65</c:v>
                </c:pt>
                <c:pt idx="4">
                  <c:v>3.6</c:v>
                </c:pt>
                <c:pt idx="5">
                  <c:v>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650" u="none">
                  <a:solidFill>
                    <a:srgbClr val="1F2937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475569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Expected NPV</c:v>
                </c:pt>
              </c:strCache>
            </c:strRef>
          </c:tx>
          <c:spPr>
            <a:solidFill>
              <a:srgbClr val="E400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650" u="none">
                    <a:solidFill>
                      <a:srgbClr val="1F2937"/>
                    </a:solidFill>
                    <a:latin typeface="Segoe U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40% chance of passing</c:v>
                  </c:pt>
                  <c:pt idx="1">
                    <c:v>60%</c:v>
                  </c:pt>
                  <c:pt idx="2">
                    <c:v>80%</c:v>
                  </c:pt>
                  <c:pt idx="3">
                    <c:v>Base (pass)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116</c:v>
                </c:pt>
                <c:pt idx="1">
                  <c:v>208</c:v>
                </c:pt>
                <c:pt idx="2">
                  <c:v>301</c:v>
                </c:pt>
                <c:pt idx="3">
                  <c:v>394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650" u="none">
                  <a:solidFill>
                    <a:srgbClr val="1F2937"/>
                  </a:solidFill>
                  <a:latin typeface="Segoe U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BD5E1"/>
            </a:solidFill>
            <a:prstDash val="solid"/>
            <a:round/>
          </a:ln>
        </c:spPr>
        <c:txPr>
          <a:bodyPr/>
          <a:lstStyle/>
          <a:p>
            <a:pPr>
              <a:defRPr sz="650" b="0" i="0" u="none" strike="noStrike">
                <a:solidFill>
                  <a:srgbClr val="475569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94A3B8"/>
                </a:solidFill>
                <a:latin typeface="Segoe UI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1" Type="http://schemas.openxmlformats.org/officeDocument/2006/relationships/image" Target="../media/image-1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6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7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8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9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0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bbon top"/>
          <p:cNvSpPr/>
          <p:nvPr/>
        </p:nvSpPr>
        <p:spPr>
          <a:xfrm>
            <a:off x="-2011680" y="-4206240"/>
            <a:ext cx="10515600" cy="5120640"/>
          </a:xfrm>
          <a:prstGeom prst="blockArc">
            <a:avLst>
              <a:gd name="adj1" fmla="val 900000"/>
              <a:gd name="adj2" fmla="val 9900000"/>
              <a:gd name="adj3" fmla="val 1750"/>
            </a:avLst>
          </a:prstGeom>
          <a:solidFill>
            <a:srgbClr val="475569"/>
          </a:solidFill>
          <a:ln/>
        </p:spPr>
      </p:sp>
      <p:sp>
        <p:nvSpPr>
          <p:cNvPr id="3" name="ribbon right"/>
          <p:cNvSpPr/>
          <p:nvPr/>
        </p:nvSpPr>
        <p:spPr>
          <a:xfrm>
            <a:off x="4480560" y="182880"/>
            <a:ext cx="6035040" cy="6035040"/>
          </a:xfrm>
          <a:prstGeom prst="blockArc">
            <a:avLst>
              <a:gd name="adj1" fmla="val 13320000"/>
              <a:gd name="adj2" fmla="val 19800000"/>
              <a:gd name="adj3" fmla="val 3000"/>
            </a:avLst>
          </a:prstGeom>
          <a:solidFill>
            <a:srgbClr val="A50021"/>
          </a:solidFill>
          <a:ln/>
        </p:spPr>
      </p:sp>
      <p:sp>
        <p:nvSpPr>
          <p:cNvPr id="4" name="ribbon left"/>
          <p:cNvSpPr/>
          <p:nvPr/>
        </p:nvSpPr>
        <p:spPr>
          <a:xfrm>
            <a:off x="-1737360" y="2834640"/>
            <a:ext cx="3840480" cy="3840480"/>
          </a:xfrm>
          <a:prstGeom prst="blockArc">
            <a:avLst>
              <a:gd name="adj1" fmla="val 15000000"/>
              <a:gd name="adj2" fmla="val 1200000"/>
              <a:gd name="adj3" fmla="val 4500"/>
            </a:avLst>
          </a:prstGeom>
          <a:solidFill>
            <a:srgbClr val="E4002B"/>
          </a:solidFill>
          <a:ln/>
        </p:spPr>
      </p:sp>
      <p:sp>
        <p:nvSpPr>
          <p:cNvPr id="5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pic>
        <p:nvPicPr>
          <p:cNvPr id="7" name="Image 0" descr="titl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868680"/>
            <a:ext cx="82296" cy="1965960"/>
          </a:xfrm>
          <a:prstGeom prst="rect">
            <a:avLst/>
          </a:prstGeom>
        </p:spPr>
      </p:pic>
      <p:sp>
        <p:nvSpPr>
          <p:cNvPr id="8" name="badge H"/>
          <p:cNvSpPr/>
          <p:nvPr/>
        </p:nvSpPr>
        <p:spPr>
          <a:xfrm>
            <a:off x="658368" y="868680"/>
            <a:ext cx="676656" cy="676656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58368" y="86868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3000" dirty="0"/>
          </a:p>
        </p:txBody>
      </p:sp>
      <p:sp>
        <p:nvSpPr>
          <p:cNvPr id="10" name="dot 0"/>
          <p:cNvSpPr/>
          <p:nvPr/>
        </p:nvSpPr>
        <p:spPr>
          <a:xfrm>
            <a:off x="1490472" y="1426464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30352" y="161848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fit</a:t>
            </a:r>
            <a:endParaRPr lang="en-US" sz="750" dirty="0"/>
          </a:p>
        </p:txBody>
      </p:sp>
      <p:sp>
        <p:nvSpPr>
          <p:cNvPr id="12" name="badge O"/>
          <p:cNvSpPr/>
          <p:nvPr/>
        </p:nvSpPr>
        <p:spPr>
          <a:xfrm>
            <a:off x="1755648" y="868680"/>
            <a:ext cx="676656" cy="676656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1755648" y="86868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3000" dirty="0"/>
          </a:p>
        </p:txBody>
      </p:sp>
      <p:sp>
        <p:nvSpPr>
          <p:cNvPr id="14" name="dot 1"/>
          <p:cNvSpPr/>
          <p:nvPr/>
        </p:nvSpPr>
        <p:spPr>
          <a:xfrm>
            <a:off x="2587752" y="1426464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627632" y="161848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 a path up</a:t>
            </a:r>
            <a:endParaRPr lang="en-US" sz="750" dirty="0"/>
          </a:p>
        </p:txBody>
      </p:sp>
      <p:sp>
        <p:nvSpPr>
          <p:cNvPr id="16" name="badge M"/>
          <p:cNvSpPr/>
          <p:nvPr/>
        </p:nvSpPr>
        <p:spPr>
          <a:xfrm>
            <a:off x="2852928" y="868680"/>
            <a:ext cx="676656" cy="676656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2852928" y="86868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3000" dirty="0"/>
          </a:p>
        </p:txBody>
      </p:sp>
      <p:sp>
        <p:nvSpPr>
          <p:cNvPr id="18" name="dot 2"/>
          <p:cNvSpPr/>
          <p:nvPr/>
        </p:nvSpPr>
        <p:spPr>
          <a:xfrm>
            <a:off x="3685032" y="1426464"/>
            <a:ext cx="100584" cy="10058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724912" y="161848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staying better</a:t>
            </a:r>
            <a:endParaRPr lang="en-US" sz="750" dirty="0"/>
          </a:p>
        </p:txBody>
      </p:sp>
      <p:sp>
        <p:nvSpPr>
          <p:cNvPr id="20" name="badge E"/>
          <p:cNvSpPr/>
          <p:nvPr/>
        </p:nvSpPr>
        <p:spPr>
          <a:xfrm>
            <a:off x="3950208" y="868680"/>
            <a:ext cx="676656" cy="676656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3950208" y="868680"/>
            <a:ext cx="67665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3000" dirty="0"/>
          </a:p>
        </p:txBody>
      </p:sp>
      <p:sp>
        <p:nvSpPr>
          <p:cNvPr id="22" name="Text 19"/>
          <p:cNvSpPr txBox="1"/>
          <p:nvPr/>
        </p:nvSpPr>
        <p:spPr>
          <a:xfrm>
            <a:off x="3822192" y="1618488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 household value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658368" y="2029968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Managing the home, not the line: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positioning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by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need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grow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long-term household value</a:t>
            </a:r>
            <a:endParaRPr lang="en-US" sz="1450" dirty="0"/>
          </a:p>
        </p:txBody>
      </p:sp>
      <p:sp>
        <p:nvSpPr>
          <p:cNvPr id="24" name="house roof"/>
          <p:cNvSpPr/>
          <p:nvPr/>
        </p:nvSpPr>
        <p:spPr>
          <a:xfrm>
            <a:off x="5989320" y="566928"/>
            <a:ext cx="2514600" cy="777240"/>
          </a:xfrm>
          <a:prstGeom prst="triangle">
            <a:avLst/>
          </a:prstGeom>
          <a:solidFill>
            <a:srgbClr val="1F2937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5" name="house body"/>
          <p:cNvSpPr/>
          <p:nvPr/>
        </p:nvSpPr>
        <p:spPr>
          <a:xfrm>
            <a:off x="6245352" y="1344168"/>
            <a:ext cx="2002536" cy="1783080"/>
          </a:xfrm>
          <a:prstGeom prst="rect">
            <a:avLst/>
          </a:prstGeom>
          <a:solidFill>
            <a:srgbClr val="273244"/>
          </a:solidFill>
          <a:ln w="22225">
            <a:solidFill>
              <a:srgbClr val="FFFFFF"/>
            </a:solidFill>
            <a:prstDash val="solid"/>
          </a:ln>
        </p:spPr>
      </p:sp>
      <p:sp>
        <p:nvSpPr>
          <p:cNvPr id="26" name="spoke 0"/>
          <p:cNvSpPr/>
          <p:nvPr/>
        </p:nvSpPr>
        <p:spPr>
          <a:xfrm>
            <a:off x="6588252" y="1682496"/>
            <a:ext cx="658368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7" name="spoke 1"/>
          <p:cNvSpPr/>
          <p:nvPr/>
        </p:nvSpPr>
        <p:spPr>
          <a:xfrm flipH="1">
            <a:off x="7246620" y="1682496"/>
            <a:ext cx="658368" cy="45720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8" name="spoke 2"/>
          <p:cNvSpPr/>
          <p:nvPr/>
        </p:nvSpPr>
        <p:spPr>
          <a:xfrm>
            <a:off x="7246620" y="2139696"/>
            <a:ext cx="914" cy="603504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29" name="spoke 3"/>
          <p:cNvSpPr/>
          <p:nvPr/>
        </p:nvSpPr>
        <p:spPr>
          <a:xfrm flipH="1">
            <a:off x="5920740" y="2139696"/>
            <a:ext cx="132588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0" name="spoke 4"/>
          <p:cNvSpPr/>
          <p:nvPr/>
        </p:nvSpPr>
        <p:spPr>
          <a:xfrm>
            <a:off x="7246620" y="2139696"/>
            <a:ext cx="1325880" cy="27432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1" name="hub IndiHome"/>
          <p:cNvSpPr/>
          <p:nvPr/>
        </p:nvSpPr>
        <p:spPr>
          <a:xfrm>
            <a:off x="6825996" y="1719072"/>
            <a:ext cx="841248" cy="841248"/>
          </a:xfrm>
          <a:prstGeom prst="ellipse">
            <a:avLst/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825996" y="1719072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</a:t>
            </a:r>
            <a:endParaRPr lang="en-US" sz="850" dirty="0"/>
          </a:p>
        </p:txBody>
      </p:sp>
      <p:sp>
        <p:nvSpPr>
          <p:cNvPr id="33" name="satellite Orbit 0"/>
          <p:cNvSpPr/>
          <p:nvPr/>
        </p:nvSpPr>
        <p:spPr>
          <a:xfrm>
            <a:off x="6359652" y="1453896"/>
            <a:ext cx="457200" cy="457200"/>
          </a:xfrm>
          <a:prstGeom prst="ellipse">
            <a:avLst/>
          </a:prstGeom>
          <a:solidFill>
            <a:srgbClr val="1F293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359652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</a:t>
            </a:r>
            <a:endParaRPr lang="en-US" sz="650" dirty="0"/>
          </a:p>
        </p:txBody>
      </p:sp>
      <p:sp>
        <p:nvSpPr>
          <p:cNvPr id="35" name="satellite Orbit 1"/>
          <p:cNvSpPr/>
          <p:nvPr/>
        </p:nvSpPr>
        <p:spPr>
          <a:xfrm>
            <a:off x="7676388" y="1453896"/>
            <a:ext cx="457200" cy="457200"/>
          </a:xfrm>
          <a:prstGeom prst="ellipse">
            <a:avLst/>
          </a:prstGeom>
          <a:solidFill>
            <a:srgbClr val="1F293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676388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</a:t>
            </a:r>
            <a:endParaRPr lang="en-US" sz="650" dirty="0"/>
          </a:p>
        </p:txBody>
      </p:sp>
      <p:sp>
        <p:nvSpPr>
          <p:cNvPr id="37" name="satellite Orbit 2"/>
          <p:cNvSpPr/>
          <p:nvPr/>
        </p:nvSpPr>
        <p:spPr>
          <a:xfrm>
            <a:off x="7018020" y="2514600"/>
            <a:ext cx="457200" cy="457200"/>
          </a:xfrm>
          <a:prstGeom prst="ellipse">
            <a:avLst/>
          </a:prstGeom>
          <a:solidFill>
            <a:srgbClr val="1F293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701802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</a:t>
            </a:r>
            <a:endParaRPr lang="en-US" sz="650" dirty="0"/>
          </a:p>
        </p:txBody>
      </p:sp>
      <p:sp>
        <p:nvSpPr>
          <p:cNvPr id="39" name="satellite Orbit 3"/>
          <p:cNvSpPr/>
          <p:nvPr/>
        </p:nvSpPr>
        <p:spPr>
          <a:xfrm>
            <a:off x="5692140" y="2185416"/>
            <a:ext cx="457200" cy="457200"/>
          </a:xfrm>
          <a:prstGeom prst="ellipse">
            <a:avLst/>
          </a:prstGeom>
          <a:solidFill>
            <a:srgbClr val="1F293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692140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</a:t>
            </a:r>
            <a:endParaRPr lang="en-US" sz="650" dirty="0"/>
          </a:p>
        </p:txBody>
      </p:sp>
      <p:sp>
        <p:nvSpPr>
          <p:cNvPr id="41" name="satellite Orbit 4"/>
          <p:cNvSpPr/>
          <p:nvPr/>
        </p:nvSpPr>
        <p:spPr>
          <a:xfrm>
            <a:off x="8343900" y="2185416"/>
            <a:ext cx="457200" cy="457200"/>
          </a:xfrm>
          <a:prstGeom prst="ellipse">
            <a:avLst/>
          </a:prstGeom>
          <a:solidFill>
            <a:srgbClr val="1F2937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343900" y="21854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</a:t>
            </a:r>
            <a:endParaRPr lang="en-US" sz="650" dirty="0"/>
          </a:p>
        </p:txBody>
      </p:sp>
      <p:sp>
        <p:nvSpPr>
          <p:cNvPr id="43" name="Text 40"/>
          <p:cNvSpPr txBox="1"/>
          <p:nvPr/>
        </p:nvSpPr>
        <p:spPr>
          <a:xfrm>
            <a:off x="5897880" y="320040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as the family's home hub; Orbit as the flexible start, in and beyond the home</a:t>
            </a:r>
            <a:endParaRPr lang="en-US" sz="650" dirty="0"/>
          </a:p>
        </p:txBody>
      </p:sp>
      <p:sp>
        <p:nvSpPr>
          <p:cNvPr id="44" name="bottom band"/>
          <p:cNvSpPr/>
          <p:nvPr/>
        </p:nvSpPr>
        <p:spPr>
          <a:xfrm>
            <a:off x="274320" y="3931920"/>
            <a:ext cx="8595360" cy="9601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5" name="Text 42"/>
          <p:cNvSpPr txBox="1"/>
          <p:nvPr/>
        </p:nvSpPr>
        <p:spPr>
          <a:xfrm>
            <a:off x="594360" y="404164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Proposed by:</a:t>
            </a:r>
            <a:endParaRPr lang="en-US" sz="750" dirty="0"/>
          </a:p>
        </p:txBody>
      </p:sp>
      <p:sp>
        <p:nvSpPr>
          <p:cNvPr id="46" name="Text 43"/>
          <p:cNvSpPr txBox="1"/>
          <p:nvPr/>
        </p:nvSpPr>
        <p:spPr>
          <a:xfrm>
            <a:off x="59436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[name]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594360" y="4498848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 Every Home: Optimizing Telkomsel's Household Connectivity Portfolio · DWDG ITS Mini Case Competition 2026</a:t>
            </a:r>
            <a:endParaRPr lang="en-US" sz="750" dirty="0"/>
          </a:p>
        </p:txBody>
      </p:sp>
      <p:sp>
        <p:nvSpPr>
          <p:cNvPr id="48" name="member photo 0"/>
          <p:cNvSpPr/>
          <p:nvPr/>
        </p:nvSpPr>
        <p:spPr>
          <a:xfrm>
            <a:off x="5989320" y="3639312"/>
            <a:ext cx="603504" cy="60350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9" name="Text 46"/>
          <p:cNvSpPr txBox="1"/>
          <p:nvPr/>
        </p:nvSpPr>
        <p:spPr>
          <a:xfrm>
            <a:off x="5989320" y="36393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[photo]</a:t>
            </a:r>
            <a:endParaRPr lang="en-US" sz="600" dirty="0"/>
          </a:p>
        </p:txBody>
      </p:sp>
      <p:sp>
        <p:nvSpPr>
          <p:cNvPr id="50" name="Text 47"/>
          <p:cNvSpPr txBox="1"/>
          <p:nvPr/>
        </p:nvSpPr>
        <p:spPr>
          <a:xfrm>
            <a:off x="5806440" y="431596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[member 1]</a:t>
            </a:r>
            <a:endParaRPr lang="en-US" sz="650" dirty="0"/>
          </a:p>
        </p:txBody>
      </p:sp>
      <p:sp>
        <p:nvSpPr>
          <p:cNvPr id="51" name="member photo 1"/>
          <p:cNvSpPr/>
          <p:nvPr/>
        </p:nvSpPr>
        <p:spPr>
          <a:xfrm>
            <a:off x="6949440" y="3639312"/>
            <a:ext cx="603504" cy="60350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2" name="Text 49"/>
          <p:cNvSpPr txBox="1"/>
          <p:nvPr/>
        </p:nvSpPr>
        <p:spPr>
          <a:xfrm>
            <a:off x="6949440" y="36393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[photo]</a:t>
            </a:r>
            <a:endParaRPr lang="en-US" sz="600" dirty="0"/>
          </a:p>
        </p:txBody>
      </p:sp>
      <p:sp>
        <p:nvSpPr>
          <p:cNvPr id="53" name="Text 50"/>
          <p:cNvSpPr txBox="1"/>
          <p:nvPr/>
        </p:nvSpPr>
        <p:spPr>
          <a:xfrm>
            <a:off x="6766560" y="431596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[member 2]</a:t>
            </a:r>
            <a:endParaRPr lang="en-US" sz="650" dirty="0"/>
          </a:p>
        </p:txBody>
      </p:sp>
      <p:sp>
        <p:nvSpPr>
          <p:cNvPr id="54" name="member photo 2"/>
          <p:cNvSpPr/>
          <p:nvPr/>
        </p:nvSpPr>
        <p:spPr>
          <a:xfrm>
            <a:off x="7909560" y="3639312"/>
            <a:ext cx="603504" cy="603504"/>
          </a:xfrm>
          <a:prstGeom prst="ellipse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5" name="Text 52"/>
          <p:cNvSpPr txBox="1"/>
          <p:nvPr/>
        </p:nvSpPr>
        <p:spPr>
          <a:xfrm>
            <a:off x="7909560" y="363931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[photo]</a:t>
            </a:r>
            <a:endParaRPr lang="en-US" sz="600" dirty="0"/>
          </a:p>
        </p:txBody>
      </p:sp>
      <p:sp>
        <p:nvSpPr>
          <p:cNvPr id="56" name="Text 53"/>
          <p:cNvSpPr txBox="1"/>
          <p:nvPr/>
        </p:nvSpPr>
        <p:spPr>
          <a:xfrm>
            <a:off x="7726680" y="4315968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[member 3]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bbon left"/>
          <p:cNvSpPr/>
          <p:nvPr/>
        </p:nvSpPr>
        <p:spPr>
          <a:xfrm>
            <a:off x="-1463040" y="3108960"/>
            <a:ext cx="3291840" cy="3291840"/>
          </a:xfrm>
          <a:prstGeom prst="blockArc">
            <a:avLst>
              <a:gd name="adj1" fmla="val 15000000"/>
              <a:gd name="adj2" fmla="val 1200000"/>
              <a:gd name="adj3" fmla="val 4500"/>
            </a:avLst>
          </a:prstGeom>
          <a:solidFill>
            <a:srgbClr val="E4002B"/>
          </a:solidFill>
          <a:ln/>
        </p:spPr>
      </p:sp>
      <p:pic>
        <p:nvPicPr>
          <p:cNvPr id="3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4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30175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summary: fitting each home to the right product, then growing and keeping it, is worth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Rp394bn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over the life of the homes won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274320" y="48188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</a:t>
            </a:r>
            <a:pPr indent="0" marL="0">
              <a:buNone/>
            </a:pPr>
            <a:r>
              <a:rPr lang="en-US" sz="600" i="1" baseline="30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pPr indent="0" marL="0">
              <a:buNone/>
            </a:pPr>
            <a:r>
              <a:rPr lang="en-US" sz="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Telkom 1H26 Info Memo · </a:t>
            </a:r>
            <a:pPr indent="0" marL="0">
              <a:buNone/>
            </a:pPr>
            <a:r>
              <a:rPr lang="en-US" sz="600" i="1" baseline="30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pPr indent="0" marL="0">
              <a:buNone/>
            </a:pPr>
            <a:r>
              <a:rPr lang="en-US" sz="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Appendix 6 · </a:t>
            </a:r>
            <a:pPr indent="0" marL="0">
              <a:buNone/>
            </a:pPr>
            <a:r>
              <a:rPr lang="en-US" sz="600" i="1" baseline="30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pPr indent="0" marL="0">
              <a:buNone/>
            </a:pPr>
            <a:r>
              <a:rPr lang="en-US" sz="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Surge disclosures, Appendix 7 · </a:t>
            </a:r>
            <a:pPr indent="0" marL="0">
              <a:buNone/>
            </a:pPr>
            <a:r>
              <a:rPr lang="en-US" sz="600" i="1" baseline="30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pPr indent="0" marL="0">
              <a:buNone/>
            </a:pPr>
            <a:r>
              <a:rPr lang="en-US" sz="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Telkomsel website (10 Oct 2026), Appendix 9 · </a:t>
            </a:r>
            <a:pPr indent="0" marL="0">
              <a:buNone/>
            </a:pPr>
            <a:r>
              <a:rPr lang="en-US" sz="600" i="1" baseline="30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</a:t>
            </a:r>
            <a:pPr indent="0" marL="0">
              <a:buNone/>
            </a:pPr>
            <a:r>
              <a:rPr lang="en-US" sz="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Appendix 10 · </a:t>
            </a:r>
            <a:pPr indent="0" marL="0">
              <a:buNone/>
            </a:pPr>
            <a:r>
              <a:rPr lang="en-US" sz="600" i="1" baseline="30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</a:t>
            </a:r>
            <a:pPr indent="0" marL="0">
              <a:buNone/>
            </a:pPr>
            <a:r>
              <a:rPr lang="en-US" sz="600" i="1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Opensignal, Appendix 8 · model: Appendix 21–24</a:t>
            </a:r>
            <a:endParaRPr lang="en-US" sz="600" dirty="0"/>
          </a:p>
        </p:txBody>
      </p:sp>
      <p:sp>
        <p:nvSpPr>
          <p:cNvPr id="9" name="Text 6"/>
          <p:cNvSpPr txBox="1"/>
          <p:nvPr/>
        </p:nvSpPr>
        <p:spPr>
          <a:xfrm>
            <a:off x="5440680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053328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6665976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7278624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650" dirty="0"/>
          </a:p>
        </p:txBody>
      </p:sp>
      <p:sp>
        <p:nvSpPr>
          <p:cNvPr id="13" name="Text 10"/>
          <p:cNvSpPr txBox="1"/>
          <p:nvPr/>
        </p:nvSpPr>
        <p:spPr>
          <a:xfrm>
            <a:off x="7891272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</a:t>
            </a:r>
            <a:endParaRPr lang="en-US" sz="650" dirty="0"/>
          </a:p>
        </p:txBody>
      </p:sp>
      <p:sp>
        <p:nvSpPr>
          <p:cNvPr id="14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panel"/>
          <p:cNvSpPr/>
          <p:nvPr/>
        </p:nvSpPr>
        <p:spPr>
          <a:xfrm>
            <a:off x="1024128" y="841248"/>
            <a:ext cx="7918704" cy="3913632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109728" y="923544"/>
            <a:ext cx="877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Situation</a:t>
            </a:r>
            <a:endParaRPr lang="en-US" sz="950" dirty="0"/>
          </a:p>
        </p:txBody>
      </p:sp>
      <p:sp>
        <p:nvSpPr>
          <p:cNvPr id="18" name="situation"/>
          <p:cNvSpPr/>
          <p:nvPr/>
        </p:nvSpPr>
        <p:spPr>
          <a:xfrm>
            <a:off x="1115568" y="923544"/>
            <a:ext cx="7735824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207008" y="923544"/>
            <a:ext cx="7552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revenue fell </a:t>
            </a:r>
            <a:pPr algn="ctr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1.6%</a:t>
            </a:r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2025 and </a:t>
            </a:r>
            <a:pPr algn="ctr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3.8%</a:t>
            </a:r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1H26 </a:t>
            </a:r>
            <a:pPr algn="ctr" indent="0" marL="0">
              <a:buNone/>
            </a:pPr>
            <a:r>
              <a:rPr lang="en-US" sz="78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while </a:t>
            </a:r>
            <a:pPr algn="ctr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≈58–60M</a:t>
            </a:r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homes are still unconnected </a:t>
            </a:r>
            <a:pPr algn="ctr" indent="0" marL="0">
              <a:buNone/>
            </a:pPr>
            <a:r>
              <a:rPr lang="en-US" sz="78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pPr algn="ctr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Rp100k fiber</a:t>
            </a:r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took the growth: </a:t>
            </a:r>
            <a:pPr algn="ctr"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Surge added 1.98M homes</a:t>
            </a:r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12 months </a:t>
            </a:r>
            <a:pPr algn="ctr" indent="0" marL="0">
              <a:buNone/>
            </a:pPr>
            <a:r>
              <a:rPr lang="en-US" sz="78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pPr algn="ctr"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780" dirty="0"/>
          </a:p>
        </p:txBody>
      </p:sp>
      <p:sp>
        <p:nvSpPr>
          <p:cNvPr id="20" name="tab H"/>
          <p:cNvSpPr/>
          <p:nvPr/>
        </p:nvSpPr>
        <p:spPr>
          <a:xfrm>
            <a:off x="1115568" y="1344168"/>
            <a:ext cx="2529840" cy="201168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115568" y="1344168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 · Household fit</a:t>
            </a:r>
            <a:endParaRPr lang="en-US" sz="750" dirty="0"/>
          </a:p>
        </p:txBody>
      </p:sp>
      <p:sp>
        <p:nvSpPr>
          <p:cNvPr id="22" name="tab O"/>
          <p:cNvSpPr/>
          <p:nvPr/>
        </p:nvSpPr>
        <p:spPr>
          <a:xfrm>
            <a:off x="3718560" y="1344168"/>
            <a:ext cx="2529840" cy="201168"/>
          </a:xfrm>
          <a:prstGeom prst="rect">
            <a:avLst/>
          </a:prstGeom>
          <a:solidFill>
            <a:srgbClr val="A5002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718560" y="1344168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· Offer a path up</a:t>
            </a:r>
            <a:endParaRPr lang="en-US" sz="750" dirty="0"/>
          </a:p>
        </p:txBody>
      </p:sp>
      <p:sp>
        <p:nvSpPr>
          <p:cNvPr id="24" name="tab M"/>
          <p:cNvSpPr/>
          <p:nvPr/>
        </p:nvSpPr>
        <p:spPr>
          <a:xfrm>
            <a:off x="6321552" y="1344168"/>
            <a:ext cx="2529840" cy="20116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6321552" y="1344168"/>
            <a:ext cx="252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 · Make staying better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9728" y="1581912"/>
            <a:ext cx="877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Complication</a:t>
            </a:r>
            <a:endParaRPr lang="en-US" sz="950" dirty="0"/>
          </a:p>
        </p:txBody>
      </p:sp>
      <p:sp>
        <p:nvSpPr>
          <p:cNvPr id="27" name="comp 0"/>
          <p:cNvSpPr/>
          <p:nvPr/>
        </p:nvSpPr>
        <p:spPr>
          <a:xfrm>
            <a:off x="1115568" y="1581912"/>
            <a:ext cx="25298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1188720" y="1618488"/>
            <a:ext cx="2383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 placed by network and price tier: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none of </a:t>
            </a:r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product pages routes a household across products </a:t>
            </a:r>
            <a:pPr algn="ctr" indent="0" marL="0">
              <a:buNone/>
            </a:pPr>
            <a:r>
              <a:rPr lang="en-US" sz="72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0.8–1.2M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inactive accounts came in on loose terms </a:t>
            </a:r>
            <a:pPr algn="ctr" indent="0" marL="0">
              <a:buNone/>
            </a:pPr>
            <a:r>
              <a:rPr lang="en-US" sz="72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endParaRPr lang="en-US" sz="720" dirty="0"/>
          </a:p>
        </p:txBody>
      </p:sp>
      <p:sp>
        <p:nvSpPr>
          <p:cNvPr id="29" name="comp 1"/>
          <p:cNvSpPr/>
          <p:nvPr/>
        </p:nvSpPr>
        <p:spPr>
          <a:xfrm>
            <a:off x="3718560" y="1581912"/>
            <a:ext cx="25298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3791712" y="1618488"/>
            <a:ext cx="2383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Extras are lent: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Double Speed lasts </a:t>
            </a:r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 or 360 days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algn="ctr" indent="0" marL="0">
              <a:buNone/>
            </a:pPr>
            <a:r>
              <a:rPr lang="en-US" sz="72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the average home pays </a:t>
            </a:r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2.5% below to 8.4% above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entry price </a:t>
            </a:r>
            <a:pPr algn="ctr" indent="0" marL="0">
              <a:buNone/>
            </a:pPr>
            <a:r>
              <a:rPr lang="en-US" sz="72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</a:t>
            </a:r>
            <a:endParaRPr lang="en-US" sz="720" dirty="0"/>
          </a:p>
        </p:txBody>
      </p:sp>
      <p:sp>
        <p:nvSpPr>
          <p:cNvPr id="31" name="comp 2"/>
          <p:cNvSpPr/>
          <p:nvPr/>
        </p:nvSpPr>
        <p:spPr>
          <a:xfrm>
            <a:off x="6321552" y="1581912"/>
            <a:ext cx="2529840" cy="5486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6394704" y="1618488"/>
            <a:ext cx="23835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cities IndiHome wins </a:t>
            </a:r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of 50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award slots and is </a:t>
            </a:r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 of 8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upload </a:t>
            </a:r>
            <a:pPr algn="ctr" indent="0" marL="0">
              <a:buNone/>
            </a:pPr>
            <a:r>
              <a:rPr lang="en-US" sz="72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</a:t>
            </a:r>
            <a:endParaRPr lang="en-US" sz="720" dirty="0"/>
          </a:p>
        </p:txBody>
      </p:sp>
      <p:sp>
        <p:nvSpPr>
          <p:cNvPr id="33" name="Text 30"/>
          <p:cNvSpPr txBox="1"/>
          <p:nvPr/>
        </p:nvSpPr>
        <p:spPr>
          <a:xfrm>
            <a:off x="109728" y="2203704"/>
            <a:ext cx="877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950" dirty="0"/>
          </a:p>
        </p:txBody>
      </p:sp>
      <p:pic>
        <p:nvPicPr>
          <p:cNvPr id="34" name="Image 1" descr="solution tile 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03704"/>
            <a:ext cx="2529840" cy="914400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1207008" y="2240280"/>
            <a:ext cx="234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ousehold fit</a:t>
            </a:r>
            <a:endParaRPr lang="en-US" sz="1300" dirty="0"/>
          </a:p>
        </p:txBody>
      </p:sp>
      <p:sp>
        <p:nvSpPr>
          <p:cNvPr id="36" name="Text 32"/>
          <p:cNvSpPr txBox="1"/>
          <p:nvPr/>
        </p:nvSpPr>
        <p:spPr>
          <a:xfrm>
            <a:off x="1207008" y="2468880"/>
            <a:ext cx="2346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five-question check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app, web, GraPARI, 188 and agents;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 = flexible start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= family hub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opt-in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check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Telkomsel families a rival is about to connect; sales paid on homes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still paying at 3 and 12 months</a:t>
            </a:r>
            <a:endParaRPr lang="en-US" sz="690" dirty="0"/>
          </a:p>
        </p:txBody>
      </p:sp>
      <p:pic>
        <p:nvPicPr>
          <p:cNvPr id="37" name="Image 2" descr="solution tile 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560" y="2203704"/>
            <a:ext cx="2529840" cy="914400"/>
          </a:xfrm>
          <a:prstGeom prst="rect">
            <a:avLst/>
          </a:prstGeom>
        </p:spPr>
      </p:pic>
      <p:sp>
        <p:nvSpPr>
          <p:cNvPr id="38" name="Text 33"/>
          <p:cNvSpPr txBox="1"/>
          <p:nvPr/>
        </p:nvSpPr>
        <p:spPr>
          <a:xfrm>
            <a:off x="3810000" y="2240280"/>
            <a:ext cx="234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ffer a path up</a:t>
            </a:r>
            <a:endParaRPr lang="en-US" sz="1300" dirty="0"/>
          </a:p>
        </p:txBody>
      </p:sp>
      <p:sp>
        <p:nvSpPr>
          <p:cNvPr id="39" name="Text 34"/>
          <p:cNvSpPr txBox="1"/>
          <p:nvPr/>
        </p:nvSpPr>
        <p:spPr>
          <a:xfrm>
            <a:off x="3810000" y="2468880"/>
            <a:ext cx="2346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ladder steps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(single → family, EZnet → IndiHome); a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chosen option before each boost ends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the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plan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rewards each added line with quota and services, not a discount</a:t>
            </a:r>
            <a:endParaRPr lang="en-US" sz="690" dirty="0"/>
          </a:p>
        </p:txBody>
      </p:sp>
      <p:pic>
        <p:nvPicPr>
          <p:cNvPr id="40" name="Image 3" descr="solution tile 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1552" y="2203704"/>
            <a:ext cx="2529840" cy="914400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6412992" y="2240280"/>
            <a:ext cx="234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ake staying better</a:t>
            </a:r>
            <a:endParaRPr lang="en-US" sz="1300" dirty="0"/>
          </a:p>
        </p:txBody>
      </p:sp>
      <p:sp>
        <p:nvSpPr>
          <p:cNvPr id="42" name="Text 36"/>
          <p:cNvSpPr txBox="1"/>
          <p:nvPr/>
        </p:nvSpPr>
        <p:spPr>
          <a:xfrm>
            <a:off x="6412992" y="2468880"/>
            <a:ext cx="23469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Wi-Fi promise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contested cities;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retention triggers</a:t>
            </a:r>
            <a:pPr indent="0" marL="0"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a random hold-out; cheaper plans offered </a:t>
            </a:r>
            <a:pPr indent="0" marL="0"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to save a home</a:t>
            </a:r>
            <a:endParaRPr lang="en-US" sz="690" dirty="0"/>
          </a:p>
        </p:txBody>
      </p:sp>
      <p:sp>
        <p:nvSpPr>
          <p:cNvPr id="43" name="Text 37"/>
          <p:cNvSpPr txBox="1"/>
          <p:nvPr/>
        </p:nvSpPr>
        <p:spPr>
          <a:xfrm>
            <a:off x="109728" y="3191256"/>
            <a:ext cx="87782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</a:t>
            </a:r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950" dirty="0"/>
          </a:p>
        </p:txBody>
      </p:sp>
      <p:sp>
        <p:nvSpPr>
          <p:cNvPr id="44" name="impact 0"/>
          <p:cNvSpPr/>
          <p:nvPr/>
        </p:nvSpPr>
        <p:spPr>
          <a:xfrm>
            <a:off x="1115568" y="3191256"/>
            <a:ext cx="25298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4002B"/>
            </a:solidFill>
            <a:prstDash val="dash"/>
          </a:ln>
        </p:spPr>
      </p:sp>
      <p:sp>
        <p:nvSpPr>
          <p:cNvPr id="45" name="Text 39"/>
          <p:cNvSpPr txBox="1"/>
          <p:nvPr/>
        </p:nvSpPr>
        <p:spPr>
          <a:xfrm>
            <a:off x="1179576" y="3191256"/>
            <a:ext cx="2401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213k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paying homes by 2031 </a:t>
            </a:r>
            <a:pPr algn="ct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720" dirty="0"/>
          </a:p>
        </p:txBody>
      </p:sp>
      <p:sp>
        <p:nvSpPr>
          <p:cNvPr id="46" name="impact 1"/>
          <p:cNvSpPr/>
          <p:nvPr/>
        </p:nvSpPr>
        <p:spPr>
          <a:xfrm>
            <a:off x="3718560" y="3191256"/>
            <a:ext cx="25298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50021"/>
            </a:solidFill>
            <a:prstDash val="dash"/>
          </a:ln>
        </p:spPr>
      </p:sp>
      <p:sp>
        <p:nvSpPr>
          <p:cNvPr id="47" name="Text 41"/>
          <p:cNvSpPr txBox="1"/>
          <p:nvPr/>
        </p:nvSpPr>
        <p:spPr>
          <a:xfrm>
            <a:off x="3782568" y="3191256"/>
            <a:ext cx="2401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Rp534bn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over the life of the homes; </a:t>
            </a:r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Rp415bn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revenue a year by 2031 </a:t>
            </a:r>
            <a:pPr algn="ct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720" dirty="0"/>
          </a:p>
        </p:txBody>
      </p:sp>
      <p:sp>
        <p:nvSpPr>
          <p:cNvPr id="48" name="impact 2"/>
          <p:cNvSpPr/>
          <p:nvPr/>
        </p:nvSpPr>
        <p:spPr>
          <a:xfrm>
            <a:off x="6321552" y="3191256"/>
            <a:ext cx="2529840" cy="329184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dash"/>
          </a:ln>
        </p:spPr>
      </p:sp>
      <p:sp>
        <p:nvSpPr>
          <p:cNvPr id="49" name="Text 43"/>
          <p:cNvSpPr txBox="1"/>
          <p:nvPr/>
        </p:nvSpPr>
        <p:spPr>
          <a:xfrm>
            <a:off x="6385560" y="3191256"/>
            <a:ext cx="2401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204k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homes kept by 2031; </a:t>
            </a:r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Rp174bn</a:t>
            </a:r>
            <a:pPr algn="ctr" indent="0" marL="0">
              <a:buNone/>
            </a:pPr>
            <a:r>
              <a:rPr lang="en-US" sz="7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over the life of the homes </a:t>
            </a:r>
            <a:pPr algn="ct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720" dirty="0"/>
          </a:p>
        </p:txBody>
      </p:sp>
      <p:pic>
        <p:nvPicPr>
          <p:cNvPr id="50" name="Image 4" descr="E found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3584448"/>
            <a:ext cx="7735824" cy="329184"/>
          </a:xfrm>
          <a:prstGeom prst="rect">
            <a:avLst/>
          </a:prstGeom>
        </p:spPr>
      </p:pic>
      <p:sp>
        <p:nvSpPr>
          <p:cNvPr id="51" name="badge E"/>
          <p:cNvSpPr/>
          <p:nvPr/>
        </p:nvSpPr>
        <p:spPr>
          <a:xfrm>
            <a:off x="1179576" y="3630168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2" name="Text 45"/>
          <p:cNvSpPr txBox="1"/>
          <p:nvPr/>
        </p:nvSpPr>
        <p:spPr>
          <a:xfrm>
            <a:off x="1179576" y="3630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1100" dirty="0"/>
          </a:p>
        </p:txBody>
      </p:sp>
      <p:sp>
        <p:nvSpPr>
          <p:cNvPr id="53" name="Text 46"/>
          <p:cNvSpPr txBox="1"/>
          <p:nvPr/>
        </p:nvSpPr>
        <p:spPr>
          <a:xfrm>
            <a:off x="1499616" y="3584448"/>
            <a:ext cx="7278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· Evaluate household value: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one </a:t>
            </a:r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identity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(opt-in), </a:t>
            </a:r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KPIs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the 2027 KPI contracts, </a:t>
            </a:r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owner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household value. Telkom already states 'Maximize LTV' for IndiHome </a:t>
            </a:r>
            <a:pPr indent="0" marL="0">
              <a:buNone/>
            </a:pPr>
            <a:r>
              <a:rPr lang="en-US" sz="700" baseline="30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E extends it across </a:t>
            </a:r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 and mobile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700" dirty="0"/>
          </a:p>
        </p:txBody>
      </p:sp>
      <p:sp>
        <p:nvSpPr>
          <p:cNvPr id="54" name="num NPV over the life of the homes won"/>
          <p:cNvSpPr/>
          <p:nvPr/>
        </p:nvSpPr>
        <p:spPr>
          <a:xfrm>
            <a:off x="1115568" y="3986784"/>
            <a:ext cx="1058091" cy="676656"/>
          </a:xfrm>
          <a:prstGeom prst="roundRect">
            <a:avLst>
              <a:gd name="adj" fmla="val 4054"/>
            </a:avLst>
          </a:prstGeom>
          <a:solidFill>
            <a:srgbClr val="FDECEF"/>
          </a:solidFill>
          <a:ln w="12700">
            <a:solidFill>
              <a:srgbClr val="E4002B"/>
            </a:solidFill>
            <a:prstDash val="dash"/>
          </a:ln>
        </p:spPr>
      </p:sp>
      <p:sp>
        <p:nvSpPr>
          <p:cNvPr id="55" name="Text 48"/>
          <p:cNvSpPr txBox="1"/>
          <p:nvPr/>
        </p:nvSpPr>
        <p:spPr>
          <a:xfrm>
            <a:off x="1143000" y="4050792"/>
            <a:ext cx="1003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Rp394bn</a:t>
            </a:r>
            <a:endParaRPr lang="en-US" sz="1200" dirty="0"/>
          </a:p>
        </p:txBody>
      </p:sp>
      <p:sp>
        <p:nvSpPr>
          <p:cNvPr id="56" name="Text 49"/>
          <p:cNvSpPr txBox="1"/>
          <p:nvPr/>
        </p:nvSpPr>
        <p:spPr>
          <a:xfrm>
            <a:off x="1152144" y="4334256"/>
            <a:ext cx="984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NPV over the life of the homes won </a:t>
            </a:r>
            <a:pPr algn="ctr" indent="0" marL="0">
              <a:buNone/>
            </a:pPr>
            <a:r>
              <a:rPr lang="en-US" sz="63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30" dirty="0"/>
          </a:p>
        </p:txBody>
      </p:sp>
      <p:sp>
        <p:nvSpPr>
          <p:cNvPr id="57" name="num IRR"/>
          <p:cNvSpPr/>
          <p:nvPr/>
        </p:nvSpPr>
        <p:spPr>
          <a:xfrm>
            <a:off x="2228523" y="3986784"/>
            <a:ext cx="1058091" cy="67665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dash"/>
          </a:ln>
        </p:spPr>
      </p:sp>
      <p:sp>
        <p:nvSpPr>
          <p:cNvPr id="58" name="Text 51"/>
          <p:cNvSpPr txBox="1"/>
          <p:nvPr/>
        </p:nvSpPr>
        <p:spPr>
          <a:xfrm>
            <a:off x="2255955" y="4050792"/>
            <a:ext cx="1003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35.1%</a:t>
            </a:r>
            <a:endParaRPr lang="en-US" sz="1200" dirty="0"/>
          </a:p>
        </p:txBody>
      </p:sp>
      <p:sp>
        <p:nvSpPr>
          <p:cNvPr id="59" name="Text 52"/>
          <p:cNvSpPr txBox="1"/>
          <p:nvPr/>
        </p:nvSpPr>
        <p:spPr>
          <a:xfrm>
            <a:off x="2265099" y="4334256"/>
            <a:ext cx="984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IRR </a:t>
            </a:r>
            <a:pPr algn="ctr" indent="0" marL="0">
              <a:buNone/>
            </a:pPr>
            <a:r>
              <a:rPr lang="en-US" sz="63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30" dirty="0"/>
          </a:p>
        </p:txBody>
      </p:sp>
      <p:sp>
        <p:nvSpPr>
          <p:cNvPr id="60" name="num B/C"/>
          <p:cNvSpPr/>
          <p:nvPr/>
        </p:nvSpPr>
        <p:spPr>
          <a:xfrm>
            <a:off x="3341479" y="3986784"/>
            <a:ext cx="1058091" cy="67665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dash"/>
          </a:ln>
        </p:spPr>
      </p:sp>
      <p:sp>
        <p:nvSpPr>
          <p:cNvPr id="61" name="Text 54"/>
          <p:cNvSpPr txBox="1"/>
          <p:nvPr/>
        </p:nvSpPr>
        <p:spPr>
          <a:xfrm>
            <a:off x="3368911" y="4050792"/>
            <a:ext cx="1003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2.95</a:t>
            </a:r>
            <a:endParaRPr lang="en-US" sz="1200" dirty="0"/>
          </a:p>
        </p:txBody>
      </p:sp>
      <p:sp>
        <p:nvSpPr>
          <p:cNvPr id="62" name="Text 55"/>
          <p:cNvSpPr txBox="1"/>
          <p:nvPr/>
        </p:nvSpPr>
        <p:spPr>
          <a:xfrm>
            <a:off x="3378055" y="4334256"/>
            <a:ext cx="984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B/C </a:t>
            </a:r>
            <a:pPr algn="ctr" indent="0" marL="0">
              <a:buNone/>
            </a:pPr>
            <a:r>
              <a:rPr lang="en-US" sz="63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30" dirty="0"/>
          </a:p>
        </p:txBody>
      </p:sp>
      <p:sp>
        <p:nvSpPr>
          <p:cNvPr id="63" name="num Cash payback"/>
          <p:cNvSpPr/>
          <p:nvPr/>
        </p:nvSpPr>
        <p:spPr>
          <a:xfrm>
            <a:off x="4454434" y="3986784"/>
            <a:ext cx="1058091" cy="67665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dash"/>
          </a:ln>
        </p:spPr>
      </p:sp>
      <p:sp>
        <p:nvSpPr>
          <p:cNvPr id="64" name="Text 57"/>
          <p:cNvSpPr txBox="1"/>
          <p:nvPr/>
        </p:nvSpPr>
        <p:spPr>
          <a:xfrm>
            <a:off x="4481866" y="4050792"/>
            <a:ext cx="1003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2031</a:t>
            </a:r>
            <a:endParaRPr lang="en-US" sz="1200" dirty="0"/>
          </a:p>
        </p:txBody>
      </p:sp>
      <p:sp>
        <p:nvSpPr>
          <p:cNvPr id="65" name="Text 58"/>
          <p:cNvSpPr txBox="1"/>
          <p:nvPr/>
        </p:nvSpPr>
        <p:spPr>
          <a:xfrm>
            <a:off x="4491010" y="4334256"/>
            <a:ext cx="984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payback </a:t>
            </a:r>
            <a:pPr algn="ctr" indent="0" marL="0">
              <a:buNone/>
            </a:pPr>
            <a:r>
              <a:rPr lang="en-US" sz="63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30" dirty="0"/>
          </a:p>
        </p:txBody>
      </p:sp>
      <p:sp>
        <p:nvSpPr>
          <p:cNvPr id="66" name="num 5-year NPV"/>
          <p:cNvSpPr/>
          <p:nvPr/>
        </p:nvSpPr>
        <p:spPr>
          <a:xfrm>
            <a:off x="5567390" y="3986784"/>
            <a:ext cx="1058091" cy="67665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dash"/>
          </a:ln>
        </p:spPr>
      </p:sp>
      <p:sp>
        <p:nvSpPr>
          <p:cNvPr id="67" name="Text 60"/>
          <p:cNvSpPr txBox="1"/>
          <p:nvPr/>
        </p:nvSpPr>
        <p:spPr>
          <a:xfrm>
            <a:off x="5594822" y="4050792"/>
            <a:ext cx="1003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−Rp46bn</a:t>
            </a:r>
            <a:endParaRPr lang="en-US" sz="1200" dirty="0"/>
          </a:p>
        </p:txBody>
      </p:sp>
      <p:sp>
        <p:nvSpPr>
          <p:cNvPr id="68" name="Text 61"/>
          <p:cNvSpPr txBox="1"/>
          <p:nvPr/>
        </p:nvSpPr>
        <p:spPr>
          <a:xfrm>
            <a:off x="5603966" y="4334256"/>
            <a:ext cx="984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5-year NPV </a:t>
            </a:r>
            <a:pPr algn="ctr" indent="0" marL="0">
              <a:buNone/>
            </a:pPr>
            <a:r>
              <a:rPr lang="en-US" sz="63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30" dirty="0"/>
          </a:p>
        </p:txBody>
      </p:sp>
      <p:sp>
        <p:nvSpPr>
          <p:cNvPr id="69" name="num Capex"/>
          <p:cNvSpPr/>
          <p:nvPr/>
        </p:nvSpPr>
        <p:spPr>
          <a:xfrm>
            <a:off x="6680345" y="3986784"/>
            <a:ext cx="1058091" cy="67665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dash"/>
          </a:ln>
        </p:spPr>
      </p:sp>
      <p:sp>
        <p:nvSpPr>
          <p:cNvPr id="70" name="Text 63"/>
          <p:cNvSpPr txBox="1"/>
          <p:nvPr/>
        </p:nvSpPr>
        <p:spPr>
          <a:xfrm>
            <a:off x="6707777" y="4050792"/>
            <a:ext cx="1003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Rp295bn</a:t>
            </a:r>
            <a:endParaRPr lang="en-US" sz="1200" dirty="0"/>
          </a:p>
        </p:txBody>
      </p:sp>
      <p:sp>
        <p:nvSpPr>
          <p:cNvPr id="71" name="Text 64"/>
          <p:cNvSpPr txBox="1"/>
          <p:nvPr/>
        </p:nvSpPr>
        <p:spPr>
          <a:xfrm>
            <a:off x="6716921" y="4334256"/>
            <a:ext cx="984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Capex </a:t>
            </a:r>
            <a:pPr algn="ctr" indent="0" marL="0">
              <a:buNone/>
            </a:pPr>
            <a:r>
              <a:rPr lang="en-US" sz="63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30" dirty="0"/>
          </a:p>
        </p:txBody>
      </p:sp>
      <p:sp>
        <p:nvSpPr>
          <p:cNvPr id="72" name="num Failed-pilot cash"/>
          <p:cNvSpPr/>
          <p:nvPr/>
        </p:nvSpPr>
        <p:spPr>
          <a:xfrm>
            <a:off x="7793301" y="3986784"/>
            <a:ext cx="1058091" cy="676656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dash"/>
          </a:ln>
        </p:spPr>
      </p:sp>
      <p:sp>
        <p:nvSpPr>
          <p:cNvPr id="73" name="Text 66"/>
          <p:cNvSpPr txBox="1"/>
          <p:nvPr/>
        </p:nvSpPr>
        <p:spPr>
          <a:xfrm>
            <a:off x="7820733" y="4050792"/>
            <a:ext cx="10032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Rp98bn</a:t>
            </a:r>
            <a:endParaRPr lang="en-US" sz="1200" dirty="0"/>
          </a:p>
        </p:txBody>
      </p:sp>
      <p:sp>
        <p:nvSpPr>
          <p:cNvPr id="74" name="Text 67"/>
          <p:cNvSpPr txBox="1"/>
          <p:nvPr/>
        </p:nvSpPr>
        <p:spPr>
          <a:xfrm>
            <a:off x="7829877" y="4334256"/>
            <a:ext cx="9849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Failed-pilot cash </a:t>
            </a:r>
            <a:pPr algn="ctr" indent="0" marL="0">
              <a:buNone/>
            </a:pPr>
            <a:r>
              <a:rPr lang="en-US" sz="63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Background: Telkomsel leads home broadband, yet household revenue is falling while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Rp100k fiber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takes most of the market's growth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188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Telkom 1H26 Info Memo ·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Telkomsel AR 2025 ·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Opensignal, Nov 2025 ·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Starlite and Internet Rakyat pricing (Bisnis, Kontan) ·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Media Partners Asia; Komdigi ·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Surge (WIFI) disclosures ·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[7]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Telkomsel app and website, 10 Oct 2026 ·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[8]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Case book · Appendix 2, 6</a:t>
            </a:r>
            <a:endParaRPr lang="en-US" sz="6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6053328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665976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7278624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7891272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</a:t>
            </a:r>
            <a:endParaRPr lang="en-US" sz="650" dirty="0"/>
          </a:p>
        </p:txBody>
      </p:sp>
      <p:sp>
        <p:nvSpPr>
          <p:cNvPr id="13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15" name="zone badge 1"/>
          <p:cNvSpPr/>
          <p:nvPr/>
        </p:nvSpPr>
        <p:spPr>
          <a:xfrm>
            <a:off x="274320" y="868680"/>
            <a:ext cx="274320" cy="274320"/>
          </a:xfrm>
          <a:prstGeom prst="ellipse">
            <a:avLst/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74320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" y="85039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Market: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where household connectivity is heading</a:t>
            </a:r>
            <a:endParaRPr lang="en-US" sz="800" dirty="0"/>
          </a:p>
        </p:txBody>
      </p:sp>
      <p:sp>
        <p:nvSpPr>
          <p:cNvPr id="18" name="zone rule 1"/>
          <p:cNvSpPr/>
          <p:nvPr/>
        </p:nvSpPr>
        <p:spPr>
          <a:xfrm>
            <a:off x="621792" y="1197864"/>
            <a:ext cx="2395728" cy="0"/>
          </a:xfrm>
          <a:prstGeom prst="line">
            <a:avLst/>
          </a:prstGeom>
          <a:noFill/>
          <a:ln w="15875">
            <a:solidFill>
              <a:srgbClr val="A5002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74320" y="12618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fixed homes in 12 months (millions)</a:t>
            </a:r>
            <a:endParaRPr lang="en-US" sz="700" dirty="0"/>
          </a:p>
        </p:txBody>
      </p:sp>
      <p:sp>
        <p:nvSpPr>
          <p:cNvPr id="20" name="Text 17"/>
          <p:cNvSpPr txBox="1"/>
          <p:nvPr/>
        </p:nvSpPr>
        <p:spPr>
          <a:xfrm>
            <a:off x="274320" y="1481328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Whole market, a year (forecast) </a:t>
            </a:r>
            <a:pPr indent="0" marL="0">
              <a:buNone/>
            </a:pPr>
            <a:r>
              <a:rPr lang="en-US" sz="65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</a:t>
            </a:r>
            <a:endParaRPr lang="en-US" sz="650" dirty="0"/>
          </a:p>
        </p:txBody>
      </p:sp>
      <p:sp>
        <p:nvSpPr>
          <p:cNvPr id="21" name="bar Whole market, a year (forecast) [5]"/>
          <p:cNvSpPr/>
          <p:nvPr/>
        </p:nvSpPr>
        <p:spPr>
          <a:xfrm>
            <a:off x="274320" y="1618488"/>
            <a:ext cx="1345997" cy="14630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666037" y="16002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+1.28M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274320" y="1810512"/>
            <a:ext cx="2743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Surge alone, 2Q25 → 2Q26 </a:t>
            </a:r>
            <a:pPr indent="0" marL="0">
              <a:buNone/>
            </a:pPr>
            <a:r>
              <a:rPr lang="en-US" sz="65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[6]</a:t>
            </a:r>
            <a:endParaRPr lang="en-US" sz="650" dirty="0"/>
          </a:p>
        </p:txBody>
      </p:sp>
      <p:sp>
        <p:nvSpPr>
          <p:cNvPr id="24" name="bar Surge alone, 2Q25 → 2Q26 [6]"/>
          <p:cNvSpPr/>
          <p:nvPr/>
        </p:nvSpPr>
        <p:spPr>
          <a:xfrm>
            <a:off x="274320" y="1947672"/>
            <a:ext cx="2082089" cy="146304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402129" y="192938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+1.98M</a:t>
            </a:r>
            <a:endParaRPr lang="en-US" sz="750" dirty="0"/>
          </a:p>
        </p:txBody>
      </p:sp>
      <p:sp>
        <p:nvSpPr>
          <p:cNvPr id="26" name="unconnected"/>
          <p:cNvSpPr/>
          <p:nvPr/>
        </p:nvSpPr>
        <p:spPr>
          <a:xfrm>
            <a:off x="274320" y="2240280"/>
            <a:ext cx="2743200" cy="640080"/>
          </a:xfrm>
          <a:prstGeom prst="roundRect">
            <a:avLst>
              <a:gd name="adj" fmla="val 8571"/>
            </a:avLst>
          </a:prstGeom>
          <a:solidFill>
            <a:srgbClr val="F1F5F9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65760" y="22860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≈58–60M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508760" y="22860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homes still have </a:t>
            </a:r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fixed broadband</a:t>
            </a:r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penetration is only </a:t>
            </a:r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18–21%</a:t>
            </a:r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73M households </a:t>
            </a:r>
            <a:pPr indent="0" marL="0">
              <a:buNone/>
            </a:pPr>
            <a:r>
              <a:rPr lang="en-US" sz="70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[5]</a:t>
            </a:r>
            <a:endParaRPr lang="en-US" sz="700" dirty="0"/>
          </a:p>
        </p:txBody>
      </p:sp>
      <p:sp>
        <p:nvSpPr>
          <p:cNvPr id="29" name="anchor"/>
          <p:cNvSpPr/>
          <p:nvPr/>
        </p:nvSpPr>
        <p:spPr>
          <a:xfrm>
            <a:off x="274320" y="2971800"/>
            <a:ext cx="27432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4002B"/>
            </a:solidFill>
            <a:prstDash val="dash"/>
          </a:ln>
        </p:spPr>
      </p:sp>
      <p:sp>
        <p:nvSpPr>
          <p:cNvPr id="30" name="Text 27"/>
          <p:cNvSpPr txBox="1"/>
          <p:nvPr/>
        </p:nvSpPr>
        <p:spPr>
          <a:xfrm>
            <a:off x="365760" y="3017520"/>
            <a:ext cx="2560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Rp100k anchor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70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endParaRPr lang="en-US" sz="7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Starlite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fiber (since 2025) and licensed </a:t>
            </a:r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1.4 GHz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fixed wireless (since Feb 2026) sell </a:t>
            </a:r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100–200 Mbps for Rp100k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VAT included, with a free modem. IndiHome's entry plan costs </a:t>
            </a:r>
            <a:pPr indent="0" marL="0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2.4×</a:t>
            </a:r>
            <a:pPr indent="0" marL="0">
              <a:spcAft>
                <a:spcPts val="200"/>
              </a:spcAft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that.</a:t>
            </a:r>
            <a:endParaRPr lang="en-US" sz="700" dirty="0"/>
          </a:p>
        </p:txBody>
      </p:sp>
      <p:sp>
        <p:nvSpPr>
          <p:cNvPr id="31" name="zone badge 2"/>
          <p:cNvSpPr/>
          <p:nvPr/>
        </p:nvSpPr>
        <p:spPr>
          <a:xfrm>
            <a:off x="3154680" y="868680"/>
            <a:ext cx="274320" cy="274320"/>
          </a:xfrm>
          <a:prstGeom prst="ellipse">
            <a:avLst/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3154680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3502152" y="850392"/>
            <a:ext cx="2487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Telkomsel's household portfolio: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five propositions</a:t>
            </a:r>
            <a:endParaRPr lang="en-US" sz="800" dirty="0"/>
          </a:p>
        </p:txBody>
      </p:sp>
      <p:sp>
        <p:nvSpPr>
          <p:cNvPr id="34" name="zone rule 2"/>
          <p:cNvSpPr/>
          <p:nvPr/>
        </p:nvSpPr>
        <p:spPr>
          <a:xfrm>
            <a:off x="3502152" y="1197864"/>
            <a:ext cx="2487168" cy="0"/>
          </a:xfrm>
          <a:prstGeom prst="line">
            <a:avLst/>
          </a:prstGeom>
          <a:noFill/>
          <a:ln w="15875">
            <a:solidFill>
              <a:srgbClr val="A5002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3154680" y="126187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Nine offers between ≈Rp130k and ≈Rp390k a month </a:t>
            </a:r>
            <a:pPr indent="0" marL="0">
              <a:buNone/>
            </a:pPr>
            <a:r>
              <a:rPr lang="en-US" sz="70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[7]</a:t>
            </a:r>
            <a:endParaRPr lang="en-US" sz="700" dirty="0"/>
          </a:p>
        </p:txBody>
      </p:sp>
      <p:sp>
        <p:nvSpPr>
          <p:cNvPr id="36" name="Text 33"/>
          <p:cNvSpPr txBox="1"/>
          <p:nvPr/>
        </p:nvSpPr>
        <p:spPr>
          <a:xfrm>
            <a:off x="3154680" y="148132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 One Easy (Orbit)</a:t>
            </a:r>
            <a:endParaRPr lang="en-US" sz="630" dirty="0"/>
          </a:p>
        </p:txBody>
      </p:sp>
      <p:sp>
        <p:nvSpPr>
          <p:cNvPr id="37" name="ladder Telkomsel One Easy (Orbit)"/>
          <p:cNvSpPr/>
          <p:nvPr/>
        </p:nvSpPr>
        <p:spPr>
          <a:xfrm>
            <a:off x="4389120" y="1513332"/>
            <a:ext cx="406426" cy="11887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4832122" y="14813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Rp133k</a:t>
            </a:r>
            <a:endParaRPr lang="en-US" sz="630" dirty="0"/>
          </a:p>
        </p:txBody>
      </p:sp>
      <p:sp>
        <p:nvSpPr>
          <p:cNvPr id="39" name="Text 36"/>
          <p:cNvSpPr txBox="1"/>
          <p:nvPr/>
        </p:nvSpPr>
        <p:spPr>
          <a:xfrm>
            <a:off x="3154680" y="169621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 125 GB pack</a:t>
            </a:r>
            <a:endParaRPr lang="en-US" sz="630" dirty="0"/>
          </a:p>
        </p:txBody>
      </p:sp>
      <p:sp>
        <p:nvSpPr>
          <p:cNvPr id="40" name="ladder Orbit 125 GB pack"/>
          <p:cNvSpPr/>
          <p:nvPr/>
        </p:nvSpPr>
        <p:spPr>
          <a:xfrm>
            <a:off x="4389120" y="1728216"/>
            <a:ext cx="537827" cy="118872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4963523" y="169621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Rp176k</a:t>
            </a:r>
            <a:endParaRPr lang="en-US" sz="630" dirty="0"/>
          </a:p>
        </p:txBody>
      </p:sp>
      <p:sp>
        <p:nvSpPr>
          <p:cNvPr id="42" name="Text 39"/>
          <p:cNvSpPr txBox="1"/>
          <p:nvPr/>
        </p:nvSpPr>
        <p:spPr>
          <a:xfrm>
            <a:off x="3154680" y="191109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EZnet 20 Mbps</a:t>
            </a:r>
            <a:endParaRPr lang="en-US" sz="630" dirty="0"/>
          </a:p>
        </p:txBody>
      </p:sp>
      <p:sp>
        <p:nvSpPr>
          <p:cNvPr id="43" name="ladder EZnet 20 Mbps"/>
          <p:cNvSpPr/>
          <p:nvPr/>
        </p:nvSpPr>
        <p:spPr>
          <a:xfrm>
            <a:off x="4389120" y="1943100"/>
            <a:ext cx="576636" cy="11887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5002332" y="191109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≈Rp188.7k</a:t>
            </a:r>
            <a:endParaRPr lang="en-US" sz="630" dirty="0"/>
          </a:p>
        </p:txBody>
      </p:sp>
      <p:sp>
        <p:nvSpPr>
          <p:cNvPr id="45" name="Text 42"/>
          <p:cNvSpPr txBox="1"/>
          <p:nvPr/>
        </p:nvSpPr>
        <p:spPr>
          <a:xfrm>
            <a:off x="3154680" y="212598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EZnet Wireless 50 Mbps</a:t>
            </a:r>
            <a:endParaRPr lang="en-US" sz="630" dirty="0"/>
          </a:p>
        </p:txBody>
      </p:sp>
      <p:sp>
        <p:nvSpPr>
          <p:cNvPr id="46" name="ladder EZnet Wireless 50 Mbps"/>
          <p:cNvSpPr/>
          <p:nvPr/>
        </p:nvSpPr>
        <p:spPr>
          <a:xfrm>
            <a:off x="4389120" y="2157984"/>
            <a:ext cx="576636" cy="11887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5002332" y="21259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≈Rp188.7k</a:t>
            </a:r>
            <a:endParaRPr lang="en-US" sz="630" dirty="0"/>
          </a:p>
        </p:txBody>
      </p:sp>
      <p:sp>
        <p:nvSpPr>
          <p:cNvPr id="48" name="Text 45"/>
          <p:cNvSpPr txBox="1"/>
          <p:nvPr/>
        </p:nvSpPr>
        <p:spPr>
          <a:xfrm>
            <a:off x="3154680" y="2340864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75 Mbps</a:t>
            </a:r>
            <a:endParaRPr lang="en-US" sz="630" dirty="0"/>
          </a:p>
        </p:txBody>
      </p:sp>
      <p:sp>
        <p:nvSpPr>
          <p:cNvPr id="49" name="ladder IndiHome 75 Mbps"/>
          <p:cNvSpPr/>
          <p:nvPr/>
        </p:nvSpPr>
        <p:spPr>
          <a:xfrm>
            <a:off x="4389120" y="2372868"/>
            <a:ext cx="733401" cy="118872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50" name="Text 47"/>
          <p:cNvSpPr txBox="1"/>
          <p:nvPr/>
        </p:nvSpPr>
        <p:spPr>
          <a:xfrm>
            <a:off x="5159097" y="23408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Rp240k</a:t>
            </a:r>
            <a:endParaRPr lang="en-US" sz="630" dirty="0"/>
          </a:p>
        </p:txBody>
      </p:sp>
      <p:sp>
        <p:nvSpPr>
          <p:cNvPr id="51" name="Text 48"/>
          <p:cNvSpPr txBox="1"/>
          <p:nvPr/>
        </p:nvSpPr>
        <p:spPr>
          <a:xfrm>
            <a:off x="3154680" y="2555748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 One Dynamic 50</a:t>
            </a:r>
            <a:endParaRPr lang="en-US" sz="630" dirty="0"/>
          </a:p>
        </p:txBody>
      </p:sp>
      <p:sp>
        <p:nvSpPr>
          <p:cNvPr id="52" name="ladder Telkomsel One Dynamic 50"/>
          <p:cNvSpPr/>
          <p:nvPr/>
        </p:nvSpPr>
        <p:spPr>
          <a:xfrm>
            <a:off x="4389120" y="2587752"/>
            <a:ext cx="916751" cy="118872"/>
          </a:xfrm>
          <a:prstGeom prst="rect">
            <a:avLst/>
          </a:prstGeom>
          <a:solidFill>
            <a:srgbClr val="A50021"/>
          </a:solidFill>
          <a:ln/>
        </p:spPr>
      </p:sp>
      <p:sp>
        <p:nvSpPr>
          <p:cNvPr id="53" name="Text 50"/>
          <p:cNvSpPr txBox="1"/>
          <p:nvPr/>
        </p:nvSpPr>
        <p:spPr>
          <a:xfrm>
            <a:off x="5342447" y="25557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Rp300k</a:t>
            </a:r>
            <a:endParaRPr lang="en-US" sz="630" dirty="0"/>
          </a:p>
        </p:txBody>
      </p:sp>
      <p:sp>
        <p:nvSpPr>
          <p:cNvPr id="54" name="Text 51"/>
          <p:cNvSpPr txBox="1"/>
          <p:nvPr/>
        </p:nvSpPr>
        <p:spPr>
          <a:xfrm>
            <a:off x="3154680" y="2770632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100 + Netflix</a:t>
            </a:r>
            <a:endParaRPr lang="en-US" sz="630" dirty="0"/>
          </a:p>
        </p:txBody>
      </p:sp>
      <p:sp>
        <p:nvSpPr>
          <p:cNvPr id="55" name="ladder IndiHome 100 + Netflix"/>
          <p:cNvSpPr/>
          <p:nvPr/>
        </p:nvSpPr>
        <p:spPr>
          <a:xfrm>
            <a:off x="4389120" y="2802636"/>
            <a:ext cx="916751" cy="118872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5342447" y="27706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Rp300k</a:t>
            </a:r>
            <a:endParaRPr lang="en-US" sz="630" dirty="0"/>
          </a:p>
        </p:txBody>
      </p:sp>
      <p:sp>
        <p:nvSpPr>
          <p:cNvPr id="57" name="Text 54"/>
          <p:cNvSpPr txBox="1"/>
          <p:nvPr/>
        </p:nvSpPr>
        <p:spPr>
          <a:xfrm>
            <a:off x="3154680" y="2985516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Movie Complete</a:t>
            </a:r>
            <a:endParaRPr lang="en-US" sz="630" dirty="0"/>
          </a:p>
        </p:txBody>
      </p:sp>
      <p:sp>
        <p:nvSpPr>
          <p:cNvPr id="58" name="ladder IndiHome Movie Complete"/>
          <p:cNvSpPr/>
          <p:nvPr/>
        </p:nvSpPr>
        <p:spPr>
          <a:xfrm>
            <a:off x="4389120" y="3017520"/>
            <a:ext cx="1161217" cy="118872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59" name="Text 56"/>
          <p:cNvSpPr txBox="1"/>
          <p:nvPr/>
        </p:nvSpPr>
        <p:spPr>
          <a:xfrm>
            <a:off x="5586913" y="2985516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Rp380k</a:t>
            </a:r>
            <a:endParaRPr lang="en-US" sz="630" dirty="0"/>
          </a:p>
        </p:txBody>
      </p:sp>
      <p:sp>
        <p:nvSpPr>
          <p:cNvPr id="60" name="Text 57"/>
          <p:cNvSpPr txBox="1"/>
          <p:nvPr/>
        </p:nvSpPr>
        <p:spPr>
          <a:xfrm>
            <a:off x="3154680" y="3200400"/>
            <a:ext cx="1207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 One 100 Mbps</a:t>
            </a:r>
            <a:endParaRPr lang="en-US" sz="630" dirty="0"/>
          </a:p>
        </p:txBody>
      </p:sp>
      <p:sp>
        <p:nvSpPr>
          <p:cNvPr id="61" name="ladder Telkomsel One 100 Mbps"/>
          <p:cNvSpPr/>
          <p:nvPr/>
        </p:nvSpPr>
        <p:spPr>
          <a:xfrm>
            <a:off x="4389120" y="3232404"/>
            <a:ext cx="1188720" cy="118872"/>
          </a:xfrm>
          <a:prstGeom prst="rect">
            <a:avLst/>
          </a:prstGeom>
          <a:solidFill>
            <a:srgbClr val="A50021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5614416" y="32004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Rp389k</a:t>
            </a:r>
            <a:endParaRPr lang="en-US" sz="630" dirty="0"/>
          </a:p>
        </p:txBody>
      </p:sp>
      <p:sp>
        <p:nvSpPr>
          <p:cNvPr id="63" name="Text 60"/>
          <p:cNvSpPr txBox="1"/>
          <p:nvPr/>
        </p:nvSpPr>
        <p:spPr>
          <a:xfrm>
            <a:off x="3154680" y="3438144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VAT included, Jakarta Selatan, Oct 2026. Priced per GB, per Mbps or per bundle, on prepaid, monthly or 12-month terms.</a:t>
            </a:r>
            <a:endParaRPr lang="en-US" sz="600" dirty="0"/>
          </a:p>
        </p:txBody>
      </p:sp>
      <p:sp>
        <p:nvSpPr>
          <p:cNvPr id="64" name="stat 0"/>
          <p:cNvSpPr/>
          <p:nvPr/>
        </p:nvSpPr>
        <p:spPr>
          <a:xfrm>
            <a:off x="3154680" y="3703320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/>
        </p:spPr>
      </p:sp>
      <p:sp>
        <p:nvSpPr>
          <p:cNvPr id="65" name="Text 62"/>
          <p:cNvSpPr txBox="1"/>
          <p:nvPr/>
        </p:nvSpPr>
        <p:spPr>
          <a:xfrm>
            <a:off x="3209544" y="370332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153.5M</a:t>
            </a:r>
            <a:endParaRPr lang="en-US" sz="1000" dirty="0"/>
          </a:p>
        </p:txBody>
      </p:sp>
      <p:sp>
        <p:nvSpPr>
          <p:cNvPr id="66" name="Text 63"/>
          <p:cNvSpPr txBox="1"/>
          <p:nvPr/>
        </p:nvSpPr>
        <p:spPr>
          <a:xfrm>
            <a:off x="3758184" y="370332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customers </a:t>
            </a:r>
            <a:pPr indent="0" marL="0">
              <a:buNone/>
            </a:pPr>
            <a:r>
              <a:rPr lang="en-US" sz="63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endParaRPr lang="en-US" sz="630" dirty="0"/>
          </a:p>
        </p:txBody>
      </p:sp>
      <p:sp>
        <p:nvSpPr>
          <p:cNvPr id="67" name="stat 1"/>
          <p:cNvSpPr/>
          <p:nvPr/>
        </p:nvSpPr>
        <p:spPr>
          <a:xfrm>
            <a:off x="4599432" y="3703320"/>
            <a:ext cx="1371600" cy="347472"/>
          </a:xfrm>
          <a:prstGeom prst="roundRect">
            <a:avLst>
              <a:gd name="adj" fmla="val 15789"/>
            </a:avLst>
          </a:prstGeom>
          <a:solidFill>
            <a:srgbClr val="F1F5F9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4654296" y="3703320"/>
            <a:ext cx="566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≈67%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5202936" y="3703320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fixed broadband connections </a:t>
            </a:r>
            <a:pPr indent="0" marL="0">
              <a:buNone/>
            </a:pPr>
            <a:r>
              <a:rPr lang="en-US" sz="63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endParaRPr lang="en-US" sz="630" dirty="0"/>
          </a:p>
        </p:txBody>
      </p:sp>
      <p:sp>
        <p:nvSpPr>
          <p:cNvPr id="70" name="zone badge 3"/>
          <p:cNvSpPr/>
          <p:nvPr/>
        </p:nvSpPr>
        <p:spPr>
          <a:xfrm>
            <a:off x="6126480" y="868680"/>
            <a:ext cx="274320" cy="274320"/>
          </a:xfrm>
          <a:prstGeom prst="ellipse">
            <a:avLst/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71" name="Text 68"/>
          <p:cNvSpPr txBox="1"/>
          <p:nvPr/>
        </p:nvSpPr>
        <p:spPr>
          <a:xfrm>
            <a:off x="6126480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6473952" y="850392"/>
            <a:ext cx="2395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Performance: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customers and revenue</a:t>
            </a:r>
            <a:endParaRPr lang="en-US" sz="800" dirty="0"/>
          </a:p>
        </p:txBody>
      </p:sp>
      <p:sp>
        <p:nvSpPr>
          <p:cNvPr id="73" name="zone rule 3"/>
          <p:cNvSpPr/>
          <p:nvPr/>
        </p:nvSpPr>
        <p:spPr>
          <a:xfrm>
            <a:off x="6473952" y="1197864"/>
            <a:ext cx="2395728" cy="0"/>
          </a:xfrm>
          <a:prstGeom prst="line">
            <a:avLst/>
          </a:prstGeom>
          <a:noFill/>
          <a:ln w="15875">
            <a:solidFill>
              <a:srgbClr val="A50021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6126480" y="126187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7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revenue a quarter (Rp bn) </a:t>
            </a:r>
            <a:pPr indent="0" marL="0">
              <a:buNone/>
            </a:pPr>
            <a:r>
              <a:rPr lang="en-US" sz="70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endParaRPr lang="en-US" sz="700" dirty="0"/>
          </a:p>
        </p:txBody>
      </p:sp>
      <p:graphicFrame>
        <p:nvGraphicFramePr>
          <p:cNvPr id="75" name="Chart 0" descr=""/>
          <p:cNvGraphicFramePr/>
          <p:nvPr/>
        </p:nvGraphicFramePr>
        <p:xfrm>
          <a:off x="6053328" y="1417320"/>
          <a:ext cx="2852928" cy="129844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6" name="uptick"/>
          <p:cNvSpPr/>
          <p:nvPr/>
        </p:nvSpPr>
        <p:spPr>
          <a:xfrm>
            <a:off x="7726680" y="1554480"/>
            <a:ext cx="114300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9525">
            <a:solidFill>
              <a:srgbClr val="E4002B"/>
            </a:solidFill>
            <a:prstDash val="solid"/>
          </a:ln>
        </p:spPr>
      </p:sp>
      <p:sp>
        <p:nvSpPr>
          <p:cNvPr id="77" name="Text 73"/>
          <p:cNvSpPr txBox="1"/>
          <p:nvPr/>
        </p:nvSpPr>
        <p:spPr>
          <a:xfrm>
            <a:off x="7754112" y="15544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+0.6% QoQ</a:t>
            </a:r>
            <a:pPr algn="ctr"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2Q26: a fragile turn</a:t>
            </a:r>
            <a:endParaRPr lang="en-US" sz="620" dirty="0"/>
          </a:p>
        </p:txBody>
      </p:sp>
      <p:sp>
        <p:nvSpPr>
          <p:cNvPr id="78" name="dot"/>
          <p:cNvSpPr/>
          <p:nvPr/>
        </p:nvSpPr>
        <p:spPr>
          <a:xfrm>
            <a:off x="6144768" y="2898648"/>
            <a:ext cx="128016" cy="128016"/>
          </a:xfrm>
          <a:prstGeom prst="ellipse">
            <a:avLst/>
          </a:prstGeom>
          <a:solidFill>
            <a:srgbClr val="A50021"/>
          </a:solidFill>
          <a:ln/>
        </p:spPr>
      </p:sp>
      <p:sp>
        <p:nvSpPr>
          <p:cNvPr id="79" name="Text 75"/>
          <p:cNvSpPr txBox="1"/>
          <p:nvPr/>
        </p:nvSpPr>
        <p:spPr>
          <a:xfrm>
            <a:off x="6355080" y="278892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</a:t>
            </a:r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9.513M</a:t>
            </a:r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homes in 2Q26, </a:t>
            </a:r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−5.4%</a:t>
            </a:r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YoY </a:t>
            </a:r>
            <a:pPr indent="0" marL="0">
              <a:buNone/>
            </a:pPr>
            <a:r>
              <a:rPr lang="en-US" sz="70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endParaRPr lang="en-US" sz="700" dirty="0"/>
          </a:p>
        </p:txBody>
      </p:sp>
      <p:sp>
        <p:nvSpPr>
          <p:cNvPr id="80" name="dot"/>
          <p:cNvSpPr/>
          <p:nvPr/>
        </p:nvSpPr>
        <p:spPr>
          <a:xfrm>
            <a:off x="6144768" y="3319272"/>
            <a:ext cx="128016" cy="128016"/>
          </a:xfrm>
          <a:prstGeom prst="ellipse">
            <a:avLst/>
          </a:prstGeom>
          <a:solidFill>
            <a:srgbClr val="A50021"/>
          </a:solidFill>
          <a:ln/>
        </p:spPr>
      </p:sp>
      <p:sp>
        <p:nvSpPr>
          <p:cNvPr id="81" name="Text 77"/>
          <p:cNvSpPr txBox="1"/>
          <p:nvPr/>
        </p:nvSpPr>
        <p:spPr>
          <a:xfrm>
            <a:off x="6355080" y="320954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2025: </a:t>
            </a:r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+0.7M</a:t>
            </a:r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customers reported, yet </a:t>
            </a:r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−Rp0.44T</a:t>
            </a:r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revenue </a:t>
            </a:r>
            <a:pPr indent="0" marL="0">
              <a:buNone/>
            </a:pPr>
            <a:r>
              <a:rPr lang="en-US" sz="70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endParaRPr lang="en-US" sz="700" dirty="0"/>
          </a:p>
        </p:txBody>
      </p:sp>
      <p:sp>
        <p:nvSpPr>
          <p:cNvPr id="82" name="dot"/>
          <p:cNvSpPr/>
          <p:nvPr/>
        </p:nvSpPr>
        <p:spPr>
          <a:xfrm>
            <a:off x="6144768" y="3739896"/>
            <a:ext cx="128016" cy="128016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83" name="Text 79"/>
          <p:cNvSpPr txBox="1"/>
          <p:nvPr/>
        </p:nvSpPr>
        <p:spPr>
          <a:xfrm>
            <a:off x="6355080" y="36301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0.8–1.2M</a:t>
            </a:r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'inactive, non-revenue-contributing' accounts removed or identified </a:t>
            </a:r>
            <a:pPr indent="0" marL="0">
              <a:buNone/>
            </a:pPr>
            <a:r>
              <a:rPr lang="en-US" sz="70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endParaRPr lang="en-US" sz="700" dirty="0"/>
          </a:p>
        </p:txBody>
      </p:sp>
      <p:pic>
        <p:nvPicPr>
          <p:cNvPr id="84" name="Image 1" descr="KQ ba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133088"/>
            <a:ext cx="8595360" cy="603504"/>
          </a:xfrm>
          <a:prstGeom prst="rect">
            <a:avLst/>
          </a:prstGeom>
        </p:spPr>
      </p:pic>
      <p:sp>
        <p:nvSpPr>
          <p:cNvPr id="85" name="Text 80"/>
          <p:cNvSpPr txBox="1"/>
          <p:nvPr/>
        </p:nvSpPr>
        <p:spPr>
          <a:xfrm>
            <a:off x="384048" y="4133088"/>
            <a:ext cx="1188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case's Key Question</a:t>
            </a:r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indent="0" marL="0">
              <a:buNone/>
            </a:pPr>
            <a:r>
              <a:rPr lang="en-US" sz="750" baseline="30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[8]</a:t>
            </a:r>
            <a:endParaRPr lang="en-US" sz="750" dirty="0"/>
          </a:p>
        </p:txBody>
      </p:sp>
      <p:sp>
        <p:nvSpPr>
          <p:cNvPr id="86" name="Text 81"/>
          <p:cNvSpPr txBox="1"/>
          <p:nvPr/>
        </p:nvSpPr>
        <p:spPr>
          <a:xfrm>
            <a:off x="1600200" y="4133088"/>
            <a:ext cx="7178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"As household connectivity needs become increasingly diverse, how should Telkomsel </a:t>
            </a:r>
            <a:pPr indent="0" marL="0">
              <a:buNone/>
            </a:pPr>
            <a:r>
              <a:rPr lang="en-US" sz="76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differentiate and position IndiHome and Orbit across customer segments</a:t>
            </a:r>
            <a:pPr indent="0" marL="0">
              <a:buNone/>
            </a:pPr>
            <a:r>
              <a:rPr lang="en-US" sz="76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unlock stronger </a:t>
            </a:r>
            <a:pPr indent="0" marL="0">
              <a:buNone/>
            </a:pPr>
            <a:r>
              <a:rPr lang="en-US" sz="760" b="1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long-term household value</a:t>
            </a:r>
            <a:pPr indent="0" marL="0">
              <a:buNone/>
            </a:pPr>
            <a:r>
              <a:rPr lang="en-US" sz="760" i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without relying primarily on price competition?"</a:t>
            </a:r>
            <a:endParaRPr lang="en-US" sz="7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Identification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identification: IndiHome and Orbit are placed by network and price tier, and household value leaks at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in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in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188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Telkom 1H26 Info Memo ·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Appendix 3, 4 (cleansing, scenarios) ·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Appendix 14 (issue tree) ·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Appendix 16 (scoring and sensitivity)</a:t>
            </a:r>
            <a:endParaRPr lang="en-US" sz="6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6053328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665976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7278624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7891272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</a:t>
            </a:r>
            <a:endParaRPr lang="en-US" sz="650" dirty="0"/>
          </a:p>
        </p:txBody>
      </p:sp>
      <p:sp>
        <p:nvSpPr>
          <p:cNvPr id="13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274320" y="84124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problem, stated twice</a:t>
            </a:r>
            <a:endParaRPr lang="en-US" sz="800" dirty="0"/>
          </a:p>
        </p:txBody>
      </p:sp>
      <p:sp>
        <p:nvSpPr>
          <p:cNvPr id="16" name="symptoms"/>
          <p:cNvSpPr/>
          <p:nvPr/>
        </p:nvSpPr>
        <p:spPr>
          <a:xfrm>
            <a:off x="274320" y="1060704"/>
            <a:ext cx="2331720" cy="1024128"/>
          </a:xfrm>
          <a:prstGeom prst="roundRect">
            <a:avLst>
              <a:gd name="adj" fmla="val 5357"/>
            </a:avLst>
          </a:prstGeom>
          <a:solidFill>
            <a:srgbClr val="F1F5F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65760" y="1097280"/>
            <a:ext cx="2148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6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Symptoms</a:t>
            </a:r>
            <a:pPr indent="0" marL="0">
              <a:spcAft>
                <a:spcPts val="200"/>
              </a:spcAft>
              <a:buNone/>
            </a:pPr>
            <a:r>
              <a:rPr lang="en-US" sz="6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69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endParaRPr lang="en-US" sz="69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2025 Telkomsel reported </a:t>
            </a:r>
            <a:pPr indent="0" marL="0">
              <a:spcAft>
                <a:spcPts val="200"/>
              </a:spcAft>
              <a:buNone/>
            </a:pPr>
            <a:r>
              <a:rPr lang="en-US" sz="6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0.7M more</a:t>
            </a:r>
            <a:pPr indent="0" marL="0">
              <a:spcAft>
                <a:spcPts val="200"/>
              </a:spcAft>
              <a:buNone/>
            </a:pPr>
            <a:r>
              <a:rPr lang="en-US" sz="6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household customers but lost </a:t>
            </a:r>
            <a:pPr indent="0" marL="0">
              <a:spcAft>
                <a:spcPts val="200"/>
              </a:spcAft>
              <a:buNone/>
            </a:pPr>
            <a:r>
              <a:rPr lang="en-US" sz="6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Rp0.44T</a:t>
            </a:r>
            <a:pPr indent="0" marL="0">
              <a:spcAft>
                <a:spcPts val="200"/>
              </a:spcAft>
              <a:buNone/>
            </a:pPr>
            <a:r>
              <a:rPr lang="en-US" sz="6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household revenue; in 2026 it began removing </a:t>
            </a:r>
            <a:pPr indent="0" marL="0">
              <a:spcAft>
                <a:spcPts val="200"/>
              </a:spcAft>
              <a:buNone/>
            </a:pPr>
            <a:r>
              <a:rPr lang="en-US" sz="6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0.8–1.2M</a:t>
            </a:r>
            <a:pPr indent="0" marL="0">
              <a:spcAft>
                <a:spcPts val="200"/>
              </a:spcAft>
              <a:buNone/>
            </a:pPr>
            <a:r>
              <a:rPr lang="en-US" sz="6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inactive accounts, and revenue was still </a:t>
            </a:r>
            <a:pPr indent="0" marL="0">
              <a:spcAft>
                <a:spcPts val="200"/>
              </a:spcAft>
              <a:buNone/>
            </a:pPr>
            <a:r>
              <a:rPr lang="en-US" sz="6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3.8% lower</a:t>
            </a:r>
            <a:pPr indent="0" marL="0">
              <a:spcAft>
                <a:spcPts val="200"/>
              </a:spcAft>
              <a:buNone/>
            </a:pPr>
            <a:r>
              <a:rPr lang="en-US" sz="6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1H26.</a:t>
            </a:r>
            <a:endParaRPr lang="en-US" sz="690" dirty="0"/>
          </a:p>
        </p:txBody>
      </p:sp>
      <p:pic>
        <p:nvPicPr>
          <p:cNvPr id="18" name="Image 1" descr="kq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57984"/>
            <a:ext cx="2331720" cy="8229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65760" y="2176272"/>
            <a:ext cx="21488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Question</a:t>
            </a:r>
            <a:endParaRPr lang="en-US" sz="69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is Telkomsel losing value per household in a growing market, and how much of it comes from the way </a:t>
            </a:r>
            <a:pPr indent="0" marL="0">
              <a:spcAft>
                <a:spcPts val="200"/>
              </a:spcAft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and Orbit are positioned</a:t>
            </a:r>
            <a:pPr indent="0" marL="0">
              <a:spcAft>
                <a:spcPts val="200"/>
              </a:spcAft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690" dirty="0"/>
          </a:p>
        </p:txBody>
      </p:sp>
      <p:sp>
        <p:nvSpPr>
          <p:cNvPr id="20" name="causes"/>
          <p:cNvSpPr/>
          <p:nvPr/>
        </p:nvSpPr>
        <p:spPr>
          <a:xfrm>
            <a:off x="274320" y="3054096"/>
            <a:ext cx="2331720" cy="1664208"/>
          </a:xfrm>
          <a:prstGeom prst="roundRect">
            <a:avLst>
              <a:gd name="adj" fmla="val 3297"/>
            </a:avLst>
          </a:prstGeom>
          <a:solidFill>
            <a:srgbClr val="FFFFFF"/>
          </a:solidFill>
          <a:ln w="12700">
            <a:solidFill>
              <a:srgbClr val="E4002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365760" y="3090672"/>
            <a:ext cx="21488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6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Causes, after the analysis</a:t>
            </a:r>
            <a:pPr indent="0" marL="0">
              <a:spcAft>
                <a:spcPts val="200"/>
              </a:spcAft>
              <a:buNone/>
            </a:pPr>
            <a:r>
              <a:rPr lang="en-US" sz="6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69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endParaRPr lang="en-US" sz="69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 are assigned by </a:t>
            </a:r>
            <a:pPr indent="0" marL="0">
              <a:spcAft>
                <a:spcPts val="200"/>
              </a:spcAft>
              <a:buNone/>
            </a:pPr>
            <a:r>
              <a:rPr lang="en-US" sz="6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and price tier</a:t>
            </a:r>
            <a:pPr indent="0" marL="0">
              <a:spcAft>
                <a:spcPts val="200"/>
              </a:spcAft>
              <a:buNone/>
            </a:pPr>
            <a:r>
              <a:rPr lang="en-US" sz="6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 extras that should raise spend are </a:t>
            </a:r>
            <a:pPr indent="0" marL="0">
              <a:spcAft>
                <a:spcPts val="200"/>
              </a:spcAft>
              <a:buNone/>
            </a:pPr>
            <a:r>
              <a:rPr lang="en-US" sz="6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lent</a:t>
            </a:r>
            <a:pPr indent="0" marL="0">
              <a:spcAft>
                <a:spcPts val="200"/>
              </a:spcAft>
              <a:buNone/>
            </a:pPr>
            <a:r>
              <a:rPr lang="en-US" sz="6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the premium is </a:t>
            </a:r>
            <a:pPr indent="0" marL="0">
              <a:spcAft>
                <a:spcPts val="200"/>
              </a:spcAft>
              <a:buNone/>
            </a:pPr>
            <a:r>
              <a:rPr lang="en-US" sz="6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unproven where rivals compete</a:t>
            </a:r>
            <a:pPr indent="0" marL="0">
              <a:spcAft>
                <a:spcPts val="200"/>
              </a:spcAft>
              <a:buNone/>
            </a:pPr>
            <a:r>
              <a:rPr lang="en-US" sz="6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Underneath, LTV is Telkom's stated aim, yet </a:t>
            </a:r>
            <a:pPr indent="0" marL="0">
              <a:spcAft>
                <a:spcPts val="200"/>
              </a:spcAft>
              <a:buNone/>
            </a:pPr>
            <a:r>
              <a:rPr lang="en-US" sz="6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one is measured on what a household is worth</a:t>
            </a:r>
            <a:pPr indent="0" marL="0">
              <a:spcAft>
                <a:spcPts val="200"/>
              </a:spcAft>
              <a:buNone/>
            </a:pPr>
            <a:r>
              <a:rPr lang="en-US" sz="6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across IndiHome, Orbit and mobile.</a:t>
            </a:r>
            <a:endParaRPr lang="en-US" sz="690" dirty="0"/>
          </a:p>
        </p:txBody>
      </p:sp>
      <p:sp>
        <p:nvSpPr>
          <p:cNvPr id="22" name="Text 18"/>
          <p:cNvSpPr txBox="1"/>
          <p:nvPr/>
        </p:nvSpPr>
        <p:spPr>
          <a:xfrm>
            <a:off x="2743200" y="8412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 tree: 3 branches, 8 drivers, each scored </a:t>
            </a:r>
            <a:pPr indent="0" marL="0">
              <a:buNone/>
            </a:pPr>
            <a:r>
              <a:rPr lang="en-US" sz="80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pPr indent="0" marL="0">
              <a:buNone/>
            </a:pPr>
            <a:r>
              <a:rPr lang="en-US" sz="80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endParaRPr lang="en-US" sz="800" dirty="0"/>
          </a:p>
        </p:txBody>
      </p:sp>
      <p:pic>
        <p:nvPicPr>
          <p:cNvPr id="23" name="Image 2" descr="ro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097280"/>
            <a:ext cx="658368" cy="318211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2761488" y="1097280"/>
            <a:ext cx="621792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value leaks</a:t>
            </a:r>
            <a:endParaRPr lang="en-US" sz="700" dirty="0"/>
          </a:p>
        </p:txBody>
      </p:sp>
      <p:sp>
        <p:nvSpPr>
          <p:cNvPr id="25" name="line"/>
          <p:cNvSpPr/>
          <p:nvPr/>
        </p:nvSpPr>
        <p:spPr>
          <a:xfrm>
            <a:off x="3401568" y="1650492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6" name="branch Role and entry"/>
          <p:cNvSpPr/>
          <p:nvPr/>
        </p:nvSpPr>
        <p:spPr>
          <a:xfrm>
            <a:off x="3511296" y="1097280"/>
            <a:ext cx="896112" cy="1106424"/>
          </a:xfrm>
          <a:prstGeom prst="roundRect">
            <a:avLst>
              <a:gd name="adj" fmla="val 4082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3547872" y="1097280"/>
            <a:ext cx="8229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and entry</a:t>
            </a:r>
            <a:endParaRPr lang="en-US" sz="69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</a:t>
            </a:r>
            <a:pPr algn="ctr" indent="0" marL="0">
              <a:spcAft>
                <a:spcPts val="100"/>
              </a:spcAft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3.82</a:t>
            </a:r>
            <a:endParaRPr lang="en-US" sz="690" dirty="0"/>
          </a:p>
        </p:txBody>
      </p:sp>
      <p:sp>
        <p:nvSpPr>
          <p:cNvPr id="28" name="line"/>
          <p:cNvSpPr/>
          <p:nvPr/>
        </p:nvSpPr>
        <p:spPr>
          <a:xfrm>
            <a:off x="4407408" y="1266444"/>
            <a:ext cx="91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9" name="driver Roles set by ne"/>
          <p:cNvSpPr/>
          <p:nvPr/>
        </p:nvSpPr>
        <p:spPr>
          <a:xfrm>
            <a:off x="4498848" y="1097280"/>
            <a:ext cx="1627632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553712" y="1097280"/>
            <a:ext cx="1536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Roles set by network and tier, no routing</a:t>
            </a:r>
            <a:endParaRPr lang="en-US" sz="640" dirty="0"/>
          </a:p>
        </p:txBody>
      </p:sp>
      <p:sp>
        <p:nvSpPr>
          <p:cNvPr id="31" name="chip 4.05"/>
          <p:cNvSpPr/>
          <p:nvPr/>
        </p:nvSpPr>
        <p:spPr>
          <a:xfrm>
            <a:off x="6172200" y="1097280"/>
            <a:ext cx="713232" cy="338328"/>
          </a:xfrm>
          <a:prstGeom prst="roundRect">
            <a:avLst>
              <a:gd name="adj" fmla="val 10811"/>
            </a:avLst>
          </a:prstGeom>
          <a:solidFill>
            <a:srgbClr val="E4002B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6190488" y="1097280"/>
            <a:ext cx="676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4.05</a:t>
            </a:r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top</a:t>
            </a:r>
            <a:endParaRPr lang="en-US" sz="800" dirty="0"/>
          </a:p>
        </p:txBody>
      </p:sp>
      <p:sp>
        <p:nvSpPr>
          <p:cNvPr id="33" name="line"/>
          <p:cNvSpPr/>
          <p:nvPr/>
        </p:nvSpPr>
        <p:spPr>
          <a:xfrm>
            <a:off x="4407408" y="1650492"/>
            <a:ext cx="91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4" name="driver Acquisition out"/>
          <p:cNvSpPr/>
          <p:nvPr/>
        </p:nvSpPr>
        <p:spPr>
          <a:xfrm>
            <a:off x="4498848" y="1481328"/>
            <a:ext cx="1627632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Text 30"/>
          <p:cNvSpPr txBox="1"/>
          <p:nvPr/>
        </p:nvSpPr>
        <p:spPr>
          <a:xfrm>
            <a:off x="4553712" y="1481328"/>
            <a:ext cx="1536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Acquisition outside the mobile relationship</a:t>
            </a:r>
            <a:endParaRPr lang="en-US" sz="640" dirty="0"/>
          </a:p>
        </p:txBody>
      </p:sp>
      <p:sp>
        <p:nvSpPr>
          <p:cNvPr id="36" name="chip 3.65"/>
          <p:cNvSpPr/>
          <p:nvPr/>
        </p:nvSpPr>
        <p:spPr>
          <a:xfrm>
            <a:off x="6172200" y="1481328"/>
            <a:ext cx="713232" cy="338328"/>
          </a:xfrm>
          <a:prstGeom prst="roundRect">
            <a:avLst>
              <a:gd name="adj" fmla="val 10811"/>
            </a:avLst>
          </a:prstGeom>
          <a:solidFill>
            <a:srgbClr val="475569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6190488" y="1481328"/>
            <a:ext cx="676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3.65</a:t>
            </a:r>
            <a:endParaRPr lang="en-US" sz="800" dirty="0"/>
          </a:p>
        </p:txBody>
      </p:sp>
      <p:sp>
        <p:nvSpPr>
          <p:cNvPr id="38" name="line"/>
          <p:cNvSpPr/>
          <p:nvPr/>
        </p:nvSpPr>
        <p:spPr>
          <a:xfrm>
            <a:off x="4407408" y="2034540"/>
            <a:ext cx="91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9" name="driver Entry terms"/>
          <p:cNvSpPr/>
          <p:nvPr/>
        </p:nvSpPr>
        <p:spPr>
          <a:xfrm>
            <a:off x="4498848" y="1865376"/>
            <a:ext cx="1627632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5"/>
          <p:cNvSpPr txBox="1"/>
          <p:nvPr/>
        </p:nvSpPr>
        <p:spPr>
          <a:xfrm>
            <a:off x="4553712" y="1865376"/>
            <a:ext cx="1536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Entry terms</a:t>
            </a:r>
            <a:endParaRPr lang="en-US" sz="640" dirty="0"/>
          </a:p>
        </p:txBody>
      </p:sp>
      <p:sp>
        <p:nvSpPr>
          <p:cNvPr id="41" name="chip unscored"/>
          <p:cNvSpPr/>
          <p:nvPr/>
        </p:nvSpPr>
        <p:spPr>
          <a:xfrm>
            <a:off x="6172200" y="1865376"/>
            <a:ext cx="713232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42" name="Text 37"/>
          <p:cNvSpPr txBox="1"/>
          <p:nvPr/>
        </p:nvSpPr>
        <p:spPr>
          <a:xfrm>
            <a:off x="6190488" y="1865376"/>
            <a:ext cx="676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 unknown, being fixed by Telkom</a:t>
            </a:r>
            <a:endParaRPr lang="en-US" sz="560" dirty="0"/>
          </a:p>
        </p:txBody>
      </p:sp>
      <p:sp>
        <p:nvSpPr>
          <p:cNvPr id="43" name="line"/>
          <p:cNvSpPr/>
          <p:nvPr/>
        </p:nvSpPr>
        <p:spPr>
          <a:xfrm>
            <a:off x="3401568" y="2848356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4" name="branch Spend"/>
          <p:cNvSpPr/>
          <p:nvPr/>
        </p:nvSpPr>
        <p:spPr>
          <a:xfrm>
            <a:off x="3511296" y="2295144"/>
            <a:ext cx="896112" cy="1106424"/>
          </a:xfrm>
          <a:prstGeom prst="roundRect">
            <a:avLst>
              <a:gd name="adj" fmla="val 4082"/>
            </a:avLst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5" name="Text 40"/>
          <p:cNvSpPr txBox="1"/>
          <p:nvPr/>
        </p:nvSpPr>
        <p:spPr>
          <a:xfrm>
            <a:off x="3547872" y="2295144"/>
            <a:ext cx="822960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</a:t>
            </a:r>
            <a:endParaRPr lang="en-US" sz="69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</a:t>
            </a:r>
            <a:pPr algn="ctr" indent="0" marL="0">
              <a:spcAft>
                <a:spcPts val="100"/>
              </a:spcAft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3.47</a:t>
            </a:r>
            <a:endParaRPr lang="en-US" sz="690" dirty="0"/>
          </a:p>
        </p:txBody>
      </p:sp>
      <p:sp>
        <p:nvSpPr>
          <p:cNvPr id="46" name="line"/>
          <p:cNvSpPr/>
          <p:nvPr/>
        </p:nvSpPr>
        <p:spPr>
          <a:xfrm>
            <a:off x="4407408" y="2464308"/>
            <a:ext cx="91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7" name="driver No designed pat"/>
          <p:cNvSpPr/>
          <p:nvPr/>
        </p:nvSpPr>
        <p:spPr>
          <a:xfrm>
            <a:off x="4498848" y="2295144"/>
            <a:ext cx="1627632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8" name="Text 43"/>
          <p:cNvSpPr txBox="1"/>
          <p:nvPr/>
        </p:nvSpPr>
        <p:spPr>
          <a:xfrm>
            <a:off x="4553712" y="2295144"/>
            <a:ext cx="1536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designed path between products</a:t>
            </a:r>
            <a:endParaRPr lang="en-US" sz="640" dirty="0"/>
          </a:p>
        </p:txBody>
      </p:sp>
      <p:sp>
        <p:nvSpPr>
          <p:cNvPr id="49" name="chip 3.80"/>
          <p:cNvSpPr/>
          <p:nvPr/>
        </p:nvSpPr>
        <p:spPr>
          <a:xfrm>
            <a:off x="6172200" y="2295144"/>
            <a:ext cx="713232" cy="338328"/>
          </a:xfrm>
          <a:prstGeom prst="roundRect">
            <a:avLst>
              <a:gd name="adj" fmla="val 10811"/>
            </a:avLst>
          </a:prstGeom>
          <a:solidFill>
            <a:srgbClr val="A50021"/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6190488" y="2295144"/>
            <a:ext cx="676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3.80</a:t>
            </a:r>
            <a:endParaRPr lang="en-US" sz="800" dirty="0"/>
          </a:p>
        </p:txBody>
      </p:sp>
      <p:sp>
        <p:nvSpPr>
          <p:cNvPr id="51" name="line"/>
          <p:cNvSpPr/>
          <p:nvPr/>
        </p:nvSpPr>
        <p:spPr>
          <a:xfrm>
            <a:off x="4407408" y="2848356"/>
            <a:ext cx="91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2" name="driver Extras given aw"/>
          <p:cNvSpPr/>
          <p:nvPr/>
        </p:nvSpPr>
        <p:spPr>
          <a:xfrm>
            <a:off x="4498848" y="2679192"/>
            <a:ext cx="1627632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3" name="Text 48"/>
          <p:cNvSpPr txBox="1"/>
          <p:nvPr/>
        </p:nvSpPr>
        <p:spPr>
          <a:xfrm>
            <a:off x="4553712" y="2679192"/>
            <a:ext cx="1536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Extras given away or lent</a:t>
            </a:r>
            <a:endParaRPr lang="en-US" sz="640" dirty="0"/>
          </a:p>
        </p:txBody>
      </p:sp>
      <p:sp>
        <p:nvSpPr>
          <p:cNvPr id="54" name="chip 3.60"/>
          <p:cNvSpPr/>
          <p:nvPr/>
        </p:nvSpPr>
        <p:spPr>
          <a:xfrm>
            <a:off x="6172200" y="2679192"/>
            <a:ext cx="713232" cy="338328"/>
          </a:xfrm>
          <a:prstGeom prst="roundRect">
            <a:avLst>
              <a:gd name="adj" fmla="val 10811"/>
            </a:avLst>
          </a:prstGeom>
          <a:solidFill>
            <a:srgbClr val="475569"/>
          </a:solidFill>
          <a:ln/>
        </p:spPr>
      </p:sp>
      <p:sp>
        <p:nvSpPr>
          <p:cNvPr id="55" name="Text 50"/>
          <p:cNvSpPr txBox="1"/>
          <p:nvPr/>
        </p:nvSpPr>
        <p:spPr>
          <a:xfrm>
            <a:off x="6190488" y="2679192"/>
            <a:ext cx="676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3.60</a:t>
            </a:r>
            <a:endParaRPr lang="en-US" sz="800" dirty="0"/>
          </a:p>
        </p:txBody>
      </p:sp>
      <p:sp>
        <p:nvSpPr>
          <p:cNvPr id="56" name="line"/>
          <p:cNvSpPr/>
          <p:nvPr/>
        </p:nvSpPr>
        <p:spPr>
          <a:xfrm>
            <a:off x="4407408" y="3232404"/>
            <a:ext cx="91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7" name="driver Bundle gives li"/>
          <p:cNvSpPr/>
          <p:nvPr/>
        </p:nvSpPr>
        <p:spPr>
          <a:xfrm>
            <a:off x="4498848" y="3063240"/>
            <a:ext cx="1627632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8" name="Text 53"/>
          <p:cNvSpPr txBox="1"/>
          <p:nvPr/>
        </p:nvSpPr>
        <p:spPr>
          <a:xfrm>
            <a:off x="4553712" y="3063240"/>
            <a:ext cx="1536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 gives little reason to add lines</a:t>
            </a:r>
            <a:endParaRPr lang="en-US" sz="640" dirty="0"/>
          </a:p>
        </p:txBody>
      </p:sp>
      <p:sp>
        <p:nvSpPr>
          <p:cNvPr id="59" name="chip 3.00"/>
          <p:cNvSpPr/>
          <p:nvPr/>
        </p:nvSpPr>
        <p:spPr>
          <a:xfrm>
            <a:off x="6172200" y="3063240"/>
            <a:ext cx="713232" cy="338328"/>
          </a:xfrm>
          <a:prstGeom prst="roundRect">
            <a:avLst>
              <a:gd name="adj" fmla="val 10811"/>
            </a:avLst>
          </a:prstGeom>
          <a:solidFill>
            <a:srgbClr val="94A3B8"/>
          </a:solidFill>
          <a:ln/>
        </p:spPr>
      </p:sp>
      <p:sp>
        <p:nvSpPr>
          <p:cNvPr id="60" name="Text 55"/>
          <p:cNvSpPr txBox="1"/>
          <p:nvPr/>
        </p:nvSpPr>
        <p:spPr>
          <a:xfrm>
            <a:off x="6190488" y="3063240"/>
            <a:ext cx="676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3.00</a:t>
            </a:r>
            <a:endParaRPr lang="en-US" sz="800" dirty="0"/>
          </a:p>
        </p:txBody>
      </p:sp>
      <p:sp>
        <p:nvSpPr>
          <p:cNvPr id="61" name="line"/>
          <p:cNvSpPr/>
          <p:nvPr/>
        </p:nvSpPr>
        <p:spPr>
          <a:xfrm>
            <a:off x="3401568" y="3854196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2" name="branch Delivery and cost"/>
          <p:cNvSpPr/>
          <p:nvPr/>
        </p:nvSpPr>
        <p:spPr>
          <a:xfrm>
            <a:off x="3511296" y="3493008"/>
            <a:ext cx="896112" cy="722376"/>
          </a:xfrm>
          <a:prstGeom prst="roundRect">
            <a:avLst>
              <a:gd name="adj" fmla="val 5063"/>
            </a:avLst>
          </a:prstGeom>
          <a:solidFill>
            <a:srgbClr val="1F2937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63" name="Text 58"/>
          <p:cNvSpPr txBox="1"/>
          <p:nvPr/>
        </p:nvSpPr>
        <p:spPr>
          <a:xfrm>
            <a:off x="3547872" y="3493008"/>
            <a:ext cx="8229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100"/>
              </a:spcAft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and cost</a:t>
            </a:r>
            <a:endParaRPr lang="en-US" sz="690" dirty="0"/>
          </a:p>
          <a:p>
            <a:pPr algn="ctr" indent="0" marL="0">
              <a:spcAft>
                <a:spcPts val="100"/>
              </a:spcAft>
              <a:buNone/>
            </a:pPr>
            <a:r>
              <a:rPr lang="en-US" sz="69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avg </a:t>
            </a:r>
            <a:pPr algn="ctr" indent="0" marL="0">
              <a:spcAft>
                <a:spcPts val="100"/>
              </a:spcAft>
              <a:buNone/>
            </a:pPr>
            <a:r>
              <a:rPr lang="en-US" sz="6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3.30</a:t>
            </a:r>
            <a:endParaRPr lang="en-US" sz="690" dirty="0"/>
          </a:p>
        </p:txBody>
      </p:sp>
      <p:sp>
        <p:nvSpPr>
          <p:cNvPr id="64" name="line"/>
          <p:cNvSpPr/>
          <p:nvPr/>
        </p:nvSpPr>
        <p:spPr>
          <a:xfrm>
            <a:off x="4407408" y="3662172"/>
            <a:ext cx="91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65" name="driver Experience belo"/>
          <p:cNvSpPr/>
          <p:nvPr/>
        </p:nvSpPr>
        <p:spPr>
          <a:xfrm>
            <a:off x="4498848" y="3493008"/>
            <a:ext cx="1627632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6" name="Text 61"/>
          <p:cNvSpPr txBox="1"/>
          <p:nvPr/>
        </p:nvSpPr>
        <p:spPr>
          <a:xfrm>
            <a:off x="4553712" y="3493008"/>
            <a:ext cx="1536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Experience below rivals where contested</a:t>
            </a:r>
            <a:endParaRPr lang="en-US" sz="640" dirty="0"/>
          </a:p>
        </p:txBody>
      </p:sp>
      <p:sp>
        <p:nvSpPr>
          <p:cNvPr id="67" name="chip 3.80"/>
          <p:cNvSpPr/>
          <p:nvPr/>
        </p:nvSpPr>
        <p:spPr>
          <a:xfrm>
            <a:off x="6172200" y="3493008"/>
            <a:ext cx="713232" cy="338328"/>
          </a:xfrm>
          <a:prstGeom prst="roundRect">
            <a:avLst>
              <a:gd name="adj" fmla="val 10811"/>
            </a:avLst>
          </a:prstGeom>
          <a:solidFill>
            <a:srgbClr val="A50021"/>
          </a:solidFill>
          <a:ln/>
        </p:spPr>
      </p:sp>
      <p:sp>
        <p:nvSpPr>
          <p:cNvPr id="68" name="Text 63"/>
          <p:cNvSpPr txBox="1"/>
          <p:nvPr/>
        </p:nvSpPr>
        <p:spPr>
          <a:xfrm>
            <a:off x="6190488" y="3493008"/>
            <a:ext cx="676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3.80</a:t>
            </a:r>
            <a:endParaRPr lang="en-US" sz="800" dirty="0"/>
          </a:p>
        </p:txBody>
      </p:sp>
      <p:sp>
        <p:nvSpPr>
          <p:cNvPr id="69" name="line"/>
          <p:cNvSpPr/>
          <p:nvPr/>
        </p:nvSpPr>
        <p:spPr>
          <a:xfrm>
            <a:off x="4407408" y="4046220"/>
            <a:ext cx="9144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70" name="driver Cost not matche"/>
          <p:cNvSpPr/>
          <p:nvPr/>
        </p:nvSpPr>
        <p:spPr>
          <a:xfrm>
            <a:off x="4498848" y="3877056"/>
            <a:ext cx="1627632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1" name="Text 66"/>
          <p:cNvSpPr txBox="1"/>
          <p:nvPr/>
        </p:nvSpPr>
        <p:spPr>
          <a:xfrm>
            <a:off x="4553712" y="3877056"/>
            <a:ext cx="153619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 not matched to usage</a:t>
            </a:r>
            <a:endParaRPr lang="en-US" sz="640" dirty="0"/>
          </a:p>
        </p:txBody>
      </p:sp>
      <p:sp>
        <p:nvSpPr>
          <p:cNvPr id="72" name="chip unscored"/>
          <p:cNvSpPr/>
          <p:nvPr/>
        </p:nvSpPr>
        <p:spPr>
          <a:xfrm>
            <a:off x="6172200" y="3877056"/>
            <a:ext cx="713232" cy="338328"/>
          </a:xfrm>
          <a:prstGeom prst="roundRect">
            <a:avLst>
              <a:gd name="adj" fmla="val 10811"/>
            </a:avLst>
          </a:prstGeom>
          <a:solidFill>
            <a:srgbClr val="FFFFFF"/>
          </a:solidFill>
          <a:ln w="9525">
            <a:solidFill>
              <a:srgbClr val="94A3B8"/>
            </a:solidFill>
            <a:prstDash val="dash"/>
          </a:ln>
        </p:spPr>
      </p:sp>
      <p:sp>
        <p:nvSpPr>
          <p:cNvPr id="73" name="Text 68"/>
          <p:cNvSpPr txBox="1"/>
          <p:nvPr/>
        </p:nvSpPr>
        <p:spPr>
          <a:xfrm>
            <a:off x="6190488" y="3877056"/>
            <a:ext cx="6766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 unknown</a:t>
            </a:r>
            <a:endParaRPr lang="en-US" sz="560" dirty="0"/>
          </a:p>
        </p:txBody>
      </p:sp>
      <p:sp>
        <p:nvSpPr>
          <p:cNvPr id="74" name="Text 69"/>
          <p:cNvSpPr txBox="1"/>
          <p:nvPr/>
        </p:nvSpPr>
        <p:spPr>
          <a:xfrm>
            <a:off x="2743200" y="4334256"/>
            <a:ext cx="4142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and entry ranks first</a:t>
            </a:r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every test with the unscored drivers at their midpoints (</a:t>
            </a:r>
            <a:pPr indent="0" marL="0">
              <a:buNone/>
            </a:pPr>
            <a:r>
              <a:rPr lang="en-US" sz="63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 of 20</a:t>
            </a:r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tests at their extremes). Score = significance 40% · urgency 25% · controllability 20% · evidence 15% </a:t>
            </a:r>
            <a:pPr indent="0" marL="0">
              <a:buNone/>
            </a:pPr>
            <a:r>
              <a:rPr lang="en-US" sz="63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endParaRPr lang="en-US" sz="630" dirty="0"/>
          </a:p>
        </p:txBody>
      </p:sp>
      <p:sp>
        <p:nvSpPr>
          <p:cNvPr id="75" name="Text 70"/>
          <p:cNvSpPr txBox="1"/>
          <p:nvPr/>
        </p:nvSpPr>
        <p:spPr>
          <a:xfrm>
            <a:off x="7022592" y="841248"/>
            <a:ext cx="18470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holds in every reading</a:t>
            </a:r>
            <a:endParaRPr lang="en-US" sz="800" dirty="0"/>
          </a:p>
        </p:txBody>
      </p:sp>
      <p:sp>
        <p:nvSpPr>
          <p:cNvPr id="76" name="robustness"/>
          <p:cNvSpPr/>
          <p:nvPr/>
        </p:nvSpPr>
        <p:spPr>
          <a:xfrm>
            <a:off x="7022592" y="1060704"/>
            <a:ext cx="1847088" cy="3657600"/>
          </a:xfrm>
          <a:prstGeom prst="roundRect">
            <a:avLst>
              <a:gd name="adj" fmla="val 2970"/>
            </a:avLst>
          </a:prstGeom>
          <a:solidFill>
            <a:srgbClr val="F1F5F9"/>
          </a:solidFill>
          <a:ln/>
        </p:spPr>
      </p:sp>
      <p:sp>
        <p:nvSpPr>
          <p:cNvPr id="77" name="Text 72"/>
          <p:cNvSpPr txBox="1"/>
          <p:nvPr/>
        </p:nvSpPr>
        <p:spPr>
          <a:xfrm>
            <a:off x="7114032" y="11430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−0.7% to −10.8%</a:t>
            </a:r>
            <a:endParaRPr lang="en-US" sz="1250" dirty="0"/>
          </a:p>
        </p:txBody>
      </p:sp>
      <p:sp>
        <p:nvSpPr>
          <p:cNvPr id="78" name="Text 73"/>
          <p:cNvSpPr txBox="1"/>
          <p:nvPr/>
        </p:nvSpPr>
        <p:spPr>
          <a:xfrm>
            <a:off x="7114032" y="1481328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in revenue per </a:t>
            </a:r>
            <a:pPr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paying</a:t>
            </a:r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household in every timing scenario for the inactive accounts </a:t>
            </a:r>
            <a:pPr indent="0" marL="0">
              <a:buNone/>
            </a:pPr>
            <a:r>
              <a:rPr lang="en-US" sz="6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indent="0" marL="0">
              <a:buNone/>
            </a:pPr>
            <a:r>
              <a:rPr lang="en-US" sz="68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endParaRPr lang="en-US" sz="680" dirty="0"/>
          </a:p>
        </p:txBody>
      </p:sp>
      <p:sp>
        <p:nvSpPr>
          <p:cNvPr id="79" name="line"/>
          <p:cNvSpPr/>
          <p:nvPr/>
        </p:nvSpPr>
        <p:spPr>
          <a:xfrm>
            <a:off x="7132320" y="2121408"/>
            <a:ext cx="16459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0" name="Text 75"/>
          <p:cNvSpPr txBox="1"/>
          <p:nvPr/>
        </p:nvSpPr>
        <p:spPr>
          <a:xfrm>
            <a:off x="7114032" y="21945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−899k vs +85k</a:t>
            </a:r>
            <a:endParaRPr lang="en-US" sz="1250" dirty="0"/>
          </a:p>
        </p:txBody>
      </p:sp>
      <p:sp>
        <p:nvSpPr>
          <p:cNvPr id="81" name="Text 76"/>
          <p:cNvSpPr txBox="1"/>
          <p:nvPr/>
        </p:nvSpPr>
        <p:spPr>
          <a:xfrm>
            <a:off x="7114032" y="253288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2Q26 net change: homes </a:t>
            </a:r>
            <a:pPr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</a:t>
            </a:r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Telkomsel line vs </a:t>
            </a:r>
            <a:pPr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converged</a:t>
            </a:r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homes (net figures; the removed accounts are not published) </a:t>
            </a:r>
            <a:pPr indent="0" marL="0">
              <a:buNone/>
            </a:pPr>
            <a:r>
              <a:rPr lang="en-US" sz="68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endParaRPr lang="en-US" sz="680" dirty="0"/>
          </a:p>
        </p:txBody>
      </p:sp>
      <p:sp>
        <p:nvSpPr>
          <p:cNvPr id="82" name="line"/>
          <p:cNvSpPr/>
          <p:nvPr/>
        </p:nvSpPr>
        <p:spPr>
          <a:xfrm>
            <a:off x="7132320" y="3291840"/>
            <a:ext cx="16459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83" name="Text 78"/>
          <p:cNvSpPr txBox="1"/>
          <p:nvPr/>
        </p:nvSpPr>
        <p:spPr>
          <a:xfrm>
            <a:off x="7114032" y="3364992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the solution order follows the ranking:</a:t>
            </a:r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fix the roles of IndiHome and Orbit first, then keep homes and build paths up, all measured on household value.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Analysis: Market and Competition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and competition: Rp100k fiber took the growth, with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Surge adding 1.98M homes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a year while IndiHome's reported base fell by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0.55M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188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Surge (WIFI) disclosures; Samuel and BCA Sekuritas ·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Telkom 1H26 Info Memo ·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Opensignal, Jan–Mar 2026 · Appendix 5, 7, 8</a:t>
            </a:r>
            <a:endParaRPr lang="en-US" sz="6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6053328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665976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7278624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7891272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</a:t>
            </a:r>
            <a:endParaRPr lang="en-US" sz="650" dirty="0"/>
          </a:p>
        </p:txBody>
      </p:sp>
      <p:sp>
        <p:nvSpPr>
          <p:cNvPr id="13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15" name="zone badge 1"/>
          <p:cNvSpPr/>
          <p:nvPr/>
        </p:nvSpPr>
        <p:spPr>
          <a:xfrm>
            <a:off x="274320" y="868680"/>
            <a:ext cx="274320" cy="274320"/>
          </a:xfrm>
          <a:prstGeom prst="ellipse">
            <a:avLst/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74320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" y="850392"/>
            <a:ext cx="35844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Same-window growth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2Q25 → 2Q26 (homes)</a:t>
            </a:r>
            <a:endParaRPr lang="en-US" sz="800" dirty="0"/>
          </a:p>
        </p:txBody>
      </p:sp>
      <p:sp>
        <p:nvSpPr>
          <p:cNvPr id="18" name="zone rule 1"/>
          <p:cNvSpPr/>
          <p:nvPr/>
        </p:nvSpPr>
        <p:spPr>
          <a:xfrm>
            <a:off x="621792" y="1197864"/>
            <a:ext cx="3584448" cy="0"/>
          </a:xfrm>
          <a:prstGeom prst="line">
            <a:avLst/>
          </a:prstGeom>
          <a:noFill/>
          <a:ln w="15875">
            <a:solidFill>
              <a:srgbClr val="A50021"/>
            </a:solidFill>
            <a:prstDash val="solid"/>
          </a:ln>
        </p:spPr>
      </p:sp>
      <p:sp>
        <p:nvSpPr>
          <p:cNvPr id="19" name="line"/>
          <p:cNvSpPr/>
          <p:nvPr/>
        </p:nvSpPr>
        <p:spPr>
          <a:xfrm>
            <a:off x="2331720" y="1325880"/>
            <a:ext cx="0" cy="160020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240280" y="118872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600" dirty="0"/>
          </a:p>
        </p:txBody>
      </p:sp>
      <p:sp>
        <p:nvSpPr>
          <p:cNvPr id="21" name="Text 18"/>
          <p:cNvSpPr txBox="1"/>
          <p:nvPr/>
        </p:nvSpPr>
        <p:spPr>
          <a:xfrm>
            <a:off x="274320" y="141732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IndiHome, reported </a:t>
            </a:r>
            <a:pPr algn="r" indent="0" marL="0">
              <a:buNone/>
            </a:pPr>
            <a:r>
              <a:rPr lang="en-US" sz="66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endParaRPr lang="en-US" sz="660" dirty="0"/>
          </a:p>
        </p:txBody>
      </p:sp>
      <p:sp>
        <p:nvSpPr>
          <p:cNvPr id="22" name="bar neg"/>
          <p:cNvSpPr/>
          <p:nvPr/>
        </p:nvSpPr>
        <p:spPr>
          <a:xfrm>
            <a:off x="1828800" y="1508760"/>
            <a:ext cx="502920" cy="182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377440" y="14173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−0.55M</a:t>
            </a:r>
            <a:endParaRPr lang="en-US" sz="750" dirty="0"/>
          </a:p>
        </p:txBody>
      </p:sp>
      <p:sp>
        <p:nvSpPr>
          <p:cNvPr id="24" name="Text 21"/>
          <p:cNvSpPr txBox="1"/>
          <p:nvPr/>
        </p:nvSpPr>
        <p:spPr>
          <a:xfrm>
            <a:off x="274320" y="192024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IndiHome, removed accounts added back</a:t>
            </a:r>
            <a:endParaRPr lang="en-US" sz="660" dirty="0"/>
          </a:p>
        </p:txBody>
      </p:sp>
      <p:sp>
        <p:nvSpPr>
          <p:cNvPr id="25" name="range solid"/>
          <p:cNvSpPr/>
          <p:nvPr/>
        </p:nvSpPr>
        <p:spPr>
          <a:xfrm>
            <a:off x="2331720" y="2011680"/>
            <a:ext cx="228600" cy="182880"/>
          </a:xfrm>
          <a:prstGeom prst="rect">
            <a:avLst/>
          </a:prstGeom>
          <a:solidFill>
            <a:srgbClr val="A50021"/>
          </a:solidFill>
          <a:ln/>
        </p:spPr>
      </p:sp>
      <p:sp>
        <p:nvSpPr>
          <p:cNvPr id="26" name="range band"/>
          <p:cNvSpPr/>
          <p:nvPr/>
        </p:nvSpPr>
        <p:spPr>
          <a:xfrm>
            <a:off x="2560320" y="2011680"/>
            <a:ext cx="365760" cy="182880"/>
          </a:xfrm>
          <a:prstGeom prst="rect">
            <a:avLst/>
          </a:prstGeom>
          <a:solidFill>
            <a:srgbClr val="E9D0D6"/>
          </a:solidFill>
          <a:ln w="9525">
            <a:solidFill>
              <a:srgbClr val="A50021"/>
            </a:solidFill>
            <a:prstDash val="dash"/>
          </a:ln>
        </p:spPr>
      </p:sp>
      <p:sp>
        <p:nvSpPr>
          <p:cNvPr id="27" name="Text 24"/>
          <p:cNvSpPr txBox="1"/>
          <p:nvPr/>
        </p:nvSpPr>
        <p:spPr>
          <a:xfrm>
            <a:off x="2971800" y="19202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+0.25M to +0.65M</a:t>
            </a:r>
            <a:endParaRPr lang="en-US" sz="750" dirty="0"/>
          </a:p>
        </p:txBody>
      </p:sp>
      <p:sp>
        <p:nvSpPr>
          <p:cNvPr id="28" name="Text 25"/>
          <p:cNvSpPr txBox="1"/>
          <p:nvPr/>
        </p:nvSpPr>
        <p:spPr>
          <a:xfrm>
            <a:off x="274320" y="2423160"/>
            <a:ext cx="148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Surge (WIFI) </a:t>
            </a:r>
            <a:pPr algn="r" indent="0" marL="0">
              <a:buNone/>
            </a:pPr>
            <a:r>
              <a:rPr lang="en-US" sz="66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endParaRPr lang="en-US" sz="660" dirty="0"/>
          </a:p>
        </p:txBody>
      </p:sp>
      <p:sp>
        <p:nvSpPr>
          <p:cNvPr id="29" name="bar pos"/>
          <p:cNvSpPr/>
          <p:nvPr/>
        </p:nvSpPr>
        <p:spPr>
          <a:xfrm>
            <a:off x="2331720" y="2514600"/>
            <a:ext cx="1810512" cy="18288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456432" y="2423160"/>
            <a:ext cx="6583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+1.98M</a:t>
            </a:r>
            <a:endParaRPr lang="en-US" sz="750" dirty="0"/>
          </a:p>
        </p:txBody>
      </p:sp>
      <p:sp>
        <p:nvSpPr>
          <p:cNvPr id="31" name="Text 28"/>
          <p:cNvSpPr txBox="1"/>
          <p:nvPr/>
        </p:nvSpPr>
        <p:spPr>
          <a:xfrm>
            <a:off x="274320" y="294436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78% of Surge's base is fiber; its growth was ≈3–8× IndiHome's underlying growth (Appendix 7)</a:t>
            </a:r>
            <a:endParaRPr lang="en-US" sz="620" dirty="0"/>
          </a:p>
        </p:txBody>
      </p:sp>
      <p:sp>
        <p:nvSpPr>
          <p:cNvPr id="32" name="so what market"/>
          <p:cNvSpPr/>
          <p:nvPr/>
        </p:nvSpPr>
        <p:spPr>
          <a:xfrm>
            <a:off x="274320" y="3246120"/>
            <a:ext cx="3931920" cy="1463040"/>
          </a:xfrm>
          <a:prstGeom prst="roundRect">
            <a:avLst>
              <a:gd name="adj" fmla="val 3750"/>
            </a:avLst>
          </a:prstGeom>
          <a:solidFill>
            <a:srgbClr val="F1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84048" y="3291840"/>
            <a:ext cx="373075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67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what: a two-front squeeze</a:t>
            </a:r>
            <a:pPr indent="0" marL="0">
              <a:spcAft>
                <a:spcPts val="200"/>
              </a:spcAft>
              <a:buNone/>
            </a:pPr>
            <a:r>
              <a:rPr lang="en-US" sz="6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indent="0" marL="0">
              <a:spcAft>
                <a:spcPts val="200"/>
              </a:spcAft>
              <a:buNone/>
            </a:pPr>
            <a:r>
              <a:rPr lang="en-US" sz="67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pPr indent="0" marL="0">
              <a:spcAft>
                <a:spcPts val="200"/>
              </a:spcAft>
              <a:buNone/>
            </a:pPr>
            <a:r>
              <a:rPr lang="en-US" sz="67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endParaRPr lang="en-US" sz="67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7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front (≈Rp100k):</a:t>
            </a:r>
            <a:pPr indent="0" marL="0">
              <a:spcAft>
                <a:spcPts val="200"/>
              </a:spcAft>
              <a:buNone/>
            </a:pPr>
            <a:r>
              <a:rPr lang="en-US" sz="6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Starlite fiber, Internet Rakyat, MyRepublic Air, HiFi Air. Surge </a:t>
            </a:r>
            <a:pPr indent="0" marL="0">
              <a:spcAft>
                <a:spcPts val="200"/>
              </a:spcAft>
              <a:buNone/>
            </a:pPr>
            <a:r>
              <a:rPr lang="en-US" sz="67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cut its 2026 wireless target from 3M to 1M</a:t>
            </a:r>
            <a:pPr indent="0" marL="0">
              <a:spcAft>
                <a:spcPts val="200"/>
              </a:spcAft>
              <a:buNone/>
            </a:pPr>
            <a:r>
              <a:rPr lang="en-US" sz="6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moved up-market (</a:t>
            </a:r>
            <a:pPr indent="0" marL="0">
              <a:spcAft>
                <a:spcPts val="200"/>
              </a:spcAft>
              <a:buNone/>
            </a:pPr>
            <a:r>
              <a:rPr lang="en-US" sz="67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500 Mbps for Rp168k, 2 Gbps for Rp250k</a:t>
            </a:r>
            <a:pPr indent="0" marL="0">
              <a:spcAft>
                <a:spcPts val="200"/>
              </a:spcAft>
              <a:buNone/>
            </a:pPr>
            <a:r>
              <a:rPr lang="en-US" sz="6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so the low-price threat is fiber more than wireless.</a:t>
            </a:r>
            <a:endParaRPr lang="en-US" sz="67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7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Quality front (Rp345–482k):</a:t>
            </a:r>
            <a:pPr indent="0" marL="0">
              <a:spcAft>
                <a:spcPts val="200"/>
              </a:spcAft>
              <a:buNone/>
            </a:pPr>
            <a:r>
              <a:rPr lang="en-US" sz="6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XL SATU, Indosat HiFi, Biznet, Oxygen.id win measured experience in their strongholds. IndiHome sits in between, with </a:t>
            </a:r>
            <a:pPr indent="0" marL="0">
              <a:spcAft>
                <a:spcPts val="200"/>
              </a:spcAft>
              <a:buNone/>
            </a:pPr>
            <a:r>
              <a:rPr lang="en-US" sz="67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</a:t>
            </a:r>
            <a:pPr indent="0" marL="0">
              <a:spcAft>
                <a:spcPts val="200"/>
              </a:spcAft>
              <a:buNone/>
            </a:pPr>
            <a:r>
              <a:rPr lang="en-US" sz="6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as its distinct ground.</a:t>
            </a:r>
            <a:endParaRPr lang="en-US" sz="670" dirty="0"/>
          </a:p>
        </p:txBody>
      </p:sp>
      <p:sp>
        <p:nvSpPr>
          <p:cNvPr id="34" name="zone badge 2"/>
          <p:cNvSpPr/>
          <p:nvPr/>
        </p:nvSpPr>
        <p:spPr>
          <a:xfrm>
            <a:off x="4389120" y="868680"/>
            <a:ext cx="274320" cy="274320"/>
          </a:xfrm>
          <a:prstGeom prst="ellipse">
            <a:avLst/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5" name="Text 32"/>
          <p:cNvSpPr txBox="1"/>
          <p:nvPr/>
        </p:nvSpPr>
        <p:spPr>
          <a:xfrm>
            <a:off x="4389120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736592" y="850392"/>
            <a:ext cx="4133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experience in cities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(Opensignal, urban view) </a:t>
            </a:r>
            <a:pPr indent="0" marL="0">
              <a:buNone/>
            </a:pPr>
            <a:r>
              <a:rPr lang="en-US" sz="80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endParaRPr lang="en-US" sz="800" dirty="0"/>
          </a:p>
        </p:txBody>
      </p:sp>
      <p:sp>
        <p:nvSpPr>
          <p:cNvPr id="37" name="zone rule 2"/>
          <p:cNvSpPr/>
          <p:nvPr/>
        </p:nvSpPr>
        <p:spPr>
          <a:xfrm>
            <a:off x="4736592" y="1197864"/>
            <a:ext cx="4133088" cy="0"/>
          </a:xfrm>
          <a:prstGeom prst="line">
            <a:avLst/>
          </a:prstGeom>
          <a:noFill/>
          <a:ln w="15875">
            <a:solidFill>
              <a:srgbClr val="A5002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434840" y="12801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Metric</a:t>
            </a:r>
            <a:endParaRPr lang="en-US" sz="650" dirty="0"/>
          </a:p>
        </p:txBody>
      </p:sp>
      <p:sp>
        <p:nvSpPr>
          <p:cNvPr id="39" name="Text 36"/>
          <p:cNvSpPr txBox="1"/>
          <p:nvPr/>
        </p:nvSpPr>
        <p:spPr>
          <a:xfrm>
            <a:off x="5577840" y="12801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</a:t>
            </a:r>
            <a:endParaRPr lang="en-US" sz="650" dirty="0"/>
          </a:p>
        </p:txBody>
      </p:sp>
      <p:sp>
        <p:nvSpPr>
          <p:cNvPr id="40" name="Text 37"/>
          <p:cNvSpPr txBox="1"/>
          <p:nvPr/>
        </p:nvSpPr>
        <p:spPr>
          <a:xfrm>
            <a:off x="6355080" y="1280160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 of 8 ISPs</a:t>
            </a:r>
            <a:pPr indent="0" marL="0">
              <a:buNone/>
            </a:pPr>
            <a:r>
              <a:rPr lang="en-US" sz="6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(1 = best)</a:t>
            </a:r>
            <a:endParaRPr lang="en-US" sz="650" dirty="0"/>
          </a:p>
        </p:txBody>
      </p:sp>
      <p:sp>
        <p:nvSpPr>
          <p:cNvPr id="41" name="Text 38"/>
          <p:cNvSpPr txBox="1"/>
          <p:nvPr/>
        </p:nvSpPr>
        <p:spPr>
          <a:xfrm>
            <a:off x="8092440" y="1280160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leader</a:t>
            </a:r>
            <a:endParaRPr lang="en-US" sz="650" dirty="0"/>
          </a:p>
        </p:txBody>
      </p:sp>
      <p:sp>
        <p:nvSpPr>
          <p:cNvPr id="42" name="exp row"/>
          <p:cNvSpPr/>
          <p:nvPr/>
        </p:nvSpPr>
        <p:spPr>
          <a:xfrm>
            <a:off x="4389120" y="1481328"/>
            <a:ext cx="4480560" cy="274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4462272" y="14813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speed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5577840" y="14813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26.4 Mbps</a:t>
            </a:r>
            <a:endParaRPr lang="en-US" sz="700" dirty="0"/>
          </a:p>
        </p:txBody>
      </p:sp>
      <p:sp>
        <p:nvSpPr>
          <p:cNvPr id="45" name="rank dot"/>
          <p:cNvSpPr/>
          <p:nvPr/>
        </p:nvSpPr>
        <p:spPr>
          <a:xfrm>
            <a:off x="6373368" y="1545336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6" name="rank dot"/>
          <p:cNvSpPr/>
          <p:nvPr/>
        </p:nvSpPr>
        <p:spPr>
          <a:xfrm>
            <a:off x="6574536" y="1545336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7" name="rank dot"/>
          <p:cNvSpPr/>
          <p:nvPr/>
        </p:nvSpPr>
        <p:spPr>
          <a:xfrm>
            <a:off x="6775704" y="1545336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8" name="rank dot"/>
          <p:cNvSpPr/>
          <p:nvPr/>
        </p:nvSpPr>
        <p:spPr>
          <a:xfrm>
            <a:off x="6976872" y="1545336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9" name="rank dot"/>
          <p:cNvSpPr/>
          <p:nvPr/>
        </p:nvSpPr>
        <p:spPr>
          <a:xfrm>
            <a:off x="7178040" y="1545336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0" name="rank dot"/>
          <p:cNvSpPr/>
          <p:nvPr/>
        </p:nvSpPr>
        <p:spPr>
          <a:xfrm>
            <a:off x="7379208" y="1545336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1" name="rank dot"/>
          <p:cNvSpPr/>
          <p:nvPr/>
        </p:nvSpPr>
        <p:spPr>
          <a:xfrm>
            <a:off x="7580376" y="1545336"/>
            <a:ext cx="146304" cy="146304"/>
          </a:xfrm>
          <a:prstGeom prst="ellipse">
            <a:avLst/>
          </a:prstGeom>
          <a:solidFill>
            <a:srgbClr val="E4002B"/>
          </a:solidFill>
          <a:ln w="9525">
            <a:solidFill>
              <a:srgbClr val="E4002B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580376" y="154533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600" dirty="0"/>
          </a:p>
        </p:txBody>
      </p:sp>
      <p:sp>
        <p:nvSpPr>
          <p:cNvPr id="53" name="rank dot"/>
          <p:cNvSpPr/>
          <p:nvPr/>
        </p:nvSpPr>
        <p:spPr>
          <a:xfrm>
            <a:off x="7781544" y="1545336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8092440" y="1481328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−35.3%</a:t>
            </a:r>
            <a:endParaRPr lang="en-US" sz="750" dirty="0"/>
          </a:p>
        </p:txBody>
      </p:sp>
      <p:sp>
        <p:nvSpPr>
          <p:cNvPr id="55" name="exp row"/>
          <p:cNvSpPr/>
          <p:nvPr/>
        </p:nvSpPr>
        <p:spPr>
          <a:xfrm>
            <a:off x="4389120" y="1810512"/>
            <a:ext cx="448056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4462272" y="181051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speed</a:t>
            </a:r>
            <a:endParaRPr lang="en-US" sz="700" dirty="0"/>
          </a:p>
        </p:txBody>
      </p:sp>
      <p:sp>
        <p:nvSpPr>
          <p:cNvPr id="57" name="Text 54"/>
          <p:cNvSpPr txBox="1"/>
          <p:nvPr/>
        </p:nvSpPr>
        <p:spPr>
          <a:xfrm>
            <a:off x="5577840" y="181051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13.3 Mbps</a:t>
            </a:r>
            <a:endParaRPr lang="en-US" sz="700" dirty="0"/>
          </a:p>
        </p:txBody>
      </p:sp>
      <p:sp>
        <p:nvSpPr>
          <p:cNvPr id="58" name="rank dot"/>
          <p:cNvSpPr/>
          <p:nvPr/>
        </p:nvSpPr>
        <p:spPr>
          <a:xfrm>
            <a:off x="6373368" y="1874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9" name="rank dot"/>
          <p:cNvSpPr/>
          <p:nvPr/>
        </p:nvSpPr>
        <p:spPr>
          <a:xfrm>
            <a:off x="6574536" y="1874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0" name="rank dot"/>
          <p:cNvSpPr/>
          <p:nvPr/>
        </p:nvSpPr>
        <p:spPr>
          <a:xfrm>
            <a:off x="6775704" y="1874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1" name="rank dot"/>
          <p:cNvSpPr/>
          <p:nvPr/>
        </p:nvSpPr>
        <p:spPr>
          <a:xfrm>
            <a:off x="6976872" y="1874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2" name="rank dot"/>
          <p:cNvSpPr/>
          <p:nvPr/>
        </p:nvSpPr>
        <p:spPr>
          <a:xfrm>
            <a:off x="7178040" y="1874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3" name="rank dot"/>
          <p:cNvSpPr/>
          <p:nvPr/>
        </p:nvSpPr>
        <p:spPr>
          <a:xfrm>
            <a:off x="7379208" y="1874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4" name="rank dot"/>
          <p:cNvSpPr/>
          <p:nvPr/>
        </p:nvSpPr>
        <p:spPr>
          <a:xfrm>
            <a:off x="7580376" y="1874520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5" name="rank dot"/>
          <p:cNvSpPr/>
          <p:nvPr/>
        </p:nvSpPr>
        <p:spPr>
          <a:xfrm>
            <a:off x="7781544" y="1874520"/>
            <a:ext cx="146304" cy="146304"/>
          </a:xfrm>
          <a:prstGeom prst="ellipse">
            <a:avLst/>
          </a:prstGeom>
          <a:solidFill>
            <a:srgbClr val="E4002B"/>
          </a:solidFill>
          <a:ln w="9525">
            <a:solidFill>
              <a:srgbClr val="E4002B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7781544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600" dirty="0"/>
          </a:p>
        </p:txBody>
      </p:sp>
      <p:sp>
        <p:nvSpPr>
          <p:cNvPr id="67" name="Text 64"/>
          <p:cNvSpPr txBox="1"/>
          <p:nvPr/>
        </p:nvSpPr>
        <p:spPr>
          <a:xfrm>
            <a:off x="8092440" y="18105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−56.4%</a:t>
            </a:r>
            <a:endParaRPr lang="en-US" sz="750" dirty="0"/>
          </a:p>
        </p:txBody>
      </p:sp>
      <p:sp>
        <p:nvSpPr>
          <p:cNvPr id="68" name="exp row"/>
          <p:cNvSpPr/>
          <p:nvPr/>
        </p:nvSpPr>
        <p:spPr>
          <a:xfrm>
            <a:off x="4389120" y="2139696"/>
            <a:ext cx="4480560" cy="274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4462272" y="213969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 quality</a:t>
            </a:r>
            <a:endParaRPr lang="en-US" sz="700" dirty="0"/>
          </a:p>
        </p:txBody>
      </p:sp>
      <p:sp>
        <p:nvSpPr>
          <p:cNvPr id="70" name="Text 67"/>
          <p:cNvSpPr txBox="1"/>
          <p:nvPr/>
        </p:nvSpPr>
        <p:spPr>
          <a:xfrm>
            <a:off x="5577840" y="213969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58.8%</a:t>
            </a:r>
            <a:endParaRPr lang="en-US" sz="700" dirty="0"/>
          </a:p>
        </p:txBody>
      </p:sp>
      <p:sp>
        <p:nvSpPr>
          <p:cNvPr id="71" name="rank dot"/>
          <p:cNvSpPr/>
          <p:nvPr/>
        </p:nvSpPr>
        <p:spPr>
          <a:xfrm>
            <a:off x="6373368" y="2203704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2" name="rank dot"/>
          <p:cNvSpPr/>
          <p:nvPr/>
        </p:nvSpPr>
        <p:spPr>
          <a:xfrm>
            <a:off x="6574536" y="2203704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3" name="rank dot"/>
          <p:cNvSpPr/>
          <p:nvPr/>
        </p:nvSpPr>
        <p:spPr>
          <a:xfrm>
            <a:off x="6775704" y="2203704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4" name="rank dot"/>
          <p:cNvSpPr/>
          <p:nvPr/>
        </p:nvSpPr>
        <p:spPr>
          <a:xfrm>
            <a:off x="6976872" y="2203704"/>
            <a:ext cx="146304" cy="146304"/>
          </a:xfrm>
          <a:prstGeom prst="ellipse">
            <a:avLst/>
          </a:prstGeom>
          <a:solidFill>
            <a:srgbClr val="E4002B"/>
          </a:solidFill>
          <a:ln w="9525">
            <a:solidFill>
              <a:srgbClr val="E4002B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6976872" y="220370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600" dirty="0"/>
          </a:p>
        </p:txBody>
      </p:sp>
      <p:sp>
        <p:nvSpPr>
          <p:cNvPr id="76" name="rank dot"/>
          <p:cNvSpPr/>
          <p:nvPr/>
        </p:nvSpPr>
        <p:spPr>
          <a:xfrm>
            <a:off x="7178040" y="2203704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7" name="rank dot"/>
          <p:cNvSpPr/>
          <p:nvPr/>
        </p:nvSpPr>
        <p:spPr>
          <a:xfrm>
            <a:off x="7379208" y="2203704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8" name="rank dot"/>
          <p:cNvSpPr/>
          <p:nvPr/>
        </p:nvSpPr>
        <p:spPr>
          <a:xfrm>
            <a:off x="7580376" y="2203704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9" name="rank dot"/>
          <p:cNvSpPr/>
          <p:nvPr/>
        </p:nvSpPr>
        <p:spPr>
          <a:xfrm>
            <a:off x="7781544" y="2203704"/>
            <a:ext cx="146304" cy="146304"/>
          </a:xfrm>
          <a:prstGeom prst="ellipse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8092440" y="2139696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−15.9%</a:t>
            </a:r>
            <a:endParaRPr lang="en-US" sz="750" dirty="0"/>
          </a:p>
        </p:txBody>
      </p:sp>
      <p:sp>
        <p:nvSpPr>
          <p:cNvPr id="81" name="slot 0"/>
          <p:cNvSpPr/>
          <p:nvPr/>
        </p:nvSpPr>
        <p:spPr>
          <a:xfrm>
            <a:off x="4389120" y="2542032"/>
            <a:ext cx="1444752" cy="502920"/>
          </a:xfrm>
          <a:prstGeom prst="roundRect">
            <a:avLst>
              <a:gd name="adj" fmla="val 9091"/>
            </a:avLst>
          </a:prstGeom>
          <a:solidFill>
            <a:srgbClr val="E4002B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4443984" y="254203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of 50</a:t>
            </a:r>
            <a:endParaRPr lang="en-US" sz="950" dirty="0"/>
          </a:p>
        </p:txBody>
      </p:sp>
      <p:sp>
        <p:nvSpPr>
          <p:cNvPr id="83" name="Text 80"/>
          <p:cNvSpPr txBox="1"/>
          <p:nvPr/>
        </p:nvSpPr>
        <p:spPr>
          <a:xfrm>
            <a:off x="4992624" y="254203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urban award slots outside Maluku–Papua</a:t>
            </a:r>
            <a:endParaRPr lang="en-US" sz="600" dirty="0"/>
          </a:p>
        </p:txBody>
      </p:sp>
      <p:sp>
        <p:nvSpPr>
          <p:cNvPr id="84" name="slot 1"/>
          <p:cNvSpPr/>
          <p:nvPr/>
        </p:nvSpPr>
        <p:spPr>
          <a:xfrm>
            <a:off x="5907024" y="2542032"/>
            <a:ext cx="1444752" cy="502920"/>
          </a:xfrm>
          <a:prstGeom prst="roundRect">
            <a:avLst>
              <a:gd name="adj" fmla="val 9091"/>
            </a:avLst>
          </a:prstGeom>
          <a:solidFill>
            <a:srgbClr val="A50021"/>
          </a:solidFill>
          <a:ln/>
        </p:spPr>
      </p:sp>
      <p:sp>
        <p:nvSpPr>
          <p:cNvPr id="85" name="Text 82"/>
          <p:cNvSpPr txBox="1"/>
          <p:nvPr/>
        </p:nvSpPr>
        <p:spPr>
          <a:xfrm>
            <a:off x="5961888" y="254203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of 45</a:t>
            </a:r>
            <a:endParaRPr lang="en-US" sz="950" dirty="0"/>
          </a:p>
        </p:txBody>
      </p:sp>
      <p:sp>
        <p:nvSpPr>
          <p:cNvPr id="86" name="Text 83"/>
          <p:cNvSpPr txBox="1"/>
          <p:nvPr/>
        </p:nvSpPr>
        <p:spPr>
          <a:xfrm>
            <a:off x="6510528" y="254203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rural award slots outside Maluku–Papua</a:t>
            </a:r>
            <a:endParaRPr lang="en-US" sz="600" dirty="0"/>
          </a:p>
        </p:txBody>
      </p:sp>
      <p:sp>
        <p:nvSpPr>
          <p:cNvPr id="87" name="slot 2"/>
          <p:cNvSpPr/>
          <p:nvPr/>
        </p:nvSpPr>
        <p:spPr>
          <a:xfrm>
            <a:off x="7424928" y="2542032"/>
            <a:ext cx="1444752" cy="502920"/>
          </a:xfrm>
          <a:prstGeom prst="roundRect">
            <a:avLst>
              <a:gd name="adj" fmla="val 9091"/>
            </a:avLst>
          </a:prstGeom>
          <a:solidFill>
            <a:srgbClr val="1F2937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7479792" y="2542032"/>
            <a:ext cx="5669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of 30</a:t>
            </a:r>
            <a:endParaRPr lang="en-US" sz="950" dirty="0"/>
          </a:p>
        </p:txBody>
      </p:sp>
      <p:sp>
        <p:nvSpPr>
          <p:cNvPr id="89" name="Text 86"/>
          <p:cNvSpPr txBox="1"/>
          <p:nvPr/>
        </p:nvSpPr>
        <p:spPr>
          <a:xfrm>
            <a:off x="8028432" y="2542032"/>
            <a:ext cx="804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award slots in Maluku–Papua: the only scale ISP</a:t>
            </a:r>
            <a:endParaRPr lang="en-US" sz="600" dirty="0"/>
          </a:p>
        </p:txBody>
      </p:sp>
      <p:sp>
        <p:nvSpPr>
          <p:cNvPr id="90" name="zone badge 3"/>
          <p:cNvSpPr/>
          <p:nvPr/>
        </p:nvSpPr>
        <p:spPr>
          <a:xfrm>
            <a:off x="4389120" y="3182112"/>
            <a:ext cx="274320" cy="274320"/>
          </a:xfrm>
          <a:prstGeom prst="ellipse">
            <a:avLst/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91" name="Text 88"/>
          <p:cNvSpPr txBox="1"/>
          <p:nvPr/>
        </p:nvSpPr>
        <p:spPr>
          <a:xfrm>
            <a:off x="4389120" y="3182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92" name="Text 89"/>
          <p:cNvSpPr txBox="1"/>
          <p:nvPr/>
        </p:nvSpPr>
        <p:spPr>
          <a:xfrm>
            <a:off x="4736592" y="3163824"/>
            <a:ext cx="41330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Could something else explain it?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Four of eleven rival explanations</a:t>
            </a:r>
            <a:endParaRPr lang="en-US" sz="800" dirty="0"/>
          </a:p>
        </p:txBody>
      </p:sp>
      <p:sp>
        <p:nvSpPr>
          <p:cNvPr id="93" name="zone rule 3"/>
          <p:cNvSpPr/>
          <p:nvPr/>
        </p:nvSpPr>
        <p:spPr>
          <a:xfrm>
            <a:off x="4736592" y="3511296"/>
            <a:ext cx="4133088" cy="0"/>
          </a:xfrm>
          <a:prstGeom prst="line">
            <a:avLst/>
          </a:prstGeom>
          <a:noFill/>
          <a:ln w="15875">
            <a:solidFill>
              <a:srgbClr val="A50021"/>
            </a:solidFill>
            <a:prstDash val="solid"/>
          </a:ln>
        </p:spPr>
      </p:sp>
      <p:sp>
        <p:nvSpPr>
          <p:cNvPr id="94" name="pill Macro squeeze"/>
          <p:cNvSpPr/>
          <p:nvPr/>
        </p:nvSpPr>
        <p:spPr>
          <a:xfrm>
            <a:off x="4389120" y="3584448"/>
            <a:ext cx="1417320" cy="228600"/>
          </a:xfrm>
          <a:prstGeom prst="roundRect">
            <a:avLst>
              <a:gd name="adj" fmla="val 48000"/>
            </a:avLst>
          </a:prstGeom>
          <a:solidFill>
            <a:srgbClr val="1F2937"/>
          </a:solidFill>
          <a:ln/>
        </p:spPr>
      </p:sp>
      <p:sp>
        <p:nvSpPr>
          <p:cNvPr id="95" name="Text 92"/>
          <p:cNvSpPr txBox="1"/>
          <p:nvPr/>
        </p:nvSpPr>
        <p:spPr>
          <a:xfrm>
            <a:off x="4425696" y="3584448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Macro squeeze</a:t>
            </a:r>
            <a:endParaRPr lang="en-US" sz="630" dirty="0"/>
          </a:p>
        </p:txBody>
      </p:sp>
      <p:sp>
        <p:nvSpPr>
          <p:cNvPr id="96" name="Text 93"/>
          <p:cNvSpPr txBox="1"/>
          <p:nvPr/>
        </p:nvSpPr>
        <p:spPr>
          <a:xfrm>
            <a:off x="5870448" y="3584448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not explain 2026: mobile revenue </a:t>
            </a:r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+5.6%</a:t>
            </a:r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while household revenue fell </a:t>
            </a:r>
            <a:pPr indent="0" marL="0">
              <a:buNone/>
            </a:pPr>
            <a:r>
              <a:rPr lang="en-US" sz="64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endParaRPr lang="en-US" sz="640" dirty="0"/>
          </a:p>
        </p:txBody>
      </p:sp>
      <p:sp>
        <p:nvSpPr>
          <p:cNvPr id="97" name="pill Bundle revenue allocation"/>
          <p:cNvSpPr/>
          <p:nvPr/>
        </p:nvSpPr>
        <p:spPr>
          <a:xfrm>
            <a:off x="4389120" y="3849624"/>
            <a:ext cx="1417320" cy="228600"/>
          </a:xfrm>
          <a:prstGeom prst="roundRect">
            <a:avLst>
              <a:gd name="adj" fmla="val 48000"/>
            </a:avLst>
          </a:prstGeom>
          <a:solidFill>
            <a:srgbClr val="94A3B8"/>
          </a:solidFill>
          <a:ln/>
        </p:spPr>
      </p:sp>
      <p:sp>
        <p:nvSpPr>
          <p:cNvPr id="98" name="Text 95"/>
          <p:cNvSpPr txBox="1"/>
          <p:nvPr/>
        </p:nvSpPr>
        <p:spPr>
          <a:xfrm>
            <a:off x="4425696" y="3849624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Bundle revenue allocation</a:t>
            </a:r>
            <a:endParaRPr lang="en-US" sz="630" dirty="0"/>
          </a:p>
        </p:txBody>
      </p:sp>
      <p:sp>
        <p:nvSpPr>
          <p:cNvPr id="99" name="Text 96"/>
          <p:cNvSpPr txBox="1"/>
          <p:nvPr/>
        </p:nvSpPr>
        <p:spPr>
          <a:xfrm>
            <a:off x="5870448" y="3849624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be tested with public data</a:t>
            </a:r>
            <a:endParaRPr lang="en-US" sz="640" dirty="0"/>
          </a:p>
        </p:txBody>
      </p:sp>
      <p:sp>
        <p:nvSpPr>
          <p:cNvPr id="100" name="pill Convergence follows engagement"/>
          <p:cNvSpPr/>
          <p:nvPr/>
        </p:nvSpPr>
        <p:spPr>
          <a:xfrm>
            <a:off x="4389120" y="4114800"/>
            <a:ext cx="1417320" cy="228600"/>
          </a:xfrm>
          <a:prstGeom prst="roundRect">
            <a:avLst>
              <a:gd name="adj" fmla="val 48000"/>
            </a:avLst>
          </a:prstGeom>
          <a:solidFill>
            <a:srgbClr val="94A3B8"/>
          </a:solidFill>
          <a:ln/>
        </p:spPr>
      </p:sp>
      <p:sp>
        <p:nvSpPr>
          <p:cNvPr id="101" name="Text 98"/>
          <p:cNvSpPr txBox="1"/>
          <p:nvPr/>
        </p:nvSpPr>
        <p:spPr>
          <a:xfrm>
            <a:off x="4425696" y="4114800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Convergence follows engagement</a:t>
            </a:r>
            <a:endParaRPr lang="en-US" sz="630" dirty="0"/>
          </a:p>
        </p:txBody>
      </p:sp>
      <p:sp>
        <p:nvSpPr>
          <p:cNvPr id="102" name="Text 99"/>
          <p:cNvSpPr txBox="1"/>
          <p:nvPr/>
        </p:nvSpPr>
        <p:spPr>
          <a:xfrm>
            <a:off x="5870448" y="4114800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be ruled out, so the acquisition-channel driver </a:t>
            </a:r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stays a hypothesis</a:t>
            </a:r>
            <a:endParaRPr lang="en-US" sz="640" dirty="0"/>
          </a:p>
        </p:txBody>
      </p:sp>
      <p:sp>
        <p:nvSpPr>
          <p:cNvPr id="103" name="pill Shift to single-play"/>
          <p:cNvSpPr/>
          <p:nvPr/>
        </p:nvSpPr>
        <p:spPr>
          <a:xfrm>
            <a:off x="4389120" y="4379976"/>
            <a:ext cx="1417320" cy="228600"/>
          </a:xfrm>
          <a:prstGeom prst="roundRect">
            <a:avLst>
              <a:gd name="adj" fmla="val 48000"/>
            </a:avLst>
          </a:prstGeom>
          <a:solidFill>
            <a:srgbClr val="A50021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4425696" y="4379976"/>
            <a:ext cx="1344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Shift to single-play</a:t>
            </a:r>
            <a:endParaRPr lang="en-US" sz="630" dirty="0"/>
          </a:p>
        </p:txBody>
      </p:sp>
      <p:sp>
        <p:nvSpPr>
          <p:cNvPr id="105" name="Text 102"/>
          <p:cNvSpPr txBox="1"/>
          <p:nvPr/>
        </p:nvSpPr>
        <p:spPr>
          <a:xfrm>
            <a:off x="5870448" y="4379976"/>
            <a:ext cx="2999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Partly true, a mechanism </a:t>
            </a:r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inside spend</a:t>
            </a:r>
            <a:endParaRPr lang="en-US" sz="640" dirty="0"/>
          </a:p>
        </p:txBody>
      </p:sp>
      <p:sp>
        <p:nvSpPr>
          <p:cNvPr id="106" name="Text 103"/>
          <p:cNvSpPr txBox="1"/>
          <p:nvPr/>
        </p:nvSpPr>
        <p:spPr>
          <a:xfrm>
            <a:off x="4389120" y="4645152"/>
            <a:ext cx="4480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11 explanations are tested in Appendix 5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Analysis: Households and Portfolio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Households and portfolio: Orbit is Telkomsel's cheapest home option only up to about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125 GB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month, yet no product page routes a family to it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188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Telkomsel website and app (10 Oct 2026) ·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Rival price pages: Starlite, Internet Rakyat (Bisnis, Kontan) ·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Telkom 1H26 Info Memo (data yield) ·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Netflix Help Center · Appendix 9, 11, 13</a:t>
            </a:r>
            <a:endParaRPr lang="en-US" sz="6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6053328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665976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7278624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7891272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</a:t>
            </a:r>
            <a:endParaRPr lang="en-US" sz="650" dirty="0"/>
          </a:p>
        </p:txBody>
      </p:sp>
      <p:sp>
        <p:nvSpPr>
          <p:cNvPr id="13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900" dirty="0"/>
          </a:p>
        </p:txBody>
      </p:sp>
      <p:sp>
        <p:nvSpPr>
          <p:cNvPr id="15" name="zone badge 1"/>
          <p:cNvSpPr/>
          <p:nvPr/>
        </p:nvSpPr>
        <p:spPr>
          <a:xfrm>
            <a:off x="274320" y="868680"/>
            <a:ext cx="274320" cy="274320"/>
          </a:xfrm>
          <a:prstGeom prst="ellipse">
            <a:avLst/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74320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" y="850392"/>
            <a:ext cx="4773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each option costs a household a month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by monthly use (Rp k) </a:t>
            </a:r>
            <a:pPr indent="0" marL="0">
              <a:buNone/>
            </a:pPr>
            <a:r>
              <a:rPr lang="en-US" sz="80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pPr indent="0" marL="0">
              <a:buNone/>
            </a:pPr>
            <a:r>
              <a:rPr lang="en-US" sz="80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endParaRPr lang="en-US" sz="800" dirty="0"/>
          </a:p>
        </p:txBody>
      </p:sp>
      <p:sp>
        <p:nvSpPr>
          <p:cNvPr id="18" name="zone rule 1"/>
          <p:cNvSpPr/>
          <p:nvPr/>
        </p:nvSpPr>
        <p:spPr>
          <a:xfrm>
            <a:off x="621792" y="1197864"/>
            <a:ext cx="4773168" cy="0"/>
          </a:xfrm>
          <a:prstGeom prst="line">
            <a:avLst/>
          </a:prstGeom>
          <a:noFill/>
          <a:ln w="15875">
            <a:solidFill>
              <a:srgbClr val="A50021"/>
            </a:solidFill>
            <a:prstDash val="solid"/>
          </a:ln>
        </p:spPr>
      </p:sp>
      <p:graphicFrame>
        <p:nvGraphicFramePr>
          <p:cNvPr id="19" name="Chart 0" descr=""/>
          <p:cNvGraphicFramePr/>
          <p:nvPr/>
        </p:nvGraphicFramePr>
        <p:xfrm>
          <a:off x="228600" y="1243584"/>
          <a:ext cx="521208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0" name="mark 1"/>
          <p:cNvSpPr/>
          <p:nvPr/>
        </p:nvSpPr>
        <p:spPr>
          <a:xfrm>
            <a:off x="274320" y="3346704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21" name="mark dot"/>
          <p:cNvSpPr/>
          <p:nvPr/>
        </p:nvSpPr>
        <p:spPr>
          <a:xfrm>
            <a:off x="320040" y="3429000"/>
            <a:ext cx="201168" cy="20116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320040" y="3429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700" dirty="0"/>
          </a:p>
        </p:txBody>
      </p:sp>
      <p:sp>
        <p:nvSpPr>
          <p:cNvPr id="23" name="Text 19"/>
          <p:cNvSpPr txBox="1"/>
          <p:nvPr/>
        </p:nvSpPr>
        <p:spPr>
          <a:xfrm>
            <a:off x="557784" y="334670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 costs more than </a:t>
            </a:r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EZnet</a:t>
            </a:r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above </a:t>
            </a:r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95–125 GB</a:t>
            </a:r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month</a:t>
            </a:r>
            <a:endParaRPr lang="en-US" sz="640" dirty="0"/>
          </a:p>
        </p:txBody>
      </p:sp>
      <p:sp>
        <p:nvSpPr>
          <p:cNvPr id="24" name="mark 2"/>
          <p:cNvSpPr/>
          <p:nvPr/>
        </p:nvSpPr>
        <p:spPr>
          <a:xfrm>
            <a:off x="1993392" y="3346704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25" name="mark dot"/>
          <p:cNvSpPr/>
          <p:nvPr/>
        </p:nvSpPr>
        <p:spPr>
          <a:xfrm>
            <a:off x="2039112" y="3429000"/>
            <a:ext cx="201168" cy="20116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2039112" y="3429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700" dirty="0"/>
          </a:p>
        </p:txBody>
      </p:sp>
      <p:sp>
        <p:nvSpPr>
          <p:cNvPr id="27" name="Text 23"/>
          <p:cNvSpPr txBox="1"/>
          <p:nvPr/>
        </p:nvSpPr>
        <p:spPr>
          <a:xfrm>
            <a:off x="2276856" y="334670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 costs more than </a:t>
            </a:r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</a:t>
            </a:r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above </a:t>
            </a:r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~155 GB</a:t>
            </a:r>
            <a:endParaRPr lang="en-US" sz="640" dirty="0"/>
          </a:p>
        </p:txBody>
      </p:sp>
      <p:sp>
        <p:nvSpPr>
          <p:cNvPr id="28" name="mark 3"/>
          <p:cNvSpPr/>
          <p:nvPr/>
        </p:nvSpPr>
        <p:spPr>
          <a:xfrm>
            <a:off x="3712464" y="3346704"/>
            <a:ext cx="164592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29" name="mark dot"/>
          <p:cNvSpPr/>
          <p:nvPr/>
        </p:nvSpPr>
        <p:spPr>
          <a:xfrm>
            <a:off x="3758184" y="3429000"/>
            <a:ext cx="201168" cy="20116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3758184" y="3429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700" dirty="0"/>
          </a:p>
        </p:txBody>
      </p:sp>
      <p:sp>
        <p:nvSpPr>
          <p:cNvPr id="31" name="Text 27"/>
          <p:cNvSpPr txBox="1"/>
          <p:nvPr/>
        </p:nvSpPr>
        <p:spPr>
          <a:xfrm>
            <a:off x="3995928" y="3346704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 450 GB Orbit costs </a:t>
            </a:r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Rp642k, 2.7× IndiHome</a:t>
            </a:r>
            <a:endParaRPr lang="en-US" sz="640" dirty="0"/>
          </a:p>
        </p:txBody>
      </p:sp>
      <p:sp>
        <p:nvSpPr>
          <p:cNvPr id="32" name="Text 28"/>
          <p:cNvSpPr txBox="1"/>
          <p:nvPr/>
        </p:nvSpPr>
        <p:spPr>
          <a:xfrm>
            <a:off x="274320" y="3767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data alone costs </a:t>
            </a:r>
            <a:pPr indent="0" marL="0">
              <a:buNone/>
            </a:pPr>
            <a:r>
              <a:rPr lang="en-US" sz="620" b="1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Rp78k at 25 GB</a:t>
            </a:r>
            <a:pPr indent="0" marL="0">
              <a:buNone/>
            </a:pPr>
            <a:r>
              <a:rPr lang="en-US" sz="62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</a:t>
            </a:r>
            <a:pPr indent="0" marL="0">
              <a:buNone/>
            </a:pPr>
            <a:r>
              <a:rPr lang="en-US" sz="620" b="1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Rp465k at 150 GB</a:t>
            </a:r>
            <a:pPr indent="0" marL="0">
              <a:buNone/>
            </a:pPr>
            <a:r>
              <a:rPr lang="en-US" sz="62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 Telkomsel's average yield, so a home line pays from ~25–35 GB </a:t>
            </a:r>
            <a:pPr indent="0" marL="0">
              <a:buNone/>
            </a:pPr>
            <a:r>
              <a:rPr lang="en-US" sz="62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pPr indent="0" marL="0">
              <a:buNone/>
            </a:pPr>
            <a:r>
              <a:rPr lang="en-US" sz="62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EZnet Wireless slows to 5 Mbps above 350 GB.</a:t>
            </a:r>
            <a:endParaRPr lang="en-US" sz="620" dirty="0"/>
          </a:p>
        </p:txBody>
      </p:sp>
      <p:sp>
        <p:nvSpPr>
          <p:cNvPr id="33" name="zone badge 2"/>
          <p:cNvSpPr/>
          <p:nvPr/>
        </p:nvSpPr>
        <p:spPr>
          <a:xfrm>
            <a:off x="5577840" y="868680"/>
            <a:ext cx="274320" cy="274320"/>
          </a:xfrm>
          <a:prstGeom prst="ellipse">
            <a:avLst/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4" name="Text 30"/>
          <p:cNvSpPr txBox="1"/>
          <p:nvPr/>
        </p:nvSpPr>
        <p:spPr>
          <a:xfrm>
            <a:off x="5577840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1"/>
          <p:cNvSpPr txBox="1"/>
          <p:nvPr/>
        </p:nvSpPr>
        <p:spPr>
          <a:xfrm>
            <a:off x="5925312" y="85039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family that matters most</a:t>
            </a:r>
            <a:endParaRPr lang="en-US" sz="800" dirty="0"/>
          </a:p>
        </p:txBody>
      </p:sp>
      <p:sp>
        <p:nvSpPr>
          <p:cNvPr id="36" name="zone rule 2"/>
          <p:cNvSpPr/>
          <p:nvPr/>
        </p:nvSpPr>
        <p:spPr>
          <a:xfrm>
            <a:off x="5925312" y="1197864"/>
            <a:ext cx="2944368" cy="0"/>
          </a:xfrm>
          <a:prstGeom prst="line">
            <a:avLst/>
          </a:prstGeom>
          <a:noFill/>
          <a:ln w="15875">
            <a:solidFill>
              <a:srgbClr val="A50021"/>
            </a:solidFill>
            <a:prstDash val="solid"/>
          </a:ln>
        </p:spPr>
      </p:sp>
      <p:sp>
        <p:nvSpPr>
          <p:cNvPr id="37" name="family use"/>
          <p:cNvSpPr/>
          <p:nvPr/>
        </p:nvSpPr>
        <p:spPr>
          <a:xfrm>
            <a:off x="5577840" y="1280160"/>
            <a:ext cx="329184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5669280" y="132588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≈110–255 GB</a:t>
            </a:r>
            <a:endParaRPr lang="en-US" sz="1300" dirty="0"/>
          </a:p>
        </p:txBody>
      </p:sp>
      <p:sp>
        <p:nvSpPr>
          <p:cNvPr id="39" name="Text 35"/>
          <p:cNvSpPr txBox="1"/>
          <p:nvPr/>
        </p:nvSpPr>
        <p:spPr>
          <a:xfrm>
            <a:off x="6903720" y="13258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month for a streaming family of 4–6 on a conservative build-up </a:t>
            </a:r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pPr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pPr indent="0" marL="0">
              <a:buNone/>
            </a:pPr>
            <a:r>
              <a:rPr lang="en-US" sz="66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pPr indent="0" marL="0">
              <a:buNone/>
            </a:pPr>
            <a:r>
              <a:rPr lang="en-US" sz="66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[4]</a:t>
            </a:r>
            <a:pPr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</a:t>
            </a:r>
            <a:pPr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above Orbit's cheap zone</a:t>
            </a:r>
            <a:pPr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yet Orbit's page says it is "for everyone" </a:t>
            </a:r>
            <a:pPr indent="0" marL="0">
              <a:buNone/>
            </a:pPr>
            <a:r>
              <a:rPr lang="en-US" sz="66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endParaRPr lang="en-US" sz="660" dirty="0"/>
          </a:p>
        </p:txBody>
      </p:sp>
      <p:pic>
        <p:nvPicPr>
          <p:cNvPr id="40" name="Image 1" descr="offlo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240280"/>
            <a:ext cx="3291840" cy="1783080"/>
          </a:xfrm>
          <a:prstGeom prst="rect">
            <a:avLst/>
          </a:prstGeom>
        </p:spPr>
      </p:pic>
      <p:sp>
        <p:nvSpPr>
          <p:cNvPr id="41" name="Text 36"/>
          <p:cNvSpPr txBox="1"/>
          <p:nvPr/>
        </p:nvSpPr>
        <p:spPr>
          <a:xfrm>
            <a:off x="5687568" y="228600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Wi-Fi moves phone data off the network whoever connects the home</a:t>
            </a:r>
            <a:endParaRPr lang="en-US" sz="720" dirty="0"/>
          </a:p>
        </p:txBody>
      </p:sp>
      <p:sp>
        <p:nvSpPr>
          <p:cNvPr id="42" name="Text 37"/>
          <p:cNvSpPr txBox="1"/>
          <p:nvPr/>
        </p:nvSpPr>
        <p:spPr>
          <a:xfrm>
            <a:off x="5687568" y="265176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≈Rp117–156k</a:t>
            </a:r>
            <a:endParaRPr lang="en-US" sz="1000" dirty="0"/>
          </a:p>
        </p:txBody>
      </p:sp>
      <p:sp>
        <p:nvSpPr>
          <p:cNvPr id="43" name="Text 38"/>
          <p:cNvSpPr txBox="1"/>
          <p:nvPr/>
        </p:nvSpPr>
        <p:spPr>
          <a:xfrm>
            <a:off x="6839712" y="265176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month of phone data in a 3–4-line Telkomsel family </a:t>
            </a:r>
            <a:pPr indent="0" marL="0">
              <a:buNone/>
            </a:pPr>
            <a:r>
              <a:rPr lang="en-US" sz="6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40" dirty="0"/>
          </a:p>
        </p:txBody>
      </p:sp>
      <p:sp>
        <p:nvSpPr>
          <p:cNvPr id="44" name="Text 39"/>
          <p:cNvSpPr txBox="1"/>
          <p:nvPr/>
        </p:nvSpPr>
        <p:spPr>
          <a:xfrm>
            <a:off x="5687568" y="309067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50–70%</a:t>
            </a:r>
            <a:endParaRPr lang="en-US" sz="1000" dirty="0"/>
          </a:p>
        </p:txBody>
      </p:sp>
      <p:sp>
        <p:nvSpPr>
          <p:cNvPr id="45" name="Text 40"/>
          <p:cNvSpPr txBox="1"/>
          <p:nvPr/>
        </p:nvSpPr>
        <p:spPr>
          <a:xfrm>
            <a:off x="6839712" y="309067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it moves to home Wi-Fi once the home is connected </a:t>
            </a:r>
            <a:pPr indent="0" marL="0">
              <a:buNone/>
            </a:pPr>
            <a:r>
              <a:rPr lang="en-US" sz="6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40" dirty="0"/>
          </a:p>
        </p:txBody>
      </p:sp>
      <p:sp>
        <p:nvSpPr>
          <p:cNvPr id="46" name="Text 41"/>
          <p:cNvSpPr txBox="1"/>
          <p:nvPr/>
        </p:nvSpPr>
        <p:spPr>
          <a:xfrm>
            <a:off x="5687568" y="352958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≈Rp58–109k</a:t>
            </a:r>
            <a:endParaRPr lang="en-US" sz="1000" dirty="0"/>
          </a:p>
        </p:txBody>
      </p:sp>
      <p:sp>
        <p:nvSpPr>
          <p:cNvPr id="47" name="Text 42"/>
          <p:cNvSpPr txBox="1"/>
          <p:nvPr/>
        </p:nvSpPr>
        <p:spPr>
          <a:xfrm>
            <a:off x="6839712" y="352958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month of mobile revenue lost when a rival connects the family </a:t>
            </a:r>
            <a:pPr indent="0" marL="0">
              <a:buNone/>
            </a:pPr>
            <a:r>
              <a:rPr lang="en-US" sz="64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40" dirty="0"/>
          </a:p>
        </p:txBody>
      </p:sp>
      <p:sp>
        <p:nvSpPr>
          <p:cNvPr id="48" name="Text 43"/>
          <p:cNvSpPr txBox="1"/>
          <p:nvPr/>
        </p:nvSpPr>
        <p:spPr>
          <a:xfrm>
            <a:off x="274320" y="398678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routing check: five Telkomsel product pages, read 10 Oct 2026 </a:t>
            </a:r>
            <a:pPr indent="0" marL="0">
              <a:buNone/>
            </a:pPr>
            <a:r>
              <a:rPr lang="en-US" sz="80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endParaRPr lang="en-US" sz="800" dirty="0"/>
          </a:p>
        </p:txBody>
      </p:sp>
      <p:sp>
        <p:nvSpPr>
          <p:cNvPr id="49" name="page IndiHome"/>
          <p:cNvSpPr/>
          <p:nvPr/>
        </p:nvSpPr>
        <p:spPr>
          <a:xfrm>
            <a:off x="274320" y="4206240"/>
            <a:ext cx="166420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0" name="Text 45"/>
          <p:cNvSpPr txBox="1"/>
          <p:nvPr/>
        </p:nvSpPr>
        <p:spPr>
          <a:xfrm>
            <a:off x="347472" y="4224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</a:t>
            </a:r>
            <a:endParaRPr lang="en-US" sz="700" dirty="0"/>
          </a:p>
        </p:txBody>
      </p:sp>
      <p:sp>
        <p:nvSpPr>
          <p:cNvPr id="51" name="Text 46"/>
          <p:cNvSpPr txBox="1"/>
          <p:nvPr/>
        </p:nvSpPr>
        <p:spPr>
          <a:xfrm>
            <a:off x="347472" y="438912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no cross-product tool</a:t>
            </a:r>
            <a:endParaRPr lang="en-US" sz="580" dirty="0"/>
          </a:p>
        </p:txBody>
      </p:sp>
      <p:sp>
        <p:nvSpPr>
          <p:cNvPr id="52" name="Text 47"/>
          <p:cNvSpPr txBox="1"/>
          <p:nvPr/>
        </p:nvSpPr>
        <p:spPr>
          <a:xfrm>
            <a:off x="347472" y="4526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"Cek Jangkauan" shows IndiHome plans only</a:t>
            </a:r>
            <a:endParaRPr lang="en-US" sz="580" dirty="0"/>
          </a:p>
        </p:txBody>
      </p:sp>
      <p:sp>
        <p:nvSpPr>
          <p:cNvPr id="53" name="page Orbit"/>
          <p:cNvSpPr/>
          <p:nvPr/>
        </p:nvSpPr>
        <p:spPr>
          <a:xfrm>
            <a:off x="2002536" y="4206240"/>
            <a:ext cx="166420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4" name="Text 49"/>
          <p:cNvSpPr txBox="1"/>
          <p:nvPr/>
        </p:nvSpPr>
        <p:spPr>
          <a:xfrm>
            <a:off x="2075688" y="4224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</a:t>
            </a:r>
            <a:endParaRPr lang="en-US" sz="700" dirty="0"/>
          </a:p>
        </p:txBody>
      </p:sp>
      <p:sp>
        <p:nvSpPr>
          <p:cNvPr id="55" name="Text 50"/>
          <p:cNvSpPr txBox="1"/>
          <p:nvPr/>
        </p:nvSpPr>
        <p:spPr>
          <a:xfrm>
            <a:off x="2075688" y="438912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no cross-product tool</a:t>
            </a:r>
            <a:endParaRPr lang="en-US" sz="580" dirty="0"/>
          </a:p>
        </p:txBody>
      </p:sp>
      <p:sp>
        <p:nvSpPr>
          <p:cNvPr id="56" name="Text 51"/>
          <p:cNvSpPr txBox="1"/>
          <p:nvPr/>
        </p:nvSpPr>
        <p:spPr>
          <a:xfrm>
            <a:off x="2075688" y="4526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"Paket modem WiFi spesial untuk semua"</a:t>
            </a:r>
            <a:endParaRPr lang="en-US" sz="580" dirty="0"/>
          </a:p>
        </p:txBody>
      </p:sp>
      <p:sp>
        <p:nvSpPr>
          <p:cNvPr id="57" name="page EZnet"/>
          <p:cNvSpPr/>
          <p:nvPr/>
        </p:nvSpPr>
        <p:spPr>
          <a:xfrm>
            <a:off x="3730752" y="4206240"/>
            <a:ext cx="166420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8" name="Text 53"/>
          <p:cNvSpPr txBox="1"/>
          <p:nvPr/>
        </p:nvSpPr>
        <p:spPr>
          <a:xfrm>
            <a:off x="3803904" y="4224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EZnet</a:t>
            </a:r>
            <a:endParaRPr lang="en-US" sz="700" dirty="0"/>
          </a:p>
        </p:txBody>
      </p:sp>
      <p:sp>
        <p:nvSpPr>
          <p:cNvPr id="59" name="Text 54"/>
          <p:cNvSpPr txBox="1"/>
          <p:nvPr/>
        </p:nvSpPr>
        <p:spPr>
          <a:xfrm>
            <a:off x="3803904" y="438912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no cross-product tool</a:t>
            </a:r>
            <a:endParaRPr lang="en-US" sz="580" dirty="0"/>
          </a:p>
        </p:txBody>
      </p:sp>
      <p:sp>
        <p:nvSpPr>
          <p:cNvPr id="60" name="Text 55"/>
          <p:cNvSpPr txBox="1"/>
          <p:nvPr/>
        </p:nvSpPr>
        <p:spPr>
          <a:xfrm>
            <a:off x="3803904" y="4526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"Internet rumah murah dan mudah untuk semua"</a:t>
            </a:r>
            <a:endParaRPr lang="en-US" sz="580" dirty="0"/>
          </a:p>
        </p:txBody>
      </p:sp>
      <p:sp>
        <p:nvSpPr>
          <p:cNvPr id="61" name="page EZnet Wireless"/>
          <p:cNvSpPr/>
          <p:nvPr/>
        </p:nvSpPr>
        <p:spPr>
          <a:xfrm>
            <a:off x="5458968" y="4206240"/>
            <a:ext cx="166420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62" name="Text 57"/>
          <p:cNvSpPr txBox="1"/>
          <p:nvPr/>
        </p:nvSpPr>
        <p:spPr>
          <a:xfrm>
            <a:off x="5532120" y="4224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EZnet Wireless</a:t>
            </a:r>
            <a:endParaRPr lang="en-US" sz="700" dirty="0"/>
          </a:p>
        </p:txBody>
      </p:sp>
      <p:sp>
        <p:nvSpPr>
          <p:cNvPr id="63" name="Text 58"/>
          <p:cNvSpPr txBox="1"/>
          <p:nvPr/>
        </p:nvSpPr>
        <p:spPr>
          <a:xfrm>
            <a:off x="5532120" y="438912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no cross-product tool</a:t>
            </a:r>
            <a:endParaRPr lang="en-US" sz="580" dirty="0"/>
          </a:p>
        </p:txBody>
      </p:sp>
      <p:sp>
        <p:nvSpPr>
          <p:cNvPr id="64" name="Text 59"/>
          <p:cNvSpPr txBox="1"/>
          <p:nvPr/>
        </p:nvSpPr>
        <p:spPr>
          <a:xfrm>
            <a:off x="5532120" y="4526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comparison with Orbit, its twin job</a:t>
            </a:r>
            <a:endParaRPr lang="en-US" sz="580" dirty="0"/>
          </a:p>
        </p:txBody>
      </p:sp>
      <p:sp>
        <p:nvSpPr>
          <p:cNvPr id="65" name="page Telkomsel One"/>
          <p:cNvSpPr/>
          <p:nvPr/>
        </p:nvSpPr>
        <p:spPr>
          <a:xfrm>
            <a:off x="7187184" y="4206240"/>
            <a:ext cx="1664208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66" name="Text 61"/>
          <p:cNvSpPr txBox="1"/>
          <p:nvPr/>
        </p:nvSpPr>
        <p:spPr>
          <a:xfrm>
            <a:off x="7260336" y="4224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 One</a:t>
            </a:r>
            <a:endParaRPr lang="en-US" sz="700" dirty="0"/>
          </a:p>
        </p:txBody>
      </p:sp>
      <p:sp>
        <p:nvSpPr>
          <p:cNvPr id="67" name="Text 62"/>
          <p:cNvSpPr txBox="1"/>
          <p:nvPr/>
        </p:nvSpPr>
        <p:spPr>
          <a:xfrm>
            <a:off x="7260336" y="438912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no cross-product tool</a:t>
            </a:r>
            <a:endParaRPr lang="en-US" sz="580" dirty="0"/>
          </a:p>
        </p:txBody>
      </p:sp>
      <p:sp>
        <p:nvSpPr>
          <p:cNvPr id="68" name="Text 63"/>
          <p:cNvSpPr txBox="1"/>
          <p:nvPr/>
        </p:nvSpPr>
        <p:spPr>
          <a:xfrm>
            <a:off x="7260336" y="4526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"Untuk keluarga", with no plan-to-family match</a:t>
            </a:r>
            <a:endParaRPr lang="en-US" sz="5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Conclusion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conclusion: product roles are the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biggest lever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with keeping homes and building upgrade paths close behind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188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Appendix 14 (issue tree, five whys), 15 (gap analysis), 16 (prioritisation)</a:t>
            </a:r>
            <a:endParaRPr lang="en-US" sz="6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6053328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665976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7278624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7891272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</a:t>
            </a:r>
            <a:endParaRPr lang="en-US" sz="650" dirty="0"/>
          </a:p>
        </p:txBody>
      </p:sp>
      <p:sp>
        <p:nvSpPr>
          <p:cNvPr id="13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900" dirty="0"/>
          </a:p>
        </p:txBody>
      </p:sp>
      <p:sp>
        <p:nvSpPr>
          <p:cNvPr id="15" name="bridge panel"/>
          <p:cNvSpPr/>
          <p:nvPr/>
        </p:nvSpPr>
        <p:spPr>
          <a:xfrm>
            <a:off x="274320" y="841248"/>
            <a:ext cx="8595360" cy="2395728"/>
          </a:xfrm>
          <a:prstGeom prst="roundRect">
            <a:avLst>
              <a:gd name="adj" fmla="val 3053"/>
            </a:avLst>
          </a:prstGeom>
          <a:solidFill>
            <a:srgbClr val="F1F5F9"/>
          </a:solidFill>
          <a:ln/>
        </p:spPr>
      </p:sp>
      <p:pic>
        <p:nvPicPr>
          <p:cNvPr id="16" name="Image 1" descr="current hea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2331720" cy="27432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65760" y="914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Condition</a:t>
            </a:r>
            <a:endParaRPr lang="en-US" sz="800" dirty="0"/>
          </a:p>
        </p:txBody>
      </p:sp>
      <p:sp>
        <p:nvSpPr>
          <p:cNvPr id="18" name="Text 14"/>
          <p:cNvSpPr txBox="1"/>
          <p:nvPr/>
        </p:nvSpPr>
        <p:spPr>
          <a:xfrm>
            <a:off x="2834640" y="9144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 Question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4224528" y="9144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</a:t>
            </a:r>
            <a:endParaRPr lang="en-US" sz="800" dirty="0"/>
          </a:p>
        </p:txBody>
      </p:sp>
      <p:pic>
        <p:nvPicPr>
          <p:cNvPr id="20" name="Image 2" descr="ideal hea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914400"/>
            <a:ext cx="2331720" cy="2743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46520" y="9144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Ideal Condition</a:t>
            </a:r>
            <a:endParaRPr lang="en-US" sz="800" dirty="0"/>
          </a:p>
        </p:txBody>
      </p:sp>
      <p:sp>
        <p:nvSpPr>
          <p:cNvPr id="22" name="kq box"/>
          <p:cNvSpPr/>
          <p:nvPr/>
        </p:nvSpPr>
        <p:spPr>
          <a:xfrm>
            <a:off x="2834640" y="1243584"/>
            <a:ext cx="1280160" cy="1901952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3" name="Text 18"/>
          <p:cNvSpPr txBox="1"/>
          <p:nvPr/>
        </p:nvSpPr>
        <p:spPr>
          <a:xfrm>
            <a:off x="2889504" y="1243584"/>
            <a:ext cx="1170432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is Telkomsel losing </a:t>
            </a:r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per household</a:t>
            </a:r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a growing market, and how much of it comes from the way </a:t>
            </a:r>
            <a:pPr algn="ctr" indent="0" marL="0">
              <a:buNone/>
            </a:pPr>
            <a:r>
              <a:rPr lang="en-US" sz="7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and Orbit are positioned</a:t>
            </a:r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?</a:t>
            </a:r>
            <a:endParaRPr lang="en-US" sz="700" dirty="0"/>
          </a:p>
        </p:txBody>
      </p:sp>
      <p:sp>
        <p:nvSpPr>
          <p:cNvPr id="24" name="cur 0"/>
          <p:cNvSpPr/>
          <p:nvPr/>
        </p:nvSpPr>
        <p:spPr>
          <a:xfrm>
            <a:off x="365760" y="1243584"/>
            <a:ext cx="233172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420624" y="1243584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 placed by network and price tier; none of 5 pages routes a home; 0.8–1.2M inactive accounts, mostly outside the mobile base</a:t>
            </a:r>
            <a:endParaRPr lang="en-US" sz="620" dirty="0"/>
          </a:p>
        </p:txBody>
      </p:sp>
      <p:sp>
        <p:nvSpPr>
          <p:cNvPr id="26" name="line"/>
          <p:cNvSpPr/>
          <p:nvPr/>
        </p:nvSpPr>
        <p:spPr>
          <a:xfrm>
            <a:off x="2697480" y="145846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line"/>
          <p:cNvSpPr/>
          <p:nvPr/>
        </p:nvSpPr>
        <p:spPr>
          <a:xfrm>
            <a:off x="4114800" y="1458468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8" name="prob 0"/>
          <p:cNvSpPr/>
          <p:nvPr/>
        </p:nvSpPr>
        <p:spPr>
          <a:xfrm>
            <a:off x="4224528" y="1243584"/>
            <a:ext cx="1920240" cy="429768"/>
          </a:xfrm>
          <a:prstGeom prst="roundRect">
            <a:avLst>
              <a:gd name="adj" fmla="val 8511"/>
            </a:avLst>
          </a:prstGeom>
          <a:solidFill>
            <a:srgbClr val="E4002B"/>
          </a:solidFill>
          <a:ln/>
        </p:spPr>
      </p:sp>
      <p:sp>
        <p:nvSpPr>
          <p:cNvPr id="29" name="Text 24"/>
          <p:cNvSpPr txBox="1"/>
          <p:nvPr/>
        </p:nvSpPr>
        <p:spPr>
          <a:xfrm>
            <a:off x="4279392" y="1243584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and entry:</a:t>
            </a:r>
            <a:pPr indent="0" marL="0">
              <a:buNone/>
            </a:pPr>
            <a:r>
              <a:rPr lang="en-US" sz="6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wrong product, wrong channel, loose terms</a:t>
            </a:r>
            <a:endParaRPr lang="en-US" sz="660" dirty="0"/>
          </a:p>
        </p:txBody>
      </p:sp>
      <p:sp>
        <p:nvSpPr>
          <p:cNvPr id="30" name="line"/>
          <p:cNvSpPr/>
          <p:nvPr/>
        </p:nvSpPr>
        <p:spPr>
          <a:xfrm>
            <a:off x="6144768" y="1458468"/>
            <a:ext cx="30175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1" name="ideal 0"/>
          <p:cNvSpPr/>
          <p:nvPr/>
        </p:nvSpPr>
        <p:spPr>
          <a:xfrm>
            <a:off x="6446520" y="1243584"/>
            <a:ext cx="233172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501384" y="1243584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home routed by need to the product that fits, through the mobile relationship, on paying terms</a:t>
            </a:r>
            <a:endParaRPr lang="en-US" sz="620" dirty="0"/>
          </a:p>
        </p:txBody>
      </p:sp>
      <p:sp>
        <p:nvSpPr>
          <p:cNvPr id="33" name="cur 1"/>
          <p:cNvSpPr/>
          <p:nvPr/>
        </p:nvSpPr>
        <p:spPr>
          <a:xfrm>
            <a:off x="365760" y="1728216"/>
            <a:ext cx="233172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420624" y="1728216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Average home pays near the entry price; speed lent for 180–360 days; the bundle is at best a small saving</a:t>
            </a:r>
            <a:endParaRPr lang="en-US" sz="620" dirty="0"/>
          </a:p>
        </p:txBody>
      </p:sp>
      <p:sp>
        <p:nvSpPr>
          <p:cNvPr id="35" name="line"/>
          <p:cNvSpPr/>
          <p:nvPr/>
        </p:nvSpPr>
        <p:spPr>
          <a:xfrm>
            <a:off x="2697480" y="1943100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6" name="line"/>
          <p:cNvSpPr/>
          <p:nvPr/>
        </p:nvSpPr>
        <p:spPr>
          <a:xfrm>
            <a:off x="4114800" y="1943100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37" name="prob 1"/>
          <p:cNvSpPr/>
          <p:nvPr/>
        </p:nvSpPr>
        <p:spPr>
          <a:xfrm>
            <a:off x="4224528" y="1728216"/>
            <a:ext cx="1920240" cy="429768"/>
          </a:xfrm>
          <a:prstGeom prst="roundRect">
            <a:avLst>
              <a:gd name="adj" fmla="val 8511"/>
            </a:avLst>
          </a:prstGeom>
          <a:solidFill>
            <a:srgbClr val="A50021"/>
          </a:solidFill>
          <a:ln/>
        </p:spPr>
      </p:sp>
      <p:sp>
        <p:nvSpPr>
          <p:cNvPr id="38" name="Text 33"/>
          <p:cNvSpPr txBox="1"/>
          <p:nvPr/>
        </p:nvSpPr>
        <p:spPr>
          <a:xfrm>
            <a:off x="4279392" y="1728216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Spend:</a:t>
            </a:r>
            <a:pPr indent="0" marL="0">
              <a:buNone/>
            </a:pPr>
            <a:r>
              <a:rPr lang="en-US" sz="6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extras lent, no designed path up</a:t>
            </a:r>
            <a:endParaRPr lang="en-US" sz="660" dirty="0"/>
          </a:p>
        </p:txBody>
      </p:sp>
      <p:sp>
        <p:nvSpPr>
          <p:cNvPr id="39" name="line"/>
          <p:cNvSpPr/>
          <p:nvPr/>
        </p:nvSpPr>
        <p:spPr>
          <a:xfrm>
            <a:off x="6144768" y="1943100"/>
            <a:ext cx="30175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0" name="ideal 1"/>
          <p:cNvSpPr/>
          <p:nvPr/>
        </p:nvSpPr>
        <p:spPr>
          <a:xfrm>
            <a:off x="6446520" y="1728216"/>
            <a:ext cx="233172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6501384" y="1728216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spend rises because upgrading and adding lines pay off for the family</a:t>
            </a:r>
            <a:endParaRPr lang="en-US" sz="620" dirty="0"/>
          </a:p>
        </p:txBody>
      </p:sp>
      <p:sp>
        <p:nvSpPr>
          <p:cNvPr id="42" name="cur 2"/>
          <p:cNvSpPr/>
          <p:nvPr/>
        </p:nvSpPr>
        <p:spPr>
          <a:xfrm>
            <a:off x="365760" y="2212848"/>
            <a:ext cx="233172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420624" y="2212848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of 50 urban award slots; upload last of 8; fixed complaints resolved 94.23% vs 98.37% for mobile</a:t>
            </a:r>
            <a:endParaRPr lang="en-US" sz="620" dirty="0"/>
          </a:p>
        </p:txBody>
      </p:sp>
      <p:sp>
        <p:nvSpPr>
          <p:cNvPr id="44" name="line"/>
          <p:cNvSpPr/>
          <p:nvPr/>
        </p:nvSpPr>
        <p:spPr>
          <a:xfrm>
            <a:off x="2697480" y="2427732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5" name="line"/>
          <p:cNvSpPr/>
          <p:nvPr/>
        </p:nvSpPr>
        <p:spPr>
          <a:xfrm>
            <a:off x="4114800" y="2427732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6" name="prob 2"/>
          <p:cNvSpPr/>
          <p:nvPr/>
        </p:nvSpPr>
        <p:spPr>
          <a:xfrm>
            <a:off x="4224528" y="2212848"/>
            <a:ext cx="1920240" cy="429768"/>
          </a:xfrm>
          <a:prstGeom prst="roundRect">
            <a:avLst>
              <a:gd name="adj" fmla="val 8511"/>
            </a:avLst>
          </a:prstGeom>
          <a:solidFill>
            <a:srgbClr val="1F2937"/>
          </a:solidFill>
          <a:ln/>
        </p:spPr>
      </p:sp>
      <p:sp>
        <p:nvSpPr>
          <p:cNvPr id="47" name="Text 42"/>
          <p:cNvSpPr txBox="1"/>
          <p:nvPr/>
        </p:nvSpPr>
        <p:spPr>
          <a:xfrm>
            <a:off x="4279392" y="2212848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 and cost:</a:t>
            </a:r>
            <a:pPr indent="0" marL="0">
              <a:buNone/>
            </a:pPr>
            <a:r>
              <a:rPr lang="en-US" sz="6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premium unproven where rivals compete</a:t>
            </a:r>
            <a:endParaRPr lang="en-US" sz="660" dirty="0"/>
          </a:p>
        </p:txBody>
      </p:sp>
      <p:sp>
        <p:nvSpPr>
          <p:cNvPr id="48" name="line"/>
          <p:cNvSpPr/>
          <p:nvPr/>
        </p:nvSpPr>
        <p:spPr>
          <a:xfrm>
            <a:off x="6144768" y="2427732"/>
            <a:ext cx="30175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49" name="ideal 2"/>
          <p:cNvSpPr/>
          <p:nvPr/>
        </p:nvSpPr>
        <p:spPr>
          <a:xfrm>
            <a:off x="6446520" y="2212848"/>
            <a:ext cx="233172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0" name="Text 45"/>
          <p:cNvSpPr txBox="1"/>
          <p:nvPr/>
        </p:nvSpPr>
        <p:spPr>
          <a:xfrm>
            <a:off x="6501384" y="2212848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experience at or above rivals where they compete; cost matched to usage</a:t>
            </a:r>
            <a:endParaRPr lang="en-US" sz="620" dirty="0"/>
          </a:p>
        </p:txBody>
      </p:sp>
      <p:sp>
        <p:nvSpPr>
          <p:cNvPr id="51" name="cur 3"/>
          <p:cNvSpPr/>
          <p:nvPr/>
        </p:nvSpPr>
        <p:spPr>
          <a:xfrm>
            <a:off x="365760" y="2697480"/>
            <a:ext cx="233172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2" name="Text 47"/>
          <p:cNvSpPr txBox="1"/>
          <p:nvPr/>
        </p:nvSpPr>
        <p:spPr>
          <a:xfrm>
            <a:off x="420624" y="2697480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ARPU counts inactive accounts; convergence counted as overlap; Orbit reported inside mobile</a:t>
            </a:r>
            <a:endParaRPr lang="en-US" sz="620" dirty="0"/>
          </a:p>
        </p:txBody>
      </p:sp>
      <p:sp>
        <p:nvSpPr>
          <p:cNvPr id="53" name="line"/>
          <p:cNvSpPr/>
          <p:nvPr/>
        </p:nvSpPr>
        <p:spPr>
          <a:xfrm>
            <a:off x="2697480" y="2912364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4" name="line"/>
          <p:cNvSpPr/>
          <p:nvPr/>
        </p:nvSpPr>
        <p:spPr>
          <a:xfrm>
            <a:off x="4114800" y="2912364"/>
            <a:ext cx="109728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55" name="prob 3"/>
          <p:cNvSpPr/>
          <p:nvPr/>
        </p:nvSpPr>
        <p:spPr>
          <a:xfrm>
            <a:off x="4224528" y="2697480"/>
            <a:ext cx="1920240" cy="429768"/>
          </a:xfrm>
          <a:prstGeom prst="roundRect">
            <a:avLst>
              <a:gd name="adj" fmla="val 8511"/>
            </a:avLst>
          </a:prstGeom>
          <a:solidFill>
            <a:srgbClr val="475569"/>
          </a:solidFill>
          <a:ln/>
        </p:spPr>
      </p:sp>
      <p:sp>
        <p:nvSpPr>
          <p:cNvPr id="56" name="Text 51"/>
          <p:cNvSpPr txBox="1"/>
          <p:nvPr/>
        </p:nvSpPr>
        <p:spPr>
          <a:xfrm>
            <a:off x="4279392" y="2697480"/>
            <a:ext cx="181051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Measurement:</a:t>
            </a:r>
            <a:pPr indent="0" marL="0">
              <a:buNone/>
            </a:pPr>
            <a:r>
              <a:rPr lang="en-US" sz="6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one owns household value</a:t>
            </a:r>
            <a:endParaRPr lang="en-US" sz="660" dirty="0"/>
          </a:p>
        </p:txBody>
      </p:sp>
      <p:sp>
        <p:nvSpPr>
          <p:cNvPr id="57" name="line"/>
          <p:cNvSpPr/>
          <p:nvPr/>
        </p:nvSpPr>
        <p:spPr>
          <a:xfrm>
            <a:off x="6144768" y="2912364"/>
            <a:ext cx="301752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58" name="ideal 3"/>
          <p:cNvSpPr/>
          <p:nvPr/>
        </p:nvSpPr>
        <p:spPr>
          <a:xfrm>
            <a:off x="6446520" y="2697480"/>
            <a:ext cx="2331720" cy="429768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9" name="Text 54"/>
          <p:cNvSpPr txBox="1"/>
          <p:nvPr/>
        </p:nvSpPr>
        <p:spPr>
          <a:xfrm>
            <a:off x="6501384" y="2697480"/>
            <a:ext cx="2221992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lifetime value is the operating metric, with one owner</a:t>
            </a:r>
            <a:endParaRPr lang="en-US" sz="620" dirty="0"/>
          </a:p>
        </p:txBody>
      </p:sp>
      <p:sp>
        <p:nvSpPr>
          <p:cNvPr id="60" name="Text 55"/>
          <p:cNvSpPr txBox="1"/>
          <p:nvPr/>
        </p:nvSpPr>
        <p:spPr>
          <a:xfrm>
            <a:off x="274320" y="3291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problems to tackle?</a:t>
            </a:r>
            <a:endParaRPr lang="en-US" sz="750" dirty="0"/>
          </a:p>
        </p:txBody>
      </p:sp>
      <p:sp>
        <p:nvSpPr>
          <p:cNvPr id="61" name="Text 56"/>
          <p:cNvSpPr txBox="1"/>
          <p:nvPr/>
        </p:nvSpPr>
        <p:spPr>
          <a:xfrm>
            <a:off x="2697480" y="3291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Which solutions?</a:t>
            </a:r>
            <a:endParaRPr lang="en-US" sz="750" dirty="0"/>
          </a:p>
        </p:txBody>
      </p:sp>
      <p:sp>
        <p:nvSpPr>
          <p:cNvPr id="62" name="Text 57"/>
          <p:cNvSpPr txBox="1"/>
          <p:nvPr/>
        </p:nvSpPr>
        <p:spPr>
          <a:xfrm>
            <a:off x="4983480" y="3291840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Why?</a:t>
            </a:r>
            <a:endParaRPr lang="en-US" sz="750" dirty="0"/>
          </a:p>
        </p:txBody>
      </p:sp>
      <p:pic>
        <p:nvPicPr>
          <p:cNvPr id="63" name="Image 3" descr="map 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511296"/>
            <a:ext cx="4617720" cy="265176"/>
          </a:xfrm>
          <a:prstGeom prst="rect">
            <a:avLst/>
          </a:prstGeom>
        </p:spPr>
      </p:pic>
      <p:sp>
        <p:nvSpPr>
          <p:cNvPr id="64" name="Text 58"/>
          <p:cNvSpPr txBox="1"/>
          <p:nvPr/>
        </p:nvSpPr>
        <p:spPr>
          <a:xfrm>
            <a:off x="365760" y="3511296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and entry</a:t>
            </a:r>
            <a:endParaRPr lang="en-US" sz="700" dirty="0"/>
          </a:p>
        </p:txBody>
      </p:sp>
      <p:sp>
        <p:nvSpPr>
          <p:cNvPr id="65" name="badge H"/>
          <p:cNvSpPr/>
          <p:nvPr/>
        </p:nvSpPr>
        <p:spPr>
          <a:xfrm>
            <a:off x="2697480" y="3538728"/>
            <a:ext cx="210312" cy="2103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66" name="Text 60"/>
          <p:cNvSpPr txBox="1"/>
          <p:nvPr/>
        </p:nvSpPr>
        <p:spPr>
          <a:xfrm>
            <a:off x="2697480" y="3538728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850" dirty="0"/>
          </a:p>
        </p:txBody>
      </p:sp>
      <p:sp>
        <p:nvSpPr>
          <p:cNvPr id="67" name="Text 61"/>
          <p:cNvSpPr txBox="1"/>
          <p:nvPr/>
        </p:nvSpPr>
        <p:spPr>
          <a:xfrm>
            <a:off x="2971800" y="3511296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fit</a:t>
            </a:r>
            <a:endParaRPr lang="en-US" sz="700" dirty="0"/>
          </a:p>
        </p:txBody>
      </p:sp>
      <p:sp>
        <p:nvSpPr>
          <p:cNvPr id="68" name="why H"/>
          <p:cNvSpPr/>
          <p:nvPr/>
        </p:nvSpPr>
        <p:spPr>
          <a:xfrm>
            <a:off x="4983480" y="3511296"/>
            <a:ext cx="3886200" cy="26517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9" name="Text 63"/>
          <p:cNvSpPr txBox="1"/>
          <p:nvPr/>
        </p:nvSpPr>
        <p:spPr>
          <a:xfrm>
            <a:off x="5047488" y="3511296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driver; most urgent; fully in Telkomsel's control</a:t>
            </a:r>
            <a:endParaRPr lang="en-US" sz="680" dirty="0"/>
          </a:p>
        </p:txBody>
      </p:sp>
      <p:pic>
        <p:nvPicPr>
          <p:cNvPr id="70" name="Image 4" descr="map 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817620"/>
            <a:ext cx="4617720" cy="265176"/>
          </a:xfrm>
          <a:prstGeom prst="rect">
            <a:avLst/>
          </a:prstGeom>
        </p:spPr>
      </p:pic>
      <p:sp>
        <p:nvSpPr>
          <p:cNvPr id="71" name="Text 64"/>
          <p:cNvSpPr txBox="1"/>
          <p:nvPr/>
        </p:nvSpPr>
        <p:spPr>
          <a:xfrm>
            <a:off x="365760" y="3817620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</a:t>
            </a:r>
            <a:endParaRPr lang="en-US" sz="700" dirty="0"/>
          </a:p>
        </p:txBody>
      </p:sp>
      <p:sp>
        <p:nvSpPr>
          <p:cNvPr id="72" name="badge O"/>
          <p:cNvSpPr/>
          <p:nvPr/>
        </p:nvSpPr>
        <p:spPr>
          <a:xfrm>
            <a:off x="2697480" y="3845052"/>
            <a:ext cx="210312" cy="2103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73" name="Text 66"/>
          <p:cNvSpPr txBox="1"/>
          <p:nvPr/>
        </p:nvSpPr>
        <p:spPr>
          <a:xfrm>
            <a:off x="2697480" y="3845052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850" dirty="0"/>
          </a:p>
        </p:txBody>
      </p:sp>
      <p:sp>
        <p:nvSpPr>
          <p:cNvPr id="74" name="Text 67"/>
          <p:cNvSpPr txBox="1"/>
          <p:nvPr/>
        </p:nvSpPr>
        <p:spPr>
          <a:xfrm>
            <a:off x="2971800" y="3817620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Offer a path up</a:t>
            </a:r>
            <a:endParaRPr lang="en-US" sz="700" dirty="0"/>
          </a:p>
        </p:txBody>
      </p:sp>
      <p:sp>
        <p:nvSpPr>
          <p:cNvPr id="75" name="why O"/>
          <p:cNvSpPr/>
          <p:nvPr/>
        </p:nvSpPr>
        <p:spPr>
          <a:xfrm>
            <a:off x="4983480" y="3817620"/>
            <a:ext cx="3886200" cy="26517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6" name="Text 69"/>
          <p:cNvSpPr txBox="1"/>
          <p:nvPr/>
        </p:nvSpPr>
        <p:spPr>
          <a:xfrm>
            <a:off x="5047488" y="3817620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Upgrade steps carry most of the value</a:t>
            </a:r>
            <a:endParaRPr lang="en-US" sz="680" dirty="0"/>
          </a:p>
        </p:txBody>
      </p:sp>
      <p:pic>
        <p:nvPicPr>
          <p:cNvPr id="77" name="Image 5" descr="map M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4123944"/>
            <a:ext cx="4617720" cy="265176"/>
          </a:xfrm>
          <a:prstGeom prst="rect">
            <a:avLst/>
          </a:prstGeom>
        </p:spPr>
      </p:pic>
      <p:sp>
        <p:nvSpPr>
          <p:cNvPr id="78" name="Text 70"/>
          <p:cNvSpPr txBox="1"/>
          <p:nvPr/>
        </p:nvSpPr>
        <p:spPr>
          <a:xfrm>
            <a:off x="365760" y="4123944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Delivery</a:t>
            </a:r>
            <a:endParaRPr lang="en-US" sz="700" dirty="0"/>
          </a:p>
        </p:txBody>
      </p:sp>
      <p:sp>
        <p:nvSpPr>
          <p:cNvPr id="79" name="badge M"/>
          <p:cNvSpPr/>
          <p:nvPr/>
        </p:nvSpPr>
        <p:spPr>
          <a:xfrm>
            <a:off x="2697480" y="4151376"/>
            <a:ext cx="210312" cy="2103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80" name="Text 72"/>
          <p:cNvSpPr txBox="1"/>
          <p:nvPr/>
        </p:nvSpPr>
        <p:spPr>
          <a:xfrm>
            <a:off x="2697480" y="4151376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850" dirty="0"/>
          </a:p>
        </p:txBody>
      </p:sp>
      <p:sp>
        <p:nvSpPr>
          <p:cNvPr id="81" name="Text 73"/>
          <p:cNvSpPr txBox="1"/>
          <p:nvPr/>
        </p:nvSpPr>
        <p:spPr>
          <a:xfrm>
            <a:off x="2971800" y="4123944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staying better</a:t>
            </a:r>
            <a:endParaRPr lang="en-US" sz="700" dirty="0"/>
          </a:p>
        </p:txBody>
      </p:sp>
      <p:sp>
        <p:nvSpPr>
          <p:cNvPr id="82" name="why M"/>
          <p:cNvSpPr/>
          <p:nvPr/>
        </p:nvSpPr>
        <p:spPr>
          <a:xfrm>
            <a:off x="4983480" y="4123944"/>
            <a:ext cx="3886200" cy="26517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83" name="Text 75"/>
          <p:cNvSpPr txBox="1"/>
          <p:nvPr/>
        </p:nvSpPr>
        <p:spPr>
          <a:xfrm>
            <a:off x="5047488" y="4123944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Homes kept are the second-largest value</a:t>
            </a:r>
            <a:endParaRPr lang="en-US" sz="680" dirty="0"/>
          </a:p>
        </p:txBody>
      </p:sp>
      <p:pic>
        <p:nvPicPr>
          <p:cNvPr id="84" name="Image 6" descr="map 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4430268"/>
            <a:ext cx="4617720" cy="265176"/>
          </a:xfrm>
          <a:prstGeom prst="rect">
            <a:avLst/>
          </a:prstGeom>
        </p:spPr>
      </p:pic>
      <p:sp>
        <p:nvSpPr>
          <p:cNvPr id="85" name="Text 76"/>
          <p:cNvSpPr txBox="1"/>
          <p:nvPr/>
        </p:nvSpPr>
        <p:spPr>
          <a:xfrm>
            <a:off x="365760" y="4430268"/>
            <a:ext cx="21945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Measurement</a:t>
            </a:r>
            <a:endParaRPr lang="en-US" sz="700" dirty="0"/>
          </a:p>
        </p:txBody>
      </p:sp>
      <p:sp>
        <p:nvSpPr>
          <p:cNvPr id="86" name="badge E"/>
          <p:cNvSpPr/>
          <p:nvPr/>
        </p:nvSpPr>
        <p:spPr>
          <a:xfrm>
            <a:off x="2697480" y="4457700"/>
            <a:ext cx="210312" cy="21031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87" name="Text 78"/>
          <p:cNvSpPr txBox="1"/>
          <p:nvPr/>
        </p:nvSpPr>
        <p:spPr>
          <a:xfrm>
            <a:off x="2697480" y="4457700"/>
            <a:ext cx="2103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850" dirty="0"/>
          </a:p>
        </p:txBody>
      </p:sp>
      <p:sp>
        <p:nvSpPr>
          <p:cNvPr id="88" name="Text 79"/>
          <p:cNvSpPr txBox="1"/>
          <p:nvPr/>
        </p:nvSpPr>
        <p:spPr>
          <a:xfrm>
            <a:off x="2971800" y="4430268"/>
            <a:ext cx="1874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Evaluate household value</a:t>
            </a:r>
            <a:endParaRPr lang="en-US" sz="700" dirty="0"/>
          </a:p>
        </p:txBody>
      </p:sp>
      <p:sp>
        <p:nvSpPr>
          <p:cNvPr id="89" name="why E"/>
          <p:cNvSpPr/>
          <p:nvPr/>
        </p:nvSpPr>
        <p:spPr>
          <a:xfrm>
            <a:off x="4983480" y="4430268"/>
            <a:ext cx="3886200" cy="265176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90" name="Text 81"/>
          <p:cNvSpPr txBox="1"/>
          <p:nvPr/>
        </p:nvSpPr>
        <p:spPr>
          <a:xfrm>
            <a:off x="5047488" y="4430268"/>
            <a:ext cx="3749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Makes the other three judged on household value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Overview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Strategy overview: H.O.M.E. fits each home to the right product, offers a path up, makes staying better and measures household value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188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Appendix 18 (roles), 19 (initiatives), 20 (gates and KPIs), 24 (value split), 26 (theme)</a:t>
            </a:r>
            <a:endParaRPr lang="en-US" sz="6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6053328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665976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7278624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7891272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</a:t>
            </a:r>
            <a:endParaRPr lang="en-US" sz="650" dirty="0"/>
          </a:p>
        </p:txBody>
      </p:sp>
      <p:sp>
        <p:nvSpPr>
          <p:cNvPr id="13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900" dirty="0"/>
          </a:p>
        </p:txBody>
      </p:sp>
      <p:pic>
        <p:nvPicPr>
          <p:cNvPr id="15" name="Image 1" descr="roof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8595360" cy="402336"/>
          </a:xfrm>
          <a:prstGeom prst="rect">
            <a:avLst/>
          </a:prstGeom>
        </p:spPr>
      </p:pic>
      <p:sp>
        <p:nvSpPr>
          <p:cNvPr id="16" name="badge H"/>
          <p:cNvSpPr/>
          <p:nvPr/>
        </p:nvSpPr>
        <p:spPr>
          <a:xfrm>
            <a:off x="411480" y="87782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411480" y="877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1200" dirty="0"/>
          </a:p>
        </p:txBody>
      </p:sp>
      <p:sp>
        <p:nvSpPr>
          <p:cNvPr id="18" name="badge O"/>
          <p:cNvSpPr/>
          <p:nvPr/>
        </p:nvSpPr>
        <p:spPr>
          <a:xfrm>
            <a:off x="740664" y="87782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740664" y="877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1200" dirty="0"/>
          </a:p>
        </p:txBody>
      </p:sp>
      <p:sp>
        <p:nvSpPr>
          <p:cNvPr id="20" name="badge M"/>
          <p:cNvSpPr/>
          <p:nvPr/>
        </p:nvSpPr>
        <p:spPr>
          <a:xfrm>
            <a:off x="1069848" y="87782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1069848" y="877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1200" dirty="0"/>
          </a:p>
        </p:txBody>
      </p:sp>
      <p:sp>
        <p:nvSpPr>
          <p:cNvPr id="22" name="badge E"/>
          <p:cNvSpPr/>
          <p:nvPr/>
        </p:nvSpPr>
        <p:spPr>
          <a:xfrm>
            <a:off x="1399032" y="87782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1399032" y="877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1200" dirty="0"/>
          </a:p>
        </p:txBody>
      </p:sp>
      <p:sp>
        <p:nvSpPr>
          <p:cNvPr id="24" name="Text 20"/>
          <p:cNvSpPr txBox="1"/>
          <p:nvPr/>
        </p:nvSpPr>
        <p:spPr>
          <a:xfrm>
            <a:off x="1828800" y="822960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H.O.M.E.: manage the home, not the line</a:t>
            </a:r>
            <a:endParaRPr lang="en-US" sz="1200" dirty="0"/>
          </a:p>
        </p:txBody>
      </p:sp>
      <p:sp>
        <p:nvSpPr>
          <p:cNvPr id="25" name="Text 21"/>
          <p:cNvSpPr txBox="1"/>
          <p:nvPr/>
        </p:nvSpPr>
        <p:spPr>
          <a:xfrm>
            <a:off x="274320" y="1664208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</a:t>
            </a:r>
            <a:endParaRPr lang="en-US" sz="800" dirty="0"/>
          </a:p>
        </p:txBody>
      </p:sp>
      <p:sp>
        <p:nvSpPr>
          <p:cNvPr id="26" name="Text 22"/>
          <p:cNvSpPr txBox="1"/>
          <p:nvPr/>
        </p:nvSpPr>
        <p:spPr>
          <a:xfrm>
            <a:off x="274320" y="2267712"/>
            <a:ext cx="4572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</a:t>
            </a:r>
            <a:endParaRPr lang="en-US" sz="800" dirty="0"/>
          </a:p>
        </p:txBody>
      </p:sp>
      <p:sp>
        <p:nvSpPr>
          <p:cNvPr id="27" name="Text 23"/>
          <p:cNvSpPr txBox="1"/>
          <p:nvPr/>
        </p:nvSpPr>
        <p:spPr>
          <a:xfrm>
            <a:off x="27432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</a:t>
            </a:r>
            <a:endParaRPr lang="en-US" sz="800" dirty="0"/>
          </a:p>
        </p:txBody>
      </p:sp>
      <p:sp>
        <p:nvSpPr>
          <p:cNvPr id="28" name="Text 24"/>
          <p:cNvSpPr txBox="1"/>
          <p:nvPr/>
        </p:nvSpPr>
        <p:spPr>
          <a:xfrm>
            <a:off x="274320" y="3602736"/>
            <a:ext cx="457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i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800" dirty="0"/>
          </a:p>
        </p:txBody>
      </p:sp>
      <p:pic>
        <p:nvPicPr>
          <p:cNvPr id="29" name="Image 2" descr="col head 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98448"/>
            <a:ext cx="2621280" cy="29260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22960" y="1298448"/>
            <a:ext cx="262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Household fit</a:t>
            </a:r>
            <a:endParaRPr lang="en-US" sz="1200" dirty="0"/>
          </a:p>
        </p:txBody>
      </p:sp>
      <p:sp>
        <p:nvSpPr>
          <p:cNvPr id="31" name="what H"/>
          <p:cNvSpPr/>
          <p:nvPr/>
        </p:nvSpPr>
        <p:spPr>
          <a:xfrm>
            <a:off x="822960" y="1664208"/>
            <a:ext cx="26212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2" name="Text 27"/>
          <p:cNvSpPr txBox="1"/>
          <p:nvPr/>
        </p:nvSpPr>
        <p:spPr>
          <a:xfrm>
            <a:off x="896112" y="1664208"/>
            <a:ext cx="2474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Put every home on the product that fits its need, through the family's Telkomsel relationship, on paying terms</a:t>
            </a:r>
            <a:endParaRPr lang="en-US" sz="660" dirty="0"/>
          </a:p>
        </p:txBody>
      </p:sp>
      <p:sp>
        <p:nvSpPr>
          <p:cNvPr id="33" name="how H"/>
          <p:cNvSpPr/>
          <p:nvPr/>
        </p:nvSpPr>
        <p:spPr>
          <a:xfrm>
            <a:off x="822960" y="2267712"/>
            <a:ext cx="262128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4" name="Text 29"/>
          <p:cNvSpPr txBox="1"/>
          <p:nvPr/>
        </p:nvSpPr>
        <p:spPr>
          <a:xfrm>
            <a:off x="896112" y="2267712"/>
            <a:ext cx="24749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Five-question check</a:t>
            </a:r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every channel; </a:t>
            </a:r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stated roles</a:t>
            </a:r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(Orbit = flexible start, IndiHome = family hub); </a:t>
            </a:r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opt-in home check</a:t>
            </a:r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pay sales on homes </a:t>
            </a:r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paying at 3 and 12 months</a:t>
            </a:r>
            <a:endParaRPr lang="en-US" sz="660" dirty="0"/>
          </a:p>
        </p:txBody>
      </p:sp>
      <p:sp>
        <p:nvSpPr>
          <p:cNvPr id="35" name="why H"/>
          <p:cNvSpPr/>
          <p:nvPr/>
        </p:nvSpPr>
        <p:spPr>
          <a:xfrm>
            <a:off x="822960" y="3090672"/>
            <a:ext cx="26212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6" name="Text 31"/>
          <p:cNvSpPr txBox="1"/>
          <p:nvPr/>
        </p:nvSpPr>
        <p:spPr>
          <a:xfrm>
            <a:off x="896112" y="3090672"/>
            <a:ext cx="2474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driver; a rival-threatened family pays from </a:t>
            </a:r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 one</a:t>
            </a:r>
            <a:endParaRPr lang="en-US" sz="660" dirty="0"/>
          </a:p>
        </p:txBody>
      </p:sp>
      <p:sp>
        <p:nvSpPr>
          <p:cNvPr id="37" name="impact H"/>
          <p:cNvSpPr/>
          <p:nvPr/>
        </p:nvSpPr>
        <p:spPr>
          <a:xfrm>
            <a:off x="822960" y="3602736"/>
            <a:ext cx="26212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E4002B"/>
            </a:solidFill>
            <a:prstDash val="dash"/>
          </a:ln>
        </p:spPr>
      </p:sp>
      <p:sp>
        <p:nvSpPr>
          <p:cNvPr id="38" name="Text 33"/>
          <p:cNvSpPr txBox="1"/>
          <p:nvPr/>
        </p:nvSpPr>
        <p:spPr>
          <a:xfrm>
            <a:off x="896112" y="3602736"/>
            <a:ext cx="2474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213k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paying homes by 2031 </a:t>
            </a:r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750" dirty="0"/>
          </a:p>
        </p:txBody>
      </p:sp>
      <p:pic>
        <p:nvPicPr>
          <p:cNvPr id="39" name="Image 3" descr="col head 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5680" y="1298448"/>
            <a:ext cx="2621280" cy="292608"/>
          </a:xfrm>
          <a:prstGeom prst="rect">
            <a:avLst/>
          </a:prstGeom>
        </p:spPr>
      </p:pic>
      <p:sp>
        <p:nvSpPr>
          <p:cNvPr id="40" name="Text 34"/>
          <p:cNvSpPr txBox="1"/>
          <p:nvPr/>
        </p:nvSpPr>
        <p:spPr>
          <a:xfrm>
            <a:off x="3535680" y="1298448"/>
            <a:ext cx="262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Offer a path up</a:t>
            </a:r>
            <a:endParaRPr lang="en-US" sz="1200" dirty="0"/>
          </a:p>
        </p:txBody>
      </p:sp>
      <p:sp>
        <p:nvSpPr>
          <p:cNvPr id="41" name="what O"/>
          <p:cNvSpPr/>
          <p:nvPr/>
        </p:nvSpPr>
        <p:spPr>
          <a:xfrm>
            <a:off x="3535680" y="1664208"/>
            <a:ext cx="26212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2" name="Text 36"/>
          <p:cNvSpPr txBox="1"/>
          <p:nvPr/>
        </p:nvSpPr>
        <p:spPr>
          <a:xfrm>
            <a:off x="3608832" y="1664208"/>
            <a:ext cx="2474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Give each home a path up that it chooses, so spend rises with the household</a:t>
            </a:r>
            <a:endParaRPr lang="en-US" sz="660" dirty="0"/>
          </a:p>
        </p:txBody>
      </p:sp>
      <p:sp>
        <p:nvSpPr>
          <p:cNvPr id="43" name="how O"/>
          <p:cNvSpPr/>
          <p:nvPr/>
        </p:nvSpPr>
        <p:spPr>
          <a:xfrm>
            <a:off x="3535680" y="2267712"/>
            <a:ext cx="262128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4" name="Text 38"/>
          <p:cNvSpPr txBox="1"/>
          <p:nvPr/>
        </p:nvSpPr>
        <p:spPr>
          <a:xfrm>
            <a:off x="3608832" y="2267712"/>
            <a:ext cx="24749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Usage-triggered ladder offers</a:t>
            </a:r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boost-end choice</a:t>
            </a:r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30 days' notice; </a:t>
            </a:r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plan</a:t>
            </a:r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rewards each added line</a:t>
            </a:r>
            <a:endParaRPr lang="en-US" sz="660" dirty="0"/>
          </a:p>
        </p:txBody>
      </p:sp>
      <p:sp>
        <p:nvSpPr>
          <p:cNvPr id="45" name="why O"/>
          <p:cNvSpPr/>
          <p:nvPr/>
        </p:nvSpPr>
        <p:spPr>
          <a:xfrm>
            <a:off x="3535680" y="3090672"/>
            <a:ext cx="26212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6" name="Text 40"/>
          <p:cNvSpPr txBox="1"/>
          <p:nvPr/>
        </p:nvSpPr>
        <p:spPr>
          <a:xfrm>
            <a:off x="3608832" y="3090672"/>
            <a:ext cx="2474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→ family </a:t>
            </a:r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Rp213bn</a:t>
            </a:r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EZnet → IndiHome </a:t>
            </a:r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Rp121bn</a:t>
            </a:r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life value</a:t>
            </a:r>
            <a:endParaRPr lang="en-US" sz="660" dirty="0"/>
          </a:p>
        </p:txBody>
      </p:sp>
      <p:sp>
        <p:nvSpPr>
          <p:cNvPr id="47" name="impact O"/>
          <p:cNvSpPr/>
          <p:nvPr/>
        </p:nvSpPr>
        <p:spPr>
          <a:xfrm>
            <a:off x="3535680" y="3602736"/>
            <a:ext cx="26212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A50021"/>
            </a:solidFill>
            <a:prstDash val="dash"/>
          </a:ln>
        </p:spPr>
      </p:sp>
      <p:sp>
        <p:nvSpPr>
          <p:cNvPr id="48" name="Text 42"/>
          <p:cNvSpPr txBox="1"/>
          <p:nvPr/>
        </p:nvSpPr>
        <p:spPr>
          <a:xfrm>
            <a:off x="3608832" y="3602736"/>
            <a:ext cx="2474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Rp534bn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life value </a:t>
            </a:r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750" dirty="0"/>
          </a:p>
        </p:txBody>
      </p:sp>
      <p:pic>
        <p:nvPicPr>
          <p:cNvPr id="49" name="Image 4" descr="col head M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8400" y="1298448"/>
            <a:ext cx="2621280" cy="292608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6248400" y="1298448"/>
            <a:ext cx="2621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Make staying better</a:t>
            </a:r>
            <a:endParaRPr lang="en-US" sz="1200" dirty="0"/>
          </a:p>
        </p:txBody>
      </p:sp>
      <p:sp>
        <p:nvSpPr>
          <p:cNvPr id="51" name="what M"/>
          <p:cNvSpPr/>
          <p:nvPr/>
        </p:nvSpPr>
        <p:spPr>
          <a:xfrm>
            <a:off x="6248400" y="1664208"/>
            <a:ext cx="26212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2" name="Text 45"/>
          <p:cNvSpPr txBox="1"/>
          <p:nvPr/>
        </p:nvSpPr>
        <p:spPr>
          <a:xfrm>
            <a:off x="6321552" y="1664208"/>
            <a:ext cx="2474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 homes where rivals are strongest by fixing the home experience and saving homes before they leave</a:t>
            </a:r>
            <a:endParaRPr lang="en-US" sz="660" dirty="0"/>
          </a:p>
        </p:txBody>
      </p:sp>
      <p:sp>
        <p:nvSpPr>
          <p:cNvPr id="53" name="how M"/>
          <p:cNvSpPr/>
          <p:nvPr/>
        </p:nvSpPr>
        <p:spPr>
          <a:xfrm>
            <a:off x="6248400" y="2267712"/>
            <a:ext cx="2621280" cy="768096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4" name="Text 47"/>
          <p:cNvSpPr txBox="1"/>
          <p:nvPr/>
        </p:nvSpPr>
        <p:spPr>
          <a:xfrm>
            <a:off x="6321552" y="2267712"/>
            <a:ext cx="247497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Wi-Fi check</a:t>
            </a:r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mesh for </a:t>
            </a:r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75k at-risk homes</a:t>
            </a:r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year, </a:t>
            </a:r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fix-time promise</a:t>
            </a:r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</a:t>
            </a:r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triggers with a hold-out</a:t>
            </a:r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route down </a:t>
            </a:r>
            <a:pPr algn="ctr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only to save</a:t>
            </a:r>
            <a:endParaRPr lang="en-US" sz="660" dirty="0"/>
          </a:p>
        </p:txBody>
      </p:sp>
      <p:sp>
        <p:nvSpPr>
          <p:cNvPr id="55" name="why M"/>
          <p:cNvSpPr/>
          <p:nvPr/>
        </p:nvSpPr>
        <p:spPr>
          <a:xfrm>
            <a:off x="6248400" y="3090672"/>
            <a:ext cx="26212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6" name="Text 49"/>
          <p:cNvSpPr txBox="1"/>
          <p:nvPr/>
        </p:nvSpPr>
        <p:spPr>
          <a:xfrm>
            <a:off x="6321552" y="3090672"/>
            <a:ext cx="2474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Keeping a home is cheaper than winning one</a:t>
            </a:r>
            <a:endParaRPr lang="en-US" sz="660" dirty="0"/>
          </a:p>
        </p:txBody>
      </p:sp>
      <p:sp>
        <p:nvSpPr>
          <p:cNvPr id="57" name="impact M"/>
          <p:cNvSpPr/>
          <p:nvPr/>
        </p:nvSpPr>
        <p:spPr>
          <a:xfrm>
            <a:off x="6248400" y="3602736"/>
            <a:ext cx="262128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9525">
            <a:solidFill>
              <a:srgbClr val="1F2937"/>
            </a:solidFill>
            <a:prstDash val="dash"/>
          </a:ln>
        </p:spPr>
      </p:sp>
      <p:sp>
        <p:nvSpPr>
          <p:cNvPr id="58" name="Text 51"/>
          <p:cNvSpPr txBox="1"/>
          <p:nvPr/>
        </p:nvSpPr>
        <p:spPr>
          <a:xfrm>
            <a:off x="6321552" y="3602736"/>
            <a:ext cx="2474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204k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homes kept by 2031 </a:t>
            </a:r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750" dirty="0"/>
          </a:p>
        </p:txBody>
      </p:sp>
      <p:pic>
        <p:nvPicPr>
          <p:cNvPr id="59" name="Image 5" descr="E b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005072"/>
            <a:ext cx="8046720" cy="292608"/>
          </a:xfrm>
          <a:prstGeom prst="rect">
            <a:avLst/>
          </a:prstGeom>
        </p:spPr>
      </p:pic>
      <p:sp>
        <p:nvSpPr>
          <p:cNvPr id="60" name="badge E"/>
          <p:cNvSpPr/>
          <p:nvPr/>
        </p:nvSpPr>
        <p:spPr>
          <a:xfrm>
            <a:off x="877824" y="4032504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61" name="Text 53"/>
          <p:cNvSpPr txBox="1"/>
          <p:nvPr/>
        </p:nvSpPr>
        <p:spPr>
          <a:xfrm>
            <a:off x="877824" y="403250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1000" dirty="0"/>
          </a:p>
        </p:txBody>
      </p:sp>
      <p:sp>
        <p:nvSpPr>
          <p:cNvPr id="62" name="Text 54"/>
          <p:cNvSpPr txBox="1"/>
          <p:nvPr/>
        </p:nvSpPr>
        <p:spPr>
          <a:xfrm>
            <a:off x="1207008" y="4005072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· Evaluate household value (the foundation):</a:t>
            </a:r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one household identity (opt-in) · household KPIs in the 2027 KPI contracts · one owner of household value</a:t>
            </a:r>
            <a:endParaRPr lang="en-US" sz="700" dirty="0"/>
          </a:p>
        </p:txBody>
      </p:sp>
      <p:sp>
        <p:nvSpPr>
          <p:cNvPr id="63" name="theme band"/>
          <p:cNvSpPr/>
          <p:nvPr/>
        </p:nvSpPr>
        <p:spPr>
          <a:xfrm>
            <a:off x="274320" y="4370832"/>
            <a:ext cx="8595360" cy="384048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/>
        </p:spPr>
      </p:sp>
      <p:sp>
        <p:nvSpPr>
          <p:cNvPr id="64" name="Text 56"/>
          <p:cNvSpPr txBox="1"/>
          <p:nvPr/>
        </p:nvSpPr>
        <p:spPr>
          <a:xfrm>
            <a:off x="347472" y="4370832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Lasting value, responsibly</a:t>
            </a:r>
            <a:endParaRPr lang="en-US" sz="700" dirty="0"/>
          </a:p>
        </p:txBody>
      </p:sp>
      <p:sp>
        <p:nvSpPr>
          <p:cNvPr id="65" name="theme 0"/>
          <p:cNvSpPr/>
          <p:nvPr/>
        </p:nvSpPr>
        <p:spPr>
          <a:xfrm>
            <a:off x="1417320" y="442569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6" name="Text 58"/>
          <p:cNvSpPr txBox="1"/>
          <p:nvPr/>
        </p:nvSpPr>
        <p:spPr>
          <a:xfrm>
            <a:off x="1453896" y="442569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VAT-inclusive price everywhere</a:t>
            </a:r>
            <a:endParaRPr lang="en-US" sz="620" dirty="0"/>
          </a:p>
        </p:txBody>
      </p:sp>
      <p:sp>
        <p:nvSpPr>
          <p:cNvPr id="67" name="theme 1"/>
          <p:cNvSpPr/>
          <p:nvPr/>
        </p:nvSpPr>
        <p:spPr>
          <a:xfrm>
            <a:off x="2898648" y="442569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68" name="Text 60"/>
          <p:cNvSpPr txBox="1"/>
          <p:nvPr/>
        </p:nvSpPr>
        <p:spPr>
          <a:xfrm>
            <a:off x="2935224" y="442569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silent end to a boost</a:t>
            </a:r>
            <a:endParaRPr lang="en-US" sz="620" dirty="0"/>
          </a:p>
        </p:txBody>
      </p:sp>
      <p:sp>
        <p:nvSpPr>
          <p:cNvPr id="69" name="theme 2"/>
          <p:cNvSpPr/>
          <p:nvPr/>
        </p:nvSpPr>
        <p:spPr>
          <a:xfrm>
            <a:off x="4379976" y="442569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0" name="Text 62"/>
          <p:cNvSpPr txBox="1"/>
          <p:nvPr/>
        </p:nvSpPr>
        <p:spPr>
          <a:xfrm>
            <a:off x="4416552" y="442569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First connection without commitment</a:t>
            </a:r>
            <a:endParaRPr lang="en-US" sz="620" dirty="0"/>
          </a:p>
        </p:txBody>
      </p:sp>
      <p:sp>
        <p:nvSpPr>
          <p:cNvPr id="71" name="theme 3"/>
          <p:cNvSpPr/>
          <p:nvPr/>
        </p:nvSpPr>
        <p:spPr>
          <a:xfrm>
            <a:off x="5861304" y="442569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2" name="Text 64"/>
          <p:cNvSpPr txBox="1"/>
          <p:nvPr/>
        </p:nvSpPr>
        <p:spPr>
          <a:xfrm>
            <a:off x="5897880" y="442569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Parental controls in the household plan</a:t>
            </a:r>
            <a:endParaRPr lang="en-US" sz="620" dirty="0"/>
          </a:p>
        </p:txBody>
      </p:sp>
      <p:sp>
        <p:nvSpPr>
          <p:cNvPr id="73" name="theme 4"/>
          <p:cNvSpPr/>
          <p:nvPr/>
        </p:nvSpPr>
        <p:spPr>
          <a:xfrm>
            <a:off x="7342632" y="4425696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74" name="Text 66"/>
          <p:cNvSpPr txBox="1"/>
          <p:nvPr/>
        </p:nvSpPr>
        <p:spPr>
          <a:xfrm>
            <a:off x="7379208" y="4425696"/>
            <a:ext cx="1344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 modems refurbished</a:t>
            </a:r>
            <a:endParaRPr lang="en-US" sz="6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· H: Household fit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roles and routing: Orbit becomes the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flexible start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IndiHome the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family's home hub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and one five-question check routes every household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188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Telkom 1H26 Info Memo ·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Opensignal · </a:t>
            </a:r>
            <a:pPr indent="0" marL="0">
              <a:buNone/>
            </a:pPr>
            <a:r>
              <a:rPr lang="en-US" sz="600" i="1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[3]</a:t>
            </a:r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BPS via GoodStats · Appendix 11 (usage crossover), 13 (household path), 18 (roles and tree)</a:t>
            </a:r>
            <a:endParaRPr lang="en-US" sz="6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6053328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665976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7278624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7891272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</a:t>
            </a:r>
            <a:endParaRPr lang="en-US" sz="650" dirty="0"/>
          </a:p>
        </p:txBody>
      </p:sp>
      <p:sp>
        <p:nvSpPr>
          <p:cNvPr id="13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900" dirty="0"/>
          </a:p>
        </p:txBody>
      </p:sp>
      <p:sp>
        <p:nvSpPr>
          <p:cNvPr id="15" name="zone badge 1"/>
          <p:cNvSpPr/>
          <p:nvPr/>
        </p:nvSpPr>
        <p:spPr>
          <a:xfrm>
            <a:off x="274320" y="868680"/>
            <a:ext cx="274320" cy="274320"/>
          </a:xfrm>
          <a:prstGeom prst="ellipse">
            <a:avLst/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74320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" y="850392"/>
            <a:ext cx="2624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households</a:t>
            </a:r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the product each needs</a:t>
            </a:r>
            <a:endParaRPr lang="en-US" sz="780" dirty="0"/>
          </a:p>
        </p:txBody>
      </p:sp>
      <p:sp>
        <p:nvSpPr>
          <p:cNvPr id="18" name="zone rule 1"/>
          <p:cNvSpPr/>
          <p:nvPr/>
        </p:nvSpPr>
        <p:spPr>
          <a:xfrm>
            <a:off x="621792" y="1197864"/>
            <a:ext cx="2624328" cy="0"/>
          </a:xfrm>
          <a:prstGeom prst="line">
            <a:avLst/>
          </a:prstGeom>
          <a:noFill/>
          <a:ln w="15875">
            <a:solidFill>
              <a:srgbClr val="A50021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61872"/>
          <a:ext cx="297180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658368"/>
                <a:gridCol w="1078992"/>
              </a:tblGrid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Household need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Ambition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Lead product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Families of 4–6+, streaming, children (46.5% of homes have 4–5 people </a:t>
                      </a:r>
                      <a:pPr algn="l" indent="0" marL="0">
                        <a:buNone/>
                      </a:pPr>
                      <a:r>
                        <a:rPr lang="en-US" sz="590" baseline="3000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[3]</a:t>
                      </a:r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Win and grow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IndiHome hub + household plan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Performance: gaming, hybrid work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IndiHome higher tiers + Wi-Fi promise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Large or premium homes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Grow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IndiHome + mesh or FTTR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Budget first connection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 selectively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Orbit start; EZnet only where a spare port pays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Renting or moving (21% of Jakarta homes rent </a:t>
                      </a:r>
                      <a:pPr algn="l" indent="0" marL="0">
                        <a:buNone/>
                      </a:pPr>
                      <a:r>
                        <a:rPr lang="en-US" sz="590" baseline="3000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[3]</a:t>
                      </a:r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 and keep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Orbit; EZnet Wireless for heavy use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Fiber-dark homes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EZnet Wireless or Orbit, by capacity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 micro-business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Route out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IndiBiz (756k subscribers </a:t>
                      </a:r>
                      <a:pPr algn="l" indent="0" marL="0">
                        <a:buNone/>
                      </a:pPr>
                      <a:r>
                        <a:rPr lang="en-US" sz="590" baseline="30000" dirty="0">
                          <a:solidFill>
                            <a:srgbClr val="475569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[1]</a:t>
                      </a:r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top doing"/>
          <p:cNvSpPr/>
          <p:nvPr/>
        </p:nvSpPr>
        <p:spPr>
          <a:xfrm>
            <a:off x="274320" y="3017520"/>
            <a:ext cx="2971800" cy="896112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347472" y="3035808"/>
            <a:ext cx="28346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Telkomsel stops doing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Selling IndiHome, Orbit and EZnet Wireless as interchangeable answers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Paying acquisition on activation alone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Letting a boost end without a choice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Pricing on four VAT bases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Offering a cheaper plan to sell, instead of to save a home that is leaving</a:t>
            </a:r>
            <a:endParaRPr lang="en-US" sz="610" dirty="0"/>
          </a:p>
        </p:txBody>
      </p:sp>
      <p:sp>
        <p:nvSpPr>
          <p:cNvPr id="22" name="zone badge 2"/>
          <p:cNvSpPr/>
          <p:nvPr/>
        </p:nvSpPr>
        <p:spPr>
          <a:xfrm>
            <a:off x="3401568" y="868680"/>
            <a:ext cx="274320" cy="274320"/>
          </a:xfrm>
          <a:prstGeom prst="ellipse">
            <a:avLst/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3" name="Text 19"/>
          <p:cNvSpPr txBox="1"/>
          <p:nvPr/>
        </p:nvSpPr>
        <p:spPr>
          <a:xfrm>
            <a:off x="3401568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3749040" y="850392"/>
            <a:ext cx="2715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five-question household check</a:t>
            </a:r>
            <a:endParaRPr lang="en-US" sz="780" dirty="0"/>
          </a:p>
        </p:txBody>
      </p:sp>
      <p:sp>
        <p:nvSpPr>
          <p:cNvPr id="25" name="zone rule 2"/>
          <p:cNvSpPr/>
          <p:nvPr/>
        </p:nvSpPr>
        <p:spPr>
          <a:xfrm>
            <a:off x="3749040" y="1197864"/>
            <a:ext cx="2715768" cy="0"/>
          </a:xfrm>
          <a:prstGeom prst="line">
            <a:avLst/>
          </a:prstGeom>
          <a:noFill/>
          <a:ln w="15875">
            <a:solidFill>
              <a:srgbClr val="A50021"/>
            </a:solidFill>
            <a:prstDash val="solid"/>
          </a:ln>
        </p:spPr>
      </p:sp>
      <p:sp>
        <p:nvSpPr>
          <p:cNvPr id="26" name="q0"/>
          <p:cNvSpPr/>
          <p:nvPr/>
        </p:nvSpPr>
        <p:spPr>
          <a:xfrm>
            <a:off x="3401568" y="1261872"/>
            <a:ext cx="978408" cy="384048"/>
          </a:xfrm>
          <a:prstGeom prst="roundRect">
            <a:avLst>
              <a:gd name="adj" fmla="val 11905"/>
            </a:avLst>
          </a:prstGeom>
          <a:solidFill>
            <a:srgbClr val="1F2937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3447288" y="1261872"/>
            <a:ext cx="886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pPr algn="ctr"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Stay at this address 12+ months?</a:t>
            </a:r>
            <a:endParaRPr lang="en-US" sz="620" dirty="0"/>
          </a:p>
        </p:txBody>
      </p:sp>
      <p:sp>
        <p:nvSpPr>
          <p:cNvPr id="28" name="line"/>
          <p:cNvSpPr/>
          <p:nvPr/>
        </p:nvSpPr>
        <p:spPr>
          <a:xfrm>
            <a:off x="4379976" y="1453896"/>
            <a:ext cx="5486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q1"/>
          <p:cNvSpPr/>
          <p:nvPr/>
        </p:nvSpPr>
        <p:spPr>
          <a:xfrm>
            <a:off x="4434840" y="1261872"/>
            <a:ext cx="978408" cy="384048"/>
          </a:xfrm>
          <a:prstGeom prst="roundRect">
            <a:avLst>
              <a:gd name="adj" fmla="val 11905"/>
            </a:avLst>
          </a:prstGeom>
          <a:solidFill>
            <a:srgbClr val="1F2937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480560" y="1261872"/>
            <a:ext cx="886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pPr algn="ctr"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Fiber with a spare port?</a:t>
            </a:r>
            <a:endParaRPr lang="en-US" sz="620" dirty="0"/>
          </a:p>
        </p:txBody>
      </p:sp>
      <p:sp>
        <p:nvSpPr>
          <p:cNvPr id="31" name="line"/>
          <p:cNvSpPr/>
          <p:nvPr/>
        </p:nvSpPr>
        <p:spPr>
          <a:xfrm>
            <a:off x="5413248" y="1453896"/>
            <a:ext cx="54864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2" name="q2"/>
          <p:cNvSpPr/>
          <p:nvPr/>
        </p:nvSpPr>
        <p:spPr>
          <a:xfrm>
            <a:off x="5468112" y="1261872"/>
            <a:ext cx="978408" cy="384048"/>
          </a:xfrm>
          <a:prstGeom prst="roundRect">
            <a:avLst>
              <a:gd name="adj" fmla="val 11905"/>
            </a:avLst>
          </a:prstGeom>
          <a:solidFill>
            <a:srgbClr val="1F2937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5513832" y="1261872"/>
            <a:ext cx="886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pPr algn="ctr"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Usage up to ~125 GB a month?</a:t>
            </a:r>
            <a:endParaRPr lang="en-US" sz="620" dirty="0"/>
          </a:p>
        </p:txBody>
      </p:sp>
      <p:sp>
        <p:nvSpPr>
          <p:cNvPr id="34" name="Text 30"/>
          <p:cNvSpPr txBox="1"/>
          <p:nvPr/>
        </p:nvSpPr>
        <p:spPr>
          <a:xfrm>
            <a:off x="4270248" y="1737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~125 GB</a:t>
            </a:r>
            <a:endParaRPr lang="en-US" sz="630" dirty="0"/>
          </a:p>
        </p:txBody>
      </p:sp>
      <p:sp>
        <p:nvSpPr>
          <p:cNvPr id="35" name="Text 31"/>
          <p:cNvSpPr txBox="1"/>
          <p:nvPr/>
        </p:nvSpPr>
        <p:spPr>
          <a:xfrm>
            <a:off x="5413248" y="17373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Above ~125 GB, or streaming, work or gaming</a:t>
            </a:r>
            <a:endParaRPr lang="en-US" sz="600" dirty="0"/>
          </a:p>
        </p:txBody>
      </p:sp>
      <p:sp>
        <p:nvSpPr>
          <p:cNvPr id="36" name="rowlab"/>
          <p:cNvSpPr/>
          <p:nvPr/>
        </p:nvSpPr>
        <p:spPr>
          <a:xfrm>
            <a:off x="3401568" y="2029968"/>
            <a:ext cx="822960" cy="384048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3438144" y="2029968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staying</a:t>
            </a:r>
            <a:endParaRPr lang="en-US" sz="620" dirty="0"/>
          </a:p>
        </p:txBody>
      </p:sp>
      <p:sp>
        <p:nvSpPr>
          <p:cNvPr id="38" name="cell Orbit"/>
          <p:cNvSpPr/>
          <p:nvPr/>
        </p:nvSpPr>
        <p:spPr>
          <a:xfrm>
            <a:off x="4270248" y="2029968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9" name="Text 35"/>
          <p:cNvSpPr txBox="1"/>
          <p:nvPr/>
        </p:nvSpPr>
        <p:spPr>
          <a:xfrm>
            <a:off x="4270248" y="202996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</a:t>
            </a:r>
            <a:endParaRPr lang="en-US" sz="750" dirty="0"/>
          </a:p>
        </p:txBody>
      </p:sp>
      <p:sp>
        <p:nvSpPr>
          <p:cNvPr id="40" name="cell EZnet Wireless"/>
          <p:cNvSpPr/>
          <p:nvPr/>
        </p:nvSpPr>
        <p:spPr>
          <a:xfrm>
            <a:off x="5413248" y="2029968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475569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1" name="Text 37"/>
          <p:cNvSpPr txBox="1"/>
          <p:nvPr/>
        </p:nvSpPr>
        <p:spPr>
          <a:xfrm>
            <a:off x="5413248" y="2029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EZnet Wireless</a:t>
            </a:r>
            <a:endParaRPr lang="en-US" sz="750" dirty="0"/>
          </a:p>
        </p:txBody>
      </p:sp>
      <p:sp>
        <p:nvSpPr>
          <p:cNvPr id="42" name="rowlab"/>
          <p:cNvSpPr/>
          <p:nvPr/>
        </p:nvSpPr>
        <p:spPr>
          <a:xfrm>
            <a:off x="3401568" y="2459736"/>
            <a:ext cx="822960" cy="384048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43" name="Text 39"/>
          <p:cNvSpPr txBox="1"/>
          <p:nvPr/>
        </p:nvSpPr>
        <p:spPr>
          <a:xfrm>
            <a:off x="3438144" y="2459736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Staying, no fiber</a:t>
            </a:r>
            <a:endParaRPr lang="en-US" sz="620" dirty="0"/>
          </a:p>
        </p:txBody>
      </p:sp>
      <p:sp>
        <p:nvSpPr>
          <p:cNvPr id="44" name="cell Orbit"/>
          <p:cNvSpPr/>
          <p:nvPr/>
        </p:nvSpPr>
        <p:spPr>
          <a:xfrm>
            <a:off x="4270248" y="2459736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5" name="Text 41"/>
          <p:cNvSpPr txBox="1"/>
          <p:nvPr/>
        </p:nvSpPr>
        <p:spPr>
          <a:xfrm>
            <a:off x="4270248" y="245973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</a:t>
            </a:r>
            <a:endParaRPr lang="en-US" sz="750" dirty="0"/>
          </a:p>
        </p:txBody>
      </p:sp>
      <p:sp>
        <p:nvSpPr>
          <p:cNvPr id="46" name="cell EZnet Wireless"/>
          <p:cNvSpPr/>
          <p:nvPr/>
        </p:nvSpPr>
        <p:spPr>
          <a:xfrm>
            <a:off x="5413248" y="2459736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475569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7" name="Text 43"/>
          <p:cNvSpPr txBox="1"/>
          <p:nvPr/>
        </p:nvSpPr>
        <p:spPr>
          <a:xfrm>
            <a:off x="5413248" y="245973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EZnet Wireless</a:t>
            </a:r>
            <a:endParaRPr lang="en-US" sz="750" dirty="0"/>
          </a:p>
        </p:txBody>
      </p:sp>
      <p:sp>
        <p:nvSpPr>
          <p:cNvPr id="48" name="rowlab"/>
          <p:cNvSpPr/>
          <p:nvPr/>
        </p:nvSpPr>
        <p:spPr>
          <a:xfrm>
            <a:off x="3401568" y="2889504"/>
            <a:ext cx="822960" cy="384048"/>
          </a:xfrm>
          <a:prstGeom prst="roundRect">
            <a:avLst>
              <a:gd name="adj" fmla="val 9524"/>
            </a:avLst>
          </a:prstGeom>
          <a:solidFill>
            <a:srgbClr val="F1F5F9"/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3438144" y="2889504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Staying, fiber</a:t>
            </a:r>
            <a:endParaRPr lang="en-US" sz="620" dirty="0"/>
          </a:p>
        </p:txBody>
      </p:sp>
      <p:sp>
        <p:nvSpPr>
          <p:cNvPr id="50" name="cell EZnet"/>
          <p:cNvSpPr/>
          <p:nvPr/>
        </p:nvSpPr>
        <p:spPr>
          <a:xfrm>
            <a:off x="4270248" y="2889504"/>
            <a:ext cx="1097280" cy="384048"/>
          </a:xfrm>
          <a:prstGeom prst="roundRect">
            <a:avLst>
              <a:gd name="adj" fmla="val 9524"/>
            </a:avLst>
          </a:prstGeom>
          <a:solidFill>
            <a:srgbClr val="94A3B8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1" name="Text 47"/>
          <p:cNvSpPr txBox="1"/>
          <p:nvPr/>
        </p:nvSpPr>
        <p:spPr>
          <a:xfrm>
            <a:off x="4270248" y="288950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EZnet</a:t>
            </a:r>
            <a:endParaRPr lang="en-US" sz="750" dirty="0"/>
          </a:p>
        </p:txBody>
      </p:sp>
      <p:sp>
        <p:nvSpPr>
          <p:cNvPr id="52" name="cell IndiHome"/>
          <p:cNvSpPr/>
          <p:nvPr/>
        </p:nvSpPr>
        <p:spPr>
          <a:xfrm>
            <a:off x="5413248" y="2889504"/>
            <a:ext cx="1188720" cy="384048"/>
          </a:xfrm>
          <a:prstGeom prst="roundRect">
            <a:avLst>
              <a:gd name="adj" fmla="val 9524"/>
            </a:avLst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3" name="Text 49"/>
          <p:cNvSpPr txBox="1"/>
          <p:nvPr/>
        </p:nvSpPr>
        <p:spPr>
          <a:xfrm>
            <a:off x="5413248" y="288950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</a:t>
            </a:r>
            <a:endParaRPr lang="en-US" sz="750" dirty="0"/>
          </a:p>
        </p:txBody>
      </p:sp>
      <p:sp>
        <p:nvSpPr>
          <p:cNvPr id="54" name="addon 4"/>
          <p:cNvSpPr/>
          <p:nvPr/>
        </p:nvSpPr>
        <p:spPr>
          <a:xfrm>
            <a:off x="3401568" y="3337560"/>
            <a:ext cx="30632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5" name="Text 51"/>
          <p:cNvSpPr txBox="1"/>
          <p:nvPr/>
        </p:nvSpPr>
        <p:spPr>
          <a:xfrm>
            <a:off x="3456432" y="333756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6+ devices or a large home → </a:t>
            </a:r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Wi-Fi check, mesh or FTTR</a:t>
            </a:r>
            <a:endParaRPr lang="en-US" sz="630" dirty="0"/>
          </a:p>
        </p:txBody>
      </p:sp>
      <p:sp>
        <p:nvSpPr>
          <p:cNvPr id="56" name="addon 5"/>
          <p:cNvSpPr/>
          <p:nvPr/>
        </p:nvSpPr>
        <p:spPr>
          <a:xfrm>
            <a:off x="3401568" y="3584448"/>
            <a:ext cx="3063240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3456432" y="358444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2+ Telkomsel lines → </a:t>
            </a:r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plan</a:t>
            </a:r>
            <a:endParaRPr lang="en-US" sz="630" dirty="0"/>
          </a:p>
        </p:txBody>
      </p:sp>
      <p:sp>
        <p:nvSpPr>
          <p:cNvPr id="58" name="Text 54"/>
          <p:cNvSpPr txBox="1"/>
          <p:nvPr/>
        </p:nvSpPr>
        <p:spPr>
          <a:xfrm>
            <a:off x="3401568" y="384048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Runs in the app, web, GraPARI, 188 and agents; offers rest on consent (PDP law); one VAT-inclusive price.</a:t>
            </a:r>
            <a:endParaRPr lang="en-US" sz="590" dirty="0"/>
          </a:p>
        </p:txBody>
      </p:sp>
      <p:sp>
        <p:nvSpPr>
          <p:cNvPr id="59" name="zone badge 3"/>
          <p:cNvSpPr/>
          <p:nvPr/>
        </p:nvSpPr>
        <p:spPr>
          <a:xfrm>
            <a:off x="6601968" y="868680"/>
            <a:ext cx="274320" cy="274320"/>
          </a:xfrm>
          <a:prstGeom prst="ellipse">
            <a:avLst/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60" name="Text 56"/>
          <p:cNvSpPr txBox="1"/>
          <p:nvPr/>
        </p:nvSpPr>
        <p:spPr>
          <a:xfrm>
            <a:off x="6601968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61" name="Text 57"/>
          <p:cNvSpPr txBox="1"/>
          <p:nvPr/>
        </p:nvSpPr>
        <p:spPr>
          <a:xfrm>
            <a:off x="6949440" y="8503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household's path</a:t>
            </a:r>
            <a:pPr indent="0" marL="0">
              <a:buNone/>
            </a:pPr>
            <a:r>
              <a:rPr lang="en-US" sz="7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contribution a month </a:t>
            </a:r>
            <a:pPr indent="0" marL="0">
              <a:buNone/>
            </a:pPr>
            <a:r>
              <a:rPr lang="en-US" sz="78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780" dirty="0"/>
          </a:p>
        </p:txBody>
      </p:sp>
      <p:sp>
        <p:nvSpPr>
          <p:cNvPr id="62" name="zone rule 3"/>
          <p:cNvSpPr/>
          <p:nvPr/>
        </p:nvSpPr>
        <p:spPr>
          <a:xfrm>
            <a:off x="6949440" y="1197864"/>
            <a:ext cx="1920240" cy="0"/>
          </a:xfrm>
          <a:prstGeom prst="line">
            <a:avLst/>
          </a:prstGeom>
          <a:noFill/>
          <a:ln w="15875">
            <a:solidFill>
              <a:srgbClr val="A50021"/>
            </a:solidFill>
            <a:prstDash val="solid"/>
          </a:ln>
        </p:spPr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01968" y="1261872"/>
          <a:ext cx="2267712" cy="914400"/>
        </p:xfrm>
        <a:graphic>
          <a:graphicData uri="http://schemas.openxmlformats.org/drawingml/2006/table">
            <a:tbl>
              <a:tblPr/>
              <a:tblGrid>
                <a:gridCol w="786384"/>
                <a:gridCol w="740664"/>
                <a:gridCol w="740664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vs staying mobile-only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vs a rival connecting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Orbit start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−Rp24.9k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1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+Rp19.4k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IndiHome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+Rp2.2k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+Rp46.5k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Plus a household-plan line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+Rp19.8k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+Rp19.8k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path note"/>
          <p:cNvSpPr/>
          <p:nvPr/>
        </p:nvSpPr>
        <p:spPr>
          <a:xfrm>
            <a:off x="6601968" y="2487168"/>
            <a:ext cx="2267712" cy="13716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</p:spPr>
      </p:sp>
      <p:sp>
        <p:nvSpPr>
          <p:cNvPr id="65" name="Text 60"/>
          <p:cNvSpPr txBox="1"/>
          <p:nvPr/>
        </p:nvSpPr>
        <p:spPr>
          <a:xfrm>
            <a:off x="6675120" y="2523744"/>
            <a:ext cx="212140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the home check targets families a rival is about to connect.</a:t>
            </a:r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Telkomsel family of three lines (Rp138k of mobile revenue) pays from </a:t>
            </a:r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 one</a:t>
            </a:r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when a rival would otherwise take the home; the value then comes from the steps up to IndiHome and the added lines.</a:t>
            </a:r>
            <a:endParaRPr lang="en-US" sz="640" dirty="0"/>
          </a:p>
        </p:txBody>
      </p:sp>
      <p:sp>
        <p:nvSpPr>
          <p:cNvPr id="66" name="Text 61"/>
          <p:cNvSpPr txBox="1"/>
          <p:nvPr/>
        </p:nvSpPr>
        <p:spPr>
          <a:xfrm>
            <a:off x="274320" y="3986784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Telkomsel wins without leading on price</a:t>
            </a:r>
            <a:endParaRPr lang="en-US" sz="800" dirty="0"/>
          </a:p>
        </p:txBody>
      </p:sp>
      <p:sp>
        <p:nvSpPr>
          <p:cNvPr id="67" name="win Fit"/>
          <p:cNvSpPr/>
          <p:nvPr/>
        </p:nvSpPr>
        <p:spPr>
          <a:xfrm>
            <a:off x="274320" y="4206240"/>
            <a:ext cx="21031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68" name="win dot"/>
          <p:cNvSpPr/>
          <p:nvPr/>
        </p:nvSpPr>
        <p:spPr>
          <a:xfrm>
            <a:off x="347472" y="4315968"/>
            <a:ext cx="292608" cy="292608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69" name="Text 64"/>
          <p:cNvSpPr txBox="1"/>
          <p:nvPr/>
        </p:nvSpPr>
        <p:spPr>
          <a:xfrm>
            <a:off x="347472" y="4315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900" dirty="0"/>
          </a:p>
        </p:txBody>
      </p:sp>
      <p:sp>
        <p:nvSpPr>
          <p:cNvPr id="70" name="Text 65"/>
          <p:cNvSpPr txBox="1"/>
          <p:nvPr/>
        </p:nvSpPr>
        <p:spPr>
          <a:xfrm>
            <a:off x="704088" y="422452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check across five products; Orbit's no-commitment start</a:t>
            </a:r>
            <a:endParaRPr lang="en-US" sz="640" dirty="0"/>
          </a:p>
        </p:txBody>
      </p:sp>
      <p:sp>
        <p:nvSpPr>
          <p:cNvPr id="71" name="win Family relationship"/>
          <p:cNvSpPr/>
          <p:nvPr/>
        </p:nvSpPr>
        <p:spPr>
          <a:xfrm>
            <a:off x="2441448" y="4206240"/>
            <a:ext cx="21031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72" name="win dot"/>
          <p:cNvSpPr/>
          <p:nvPr/>
        </p:nvSpPr>
        <p:spPr>
          <a:xfrm>
            <a:off x="2514600" y="4315968"/>
            <a:ext cx="292608" cy="292608"/>
          </a:xfrm>
          <a:prstGeom prst="ellipse">
            <a:avLst/>
          </a:prstGeom>
          <a:solidFill>
            <a:srgbClr val="A50021"/>
          </a:solidFill>
          <a:ln/>
        </p:spPr>
      </p:sp>
      <p:sp>
        <p:nvSpPr>
          <p:cNvPr id="73" name="Text 68"/>
          <p:cNvSpPr txBox="1"/>
          <p:nvPr/>
        </p:nvSpPr>
        <p:spPr>
          <a:xfrm>
            <a:off x="2514600" y="4315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900" dirty="0"/>
          </a:p>
        </p:txBody>
      </p:sp>
      <p:sp>
        <p:nvSpPr>
          <p:cNvPr id="74" name="Text 69"/>
          <p:cNvSpPr txBox="1"/>
          <p:nvPr/>
        </p:nvSpPr>
        <p:spPr>
          <a:xfrm>
            <a:off x="2871216" y="422452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 relationship</a:t>
            </a:r>
            <a:endParaRPr lang="en-US" sz="640" dirty="0"/>
          </a:p>
          <a:p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153.5M</a:t>
            </a:r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mobile customers </a:t>
            </a:r>
            <a:pPr indent="0" marL="0">
              <a:buNone/>
            </a:pPr>
            <a:r>
              <a:rPr lang="en-US" sz="64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[1]</a:t>
            </a:r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the household plan</a:t>
            </a:r>
            <a:endParaRPr lang="en-US" sz="640" dirty="0"/>
          </a:p>
        </p:txBody>
      </p:sp>
      <p:sp>
        <p:nvSpPr>
          <p:cNvPr id="75" name="win Home experience"/>
          <p:cNvSpPr/>
          <p:nvPr/>
        </p:nvSpPr>
        <p:spPr>
          <a:xfrm>
            <a:off x="4608576" y="4206240"/>
            <a:ext cx="21031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76" name="win dot"/>
          <p:cNvSpPr/>
          <p:nvPr/>
        </p:nvSpPr>
        <p:spPr>
          <a:xfrm>
            <a:off x="4681728" y="4315968"/>
            <a:ext cx="292608" cy="292608"/>
          </a:xfrm>
          <a:prstGeom prst="ellipse">
            <a:avLst/>
          </a:prstGeom>
          <a:solidFill>
            <a:srgbClr val="1F2937"/>
          </a:solidFill>
          <a:ln/>
        </p:spPr>
      </p:sp>
      <p:sp>
        <p:nvSpPr>
          <p:cNvPr id="77" name="Text 72"/>
          <p:cNvSpPr txBox="1"/>
          <p:nvPr/>
        </p:nvSpPr>
        <p:spPr>
          <a:xfrm>
            <a:off x="4681728" y="4315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900" dirty="0"/>
          </a:p>
        </p:txBody>
      </p:sp>
      <p:sp>
        <p:nvSpPr>
          <p:cNvPr id="78" name="Text 73"/>
          <p:cNvSpPr txBox="1"/>
          <p:nvPr/>
        </p:nvSpPr>
        <p:spPr>
          <a:xfrm>
            <a:off x="5038344" y="422452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experience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Whole-home Wi-Fi; fix-time promise</a:t>
            </a:r>
            <a:endParaRPr lang="en-US" sz="640" dirty="0"/>
          </a:p>
        </p:txBody>
      </p:sp>
      <p:sp>
        <p:nvSpPr>
          <p:cNvPr id="79" name="win Reach"/>
          <p:cNvSpPr/>
          <p:nvPr/>
        </p:nvSpPr>
        <p:spPr>
          <a:xfrm>
            <a:off x="6775704" y="4206240"/>
            <a:ext cx="2103120" cy="512064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80" name="win dot"/>
          <p:cNvSpPr/>
          <p:nvPr/>
        </p:nvSpPr>
        <p:spPr>
          <a:xfrm>
            <a:off x="6848856" y="4315968"/>
            <a:ext cx="292608" cy="292608"/>
          </a:xfrm>
          <a:prstGeom prst="ellipse">
            <a:avLst/>
          </a:prstGeom>
          <a:solidFill>
            <a:srgbClr val="475569"/>
          </a:solidFill>
          <a:ln/>
        </p:spPr>
      </p:sp>
      <p:sp>
        <p:nvSpPr>
          <p:cNvPr id="81" name="Text 76"/>
          <p:cNvSpPr txBox="1"/>
          <p:nvPr/>
        </p:nvSpPr>
        <p:spPr>
          <a:xfrm>
            <a:off x="6848856" y="43159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900" dirty="0"/>
          </a:p>
        </p:txBody>
      </p:sp>
      <p:sp>
        <p:nvSpPr>
          <p:cNvPr id="82" name="Text 77"/>
          <p:cNvSpPr txBox="1"/>
          <p:nvPr/>
        </p:nvSpPr>
        <p:spPr>
          <a:xfrm>
            <a:off x="7205472" y="4224528"/>
            <a:ext cx="16276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</a:t>
            </a:r>
            <a:endParaRPr lang="en-US" sz="640" dirty="0"/>
          </a:p>
          <a:p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Widest footprint; the only scale ISP in Maluku–Papua </a:t>
            </a:r>
            <a:pPr indent="0" marL="0">
              <a:buNone/>
            </a:pPr>
            <a:r>
              <a:rPr lang="en-US" sz="640" baseline="300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[2]</a:t>
            </a:r>
            <a:endParaRPr lang="en-US" sz="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Implementation: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eight weeks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to validate,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six months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randomised tests, and national scale only after each gate's pass mark is met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188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Appendix 19 (initiatives and RACI), 20 (gates and KPIs), 25 (risks and feasibility). VP titles as reported in Bisnis; other functions generic.</a:t>
            </a:r>
            <a:endParaRPr lang="en-US" sz="6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6053328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665976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7278624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7891272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</a:t>
            </a:r>
            <a:endParaRPr lang="en-US" sz="650" dirty="0"/>
          </a:p>
        </p:txBody>
      </p:sp>
      <p:sp>
        <p:nvSpPr>
          <p:cNvPr id="13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900" dirty="0"/>
          </a:p>
        </p:txBody>
      </p:sp>
      <p:sp>
        <p:nvSpPr>
          <p:cNvPr id="15" name="zone badge 1"/>
          <p:cNvSpPr/>
          <p:nvPr/>
        </p:nvSpPr>
        <p:spPr>
          <a:xfrm>
            <a:off x="274320" y="868680"/>
            <a:ext cx="274320" cy="274320"/>
          </a:xfrm>
          <a:prstGeom prst="ellipse">
            <a:avLst/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74320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" y="850392"/>
            <a:ext cx="2167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owns what</a:t>
            </a:r>
            <a:endParaRPr lang="en-US" sz="800" dirty="0"/>
          </a:p>
        </p:txBody>
      </p:sp>
      <p:sp>
        <p:nvSpPr>
          <p:cNvPr id="18" name="zone rule 1"/>
          <p:cNvSpPr/>
          <p:nvPr/>
        </p:nvSpPr>
        <p:spPr>
          <a:xfrm>
            <a:off x="621792" y="1197864"/>
            <a:ext cx="2167128" cy="0"/>
          </a:xfrm>
          <a:prstGeom prst="line">
            <a:avLst/>
          </a:prstGeom>
          <a:noFill/>
          <a:ln w="15875">
            <a:solidFill>
              <a:srgbClr val="A50021"/>
            </a:solidFill>
            <a:prstDash val="solid"/>
          </a:ln>
        </p:spPr>
      </p:sp>
      <p:sp>
        <p:nvSpPr>
          <p:cNvPr id="19" name="owner"/>
          <p:cNvSpPr/>
          <p:nvPr/>
        </p:nvSpPr>
        <p:spPr>
          <a:xfrm>
            <a:off x="274320" y="1280160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 txBox="1"/>
          <p:nvPr/>
        </p:nvSpPr>
        <p:spPr>
          <a:xfrm>
            <a:off x="329184" y="1280160"/>
            <a:ext cx="24048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P&amp;L owner</a:t>
            </a:r>
            <a:pPr algn="ctr"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(CEO office)</a:t>
            </a:r>
            <a:endParaRPr lang="en-US" sz="640" dirty="0"/>
          </a:p>
          <a:p>
            <a:pPr algn="ctr" indent="0" marL="0">
              <a:buNone/>
            </a:pPr>
            <a:r>
              <a:rPr lang="en-US" sz="64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KPIs, one budget, shared bonus pool</a:t>
            </a:r>
            <a:endParaRPr lang="en-US" sz="640" dirty="0"/>
          </a:p>
        </p:txBody>
      </p:sp>
      <p:sp>
        <p:nvSpPr>
          <p:cNvPr id="21" name="line"/>
          <p:cNvSpPr/>
          <p:nvPr/>
        </p:nvSpPr>
        <p:spPr>
          <a:xfrm>
            <a:off x="1531620" y="1700784"/>
            <a:ext cx="0" cy="109728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2" name="vp 0"/>
          <p:cNvSpPr/>
          <p:nvPr/>
        </p:nvSpPr>
        <p:spPr>
          <a:xfrm>
            <a:off x="274320" y="1810512"/>
            <a:ext cx="2514600" cy="475488"/>
          </a:xfrm>
          <a:prstGeom prst="roundRect">
            <a:avLst>
              <a:gd name="adj" fmla="val 9615"/>
            </a:avLst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329184" y="1810512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 Home Broadband &amp; FMC Consumer Marketing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 check, roles, boost-end choice, household plan</a:t>
            </a:r>
            <a:endParaRPr lang="en-US" sz="620" dirty="0"/>
          </a:p>
        </p:txBody>
      </p:sp>
      <p:sp>
        <p:nvSpPr>
          <p:cNvPr id="24" name="vp 1"/>
          <p:cNvSpPr/>
          <p:nvPr/>
        </p:nvSpPr>
        <p:spPr>
          <a:xfrm>
            <a:off x="274320" y="2359152"/>
            <a:ext cx="2514600" cy="475488"/>
          </a:xfrm>
          <a:prstGeom prst="roundRect">
            <a:avLst>
              <a:gd name="adj" fmla="val 9615"/>
            </a:avLst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5" name="Text 22"/>
          <p:cNvSpPr txBox="1"/>
          <p:nvPr/>
        </p:nvSpPr>
        <p:spPr>
          <a:xfrm>
            <a:off x="329184" y="2359152"/>
            <a:ext cx="2404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VP Household Consumer Business Strategy Mgmt</a:t>
            </a:r>
            <a:endParaRPr lang="en-US" sz="620" dirty="0"/>
          </a:p>
          <a:p>
            <a:pPr algn="ctr"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check, ladder offers, triggers (with CVM)</a:t>
            </a:r>
            <a:endParaRPr lang="en-US" sz="620" dirty="0"/>
          </a:p>
        </p:txBody>
      </p:sp>
      <p:sp>
        <p:nvSpPr>
          <p:cNvPr id="26" name="line"/>
          <p:cNvSpPr/>
          <p:nvPr/>
        </p:nvSpPr>
        <p:spPr>
          <a:xfrm>
            <a:off x="1531620" y="2834640"/>
            <a:ext cx="0" cy="9144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27" name="fn Billing and IT"/>
          <p:cNvSpPr/>
          <p:nvPr/>
        </p:nvSpPr>
        <p:spPr>
          <a:xfrm>
            <a:off x="274320" y="2944368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310896" y="2944368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Billing and IT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boost-end test</a:t>
            </a:r>
            <a:endParaRPr lang="en-US" sz="600" dirty="0"/>
          </a:p>
        </p:txBody>
      </p:sp>
      <p:sp>
        <p:nvSpPr>
          <p:cNvPr id="29" name="fn Network and CPE"/>
          <p:cNvSpPr/>
          <p:nvPr/>
        </p:nvSpPr>
        <p:spPr>
          <a:xfrm>
            <a:off x="1554480" y="2944368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1591056" y="2944368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Network and CPE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Wi-Fi promise, mesh</a:t>
            </a:r>
            <a:endParaRPr lang="en-US" sz="600" dirty="0"/>
          </a:p>
        </p:txBody>
      </p:sp>
      <p:sp>
        <p:nvSpPr>
          <p:cNvPr id="31" name="fn InfraNexia"/>
          <p:cNvSpPr/>
          <p:nvPr/>
        </p:nvSpPr>
        <p:spPr>
          <a:xfrm>
            <a:off x="274320" y="3364992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2" name="Text 29"/>
          <p:cNvSpPr txBox="1"/>
          <p:nvPr/>
        </p:nvSpPr>
        <p:spPr>
          <a:xfrm>
            <a:off x="310896" y="3364992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InfraNexia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data, port fill</a:t>
            </a:r>
            <a:endParaRPr lang="en-US" sz="600" dirty="0"/>
          </a:p>
        </p:txBody>
      </p:sp>
      <p:sp>
        <p:nvSpPr>
          <p:cNvPr id="33" name="fn Finance"/>
          <p:cNvSpPr/>
          <p:nvPr/>
        </p:nvSpPr>
        <p:spPr>
          <a:xfrm>
            <a:off x="1554480" y="3364992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4" name="Text 31"/>
          <p:cNvSpPr txBox="1"/>
          <p:nvPr/>
        </p:nvSpPr>
        <p:spPr>
          <a:xfrm>
            <a:off x="1591056" y="3364992"/>
            <a:ext cx="1161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Finance</a:t>
            </a:r>
            <a:endParaRPr lang="en-US" sz="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KPIs, cost cap</a:t>
            </a:r>
            <a:endParaRPr lang="en-US" sz="600" dirty="0"/>
          </a:p>
        </p:txBody>
      </p:sp>
      <p:sp>
        <p:nvSpPr>
          <p:cNvPr id="35" name="critical path"/>
          <p:cNvSpPr/>
          <p:nvPr/>
        </p:nvSpPr>
        <p:spPr>
          <a:xfrm>
            <a:off x="274320" y="3822192"/>
            <a:ext cx="2514600" cy="896112"/>
          </a:xfrm>
          <a:prstGeom prst="roundRect">
            <a:avLst>
              <a:gd name="adj" fmla="val 6122"/>
            </a:avLst>
          </a:prstGeom>
          <a:solidFill>
            <a:srgbClr val="F1F5F9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47472" y="3840480"/>
            <a:ext cx="23774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 path: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Phase 0 decisions (KPI contracts, P&amp;L owner, InfraNexia data) → </a:t>
            </a:r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household identity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→ home check, household plan and triggers. In parallel: the fit check and the </a:t>
            </a:r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boost-end test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which needs only billing changes and starts first.</a:t>
            </a:r>
            <a:endParaRPr lang="en-US" sz="620" dirty="0"/>
          </a:p>
        </p:txBody>
      </p:sp>
      <p:sp>
        <p:nvSpPr>
          <p:cNvPr id="37" name="zone badge 2"/>
          <p:cNvSpPr/>
          <p:nvPr/>
        </p:nvSpPr>
        <p:spPr>
          <a:xfrm>
            <a:off x="2944368" y="868680"/>
            <a:ext cx="274320" cy="274320"/>
          </a:xfrm>
          <a:prstGeom prst="ellipse">
            <a:avLst/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8" name="Text 35"/>
          <p:cNvSpPr txBox="1"/>
          <p:nvPr/>
        </p:nvSpPr>
        <p:spPr>
          <a:xfrm>
            <a:off x="2944368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3291840" y="85039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with gates in the model's own units</a:t>
            </a:r>
            <a:endParaRPr lang="en-US" sz="800" dirty="0"/>
          </a:p>
        </p:txBody>
      </p:sp>
      <p:sp>
        <p:nvSpPr>
          <p:cNvPr id="40" name="zone rule 2"/>
          <p:cNvSpPr/>
          <p:nvPr/>
        </p:nvSpPr>
        <p:spPr>
          <a:xfrm>
            <a:off x="3291840" y="1197864"/>
            <a:ext cx="5577840" cy="0"/>
          </a:xfrm>
          <a:prstGeom prst="line">
            <a:avLst/>
          </a:prstGeom>
          <a:noFill/>
          <a:ln w="15875">
            <a:solidFill>
              <a:srgbClr val="A50021"/>
            </a:solidFill>
            <a:prstDash val="solid"/>
          </a:ln>
        </p:spPr>
      </p:sp>
      <p:sp>
        <p:nvSpPr>
          <p:cNvPr id="41" name="chevron Phase 0 · Nov–Dec 20"/>
          <p:cNvSpPr/>
          <p:nvPr/>
        </p:nvSpPr>
        <p:spPr>
          <a:xfrm>
            <a:off x="3282696" y="1261872"/>
            <a:ext cx="868680" cy="237744"/>
          </a:xfrm>
          <a:prstGeom prst="homePlate">
            <a:avLst/>
          </a:prstGeom>
          <a:solidFill>
            <a:srgbClr val="475569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355848" y="1261872"/>
            <a:ext cx="6547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0 · Nov–Dec 2026</a:t>
            </a:r>
            <a:endParaRPr lang="en-US" sz="590" dirty="0"/>
          </a:p>
        </p:txBody>
      </p:sp>
      <p:sp>
        <p:nvSpPr>
          <p:cNvPr id="43" name="chevron Phase 1 · Jan–Jun 20"/>
          <p:cNvSpPr/>
          <p:nvPr/>
        </p:nvSpPr>
        <p:spPr>
          <a:xfrm>
            <a:off x="4169664" y="1261872"/>
            <a:ext cx="1325880" cy="237744"/>
          </a:xfrm>
          <a:prstGeom prst="chevron">
            <a:avLst/>
          </a:prstGeom>
          <a:solidFill>
            <a:srgbClr val="E4002B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4276649" y="1261872"/>
            <a:ext cx="11119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 · Jan–Jun 2027</a:t>
            </a:r>
            <a:endParaRPr lang="en-US" sz="590" dirty="0"/>
          </a:p>
        </p:txBody>
      </p:sp>
      <p:sp>
        <p:nvSpPr>
          <p:cNvPr id="45" name="chevron Phase 2 · Jul 2027–D"/>
          <p:cNvSpPr/>
          <p:nvPr/>
        </p:nvSpPr>
        <p:spPr>
          <a:xfrm>
            <a:off x="5513832" y="1261872"/>
            <a:ext cx="1828800" cy="237744"/>
          </a:xfrm>
          <a:prstGeom prst="chevron">
            <a:avLst/>
          </a:prstGeom>
          <a:solidFill>
            <a:srgbClr val="A50021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5620817" y="1261872"/>
            <a:ext cx="16148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· Jul 2027–Dec 2028</a:t>
            </a:r>
            <a:endParaRPr lang="en-US" sz="590" dirty="0"/>
          </a:p>
        </p:txBody>
      </p:sp>
      <p:sp>
        <p:nvSpPr>
          <p:cNvPr id="47" name="chevron Phase 3 · 2029–2031"/>
          <p:cNvSpPr/>
          <p:nvPr/>
        </p:nvSpPr>
        <p:spPr>
          <a:xfrm>
            <a:off x="7360920" y="1261872"/>
            <a:ext cx="1517904" cy="237744"/>
          </a:xfrm>
          <a:prstGeom prst="chevron">
            <a:avLst/>
          </a:prstGeom>
          <a:solidFill>
            <a:srgbClr val="1F2937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7467905" y="1261872"/>
            <a:ext cx="13039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· 2029–2031</a:t>
            </a:r>
            <a:endParaRPr lang="en-US" sz="590" dirty="0"/>
          </a:p>
        </p:txBody>
      </p:sp>
      <p:sp>
        <p:nvSpPr>
          <p:cNvPr id="49" name="badge H"/>
          <p:cNvSpPr/>
          <p:nvPr/>
        </p:nvSpPr>
        <p:spPr>
          <a:xfrm>
            <a:off x="2962656" y="1563624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0" name="Text 47"/>
          <p:cNvSpPr txBox="1"/>
          <p:nvPr/>
        </p:nvSpPr>
        <p:spPr>
          <a:xfrm>
            <a:off x="2962656" y="15636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900" dirty="0"/>
          </a:p>
        </p:txBody>
      </p:sp>
      <p:sp>
        <p:nvSpPr>
          <p:cNvPr id="51" name="lane H0"/>
          <p:cNvSpPr/>
          <p:nvPr/>
        </p:nvSpPr>
        <p:spPr>
          <a:xfrm>
            <a:off x="3282696" y="1554480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3310128" y="1554480"/>
            <a:ext cx="81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Mystery shop; stated roles; one price</a:t>
            </a:r>
            <a:endParaRPr lang="en-US" sz="550" dirty="0"/>
          </a:p>
        </p:txBody>
      </p:sp>
      <p:sp>
        <p:nvSpPr>
          <p:cNvPr id="53" name="lane H1"/>
          <p:cNvSpPr/>
          <p:nvPr/>
        </p:nvSpPr>
        <p:spPr>
          <a:xfrm>
            <a:off x="4169664" y="1554480"/>
            <a:ext cx="1325880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197096" y="155448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 and home check pilot: Jakarta Selatan + a fiber-dark area</a:t>
            </a:r>
            <a:endParaRPr lang="en-US" sz="550" dirty="0"/>
          </a:p>
        </p:txBody>
      </p:sp>
      <p:sp>
        <p:nvSpPr>
          <p:cNvPr id="55" name="lane H2"/>
          <p:cNvSpPr/>
          <p:nvPr/>
        </p:nvSpPr>
        <p:spPr>
          <a:xfrm>
            <a:off x="5513832" y="1554480"/>
            <a:ext cx="1828800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</p:spPr>
      </p:sp>
      <p:sp>
        <p:nvSpPr>
          <p:cNvPr id="56" name="Text 53"/>
          <p:cNvSpPr txBox="1"/>
          <p:nvPr/>
        </p:nvSpPr>
        <p:spPr>
          <a:xfrm>
            <a:off x="5541264" y="155448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fit and home check</a:t>
            </a:r>
            <a:endParaRPr lang="en-US" sz="550" dirty="0"/>
          </a:p>
        </p:txBody>
      </p:sp>
      <p:sp>
        <p:nvSpPr>
          <p:cNvPr id="57" name="lane H3"/>
          <p:cNvSpPr/>
          <p:nvPr/>
        </p:nvSpPr>
        <p:spPr>
          <a:xfrm>
            <a:off x="7360920" y="1554480"/>
            <a:ext cx="1517904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7388352" y="155448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Thresholds tuned on real use</a:t>
            </a:r>
            <a:endParaRPr lang="en-US" sz="550" dirty="0"/>
          </a:p>
        </p:txBody>
      </p:sp>
      <p:sp>
        <p:nvSpPr>
          <p:cNvPr id="59" name="badge O"/>
          <p:cNvSpPr/>
          <p:nvPr/>
        </p:nvSpPr>
        <p:spPr>
          <a:xfrm>
            <a:off x="2962656" y="1837944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60" name="Text 57"/>
          <p:cNvSpPr txBox="1"/>
          <p:nvPr/>
        </p:nvSpPr>
        <p:spPr>
          <a:xfrm>
            <a:off x="2962656" y="18379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900" dirty="0"/>
          </a:p>
        </p:txBody>
      </p:sp>
      <p:sp>
        <p:nvSpPr>
          <p:cNvPr id="61" name="lane O0"/>
          <p:cNvSpPr/>
          <p:nvPr/>
        </p:nvSpPr>
        <p:spPr>
          <a:xfrm>
            <a:off x="3282696" y="1828800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3310128" y="1828800"/>
            <a:ext cx="81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Size the expiring boost cohorts</a:t>
            </a:r>
            <a:endParaRPr lang="en-US" sz="550" dirty="0"/>
          </a:p>
        </p:txBody>
      </p:sp>
      <p:sp>
        <p:nvSpPr>
          <p:cNvPr id="63" name="lane O1"/>
          <p:cNvSpPr/>
          <p:nvPr/>
        </p:nvSpPr>
        <p:spPr>
          <a:xfrm>
            <a:off x="4169664" y="1828800"/>
            <a:ext cx="1325880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4197096" y="182880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randomised boost-end test; ladder and plan offers vs hold-out</a:t>
            </a:r>
            <a:endParaRPr lang="en-US" sz="550" dirty="0"/>
          </a:p>
        </p:txBody>
      </p:sp>
      <p:sp>
        <p:nvSpPr>
          <p:cNvPr id="65" name="lane O2"/>
          <p:cNvSpPr/>
          <p:nvPr/>
        </p:nvSpPr>
        <p:spPr>
          <a:xfrm>
            <a:off x="5513832" y="1828800"/>
            <a:ext cx="1828800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5541264" y="182880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Paths and household plan nationwide</a:t>
            </a:r>
            <a:endParaRPr lang="en-US" sz="550" dirty="0"/>
          </a:p>
        </p:txBody>
      </p:sp>
      <p:sp>
        <p:nvSpPr>
          <p:cNvPr id="67" name="lane O3"/>
          <p:cNvSpPr/>
          <p:nvPr/>
        </p:nvSpPr>
        <p:spPr>
          <a:xfrm>
            <a:off x="7360920" y="1828800"/>
            <a:ext cx="1517904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7388352" y="182880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value in targets</a:t>
            </a:r>
            <a:endParaRPr lang="en-US" sz="550" dirty="0"/>
          </a:p>
        </p:txBody>
      </p:sp>
      <p:sp>
        <p:nvSpPr>
          <p:cNvPr id="69" name="badge M"/>
          <p:cNvSpPr/>
          <p:nvPr/>
        </p:nvSpPr>
        <p:spPr>
          <a:xfrm>
            <a:off x="2962656" y="2112264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70" name="Text 67"/>
          <p:cNvSpPr txBox="1"/>
          <p:nvPr/>
        </p:nvSpPr>
        <p:spPr>
          <a:xfrm>
            <a:off x="2962656" y="21122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900" dirty="0"/>
          </a:p>
        </p:txBody>
      </p:sp>
      <p:sp>
        <p:nvSpPr>
          <p:cNvPr id="71" name="lane M0"/>
          <p:cNvSpPr/>
          <p:nvPr/>
        </p:nvSpPr>
        <p:spPr>
          <a:xfrm>
            <a:off x="3282696" y="2103120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310128" y="2103120"/>
            <a:ext cx="81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survey</a:t>
            </a:r>
            <a:endParaRPr lang="en-US" sz="550" dirty="0"/>
          </a:p>
        </p:txBody>
      </p:sp>
      <p:sp>
        <p:nvSpPr>
          <p:cNvPr id="73" name="lane M1"/>
          <p:cNvSpPr/>
          <p:nvPr/>
        </p:nvSpPr>
        <p:spPr>
          <a:xfrm>
            <a:off x="4169664" y="2103120"/>
            <a:ext cx="1325880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4197096" y="210312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Wi-Fi promise pilot; triggers vs hold-out</a:t>
            </a:r>
            <a:endParaRPr lang="en-US" sz="550" dirty="0"/>
          </a:p>
        </p:txBody>
      </p:sp>
      <p:sp>
        <p:nvSpPr>
          <p:cNvPr id="75" name="lane M2"/>
          <p:cNvSpPr/>
          <p:nvPr/>
        </p:nvSpPr>
        <p:spPr>
          <a:xfrm>
            <a:off x="5513832" y="2103120"/>
            <a:ext cx="1828800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</p:spPr>
      </p:sp>
      <p:sp>
        <p:nvSpPr>
          <p:cNvPr id="76" name="Text 73"/>
          <p:cNvSpPr txBox="1"/>
          <p:nvPr/>
        </p:nvSpPr>
        <p:spPr>
          <a:xfrm>
            <a:off x="5541264" y="210312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Wi-Fi promise in contested cities from 2028</a:t>
            </a:r>
            <a:endParaRPr lang="en-US" sz="550" dirty="0"/>
          </a:p>
        </p:txBody>
      </p:sp>
      <p:sp>
        <p:nvSpPr>
          <p:cNvPr id="77" name="lane M3"/>
          <p:cNvSpPr/>
          <p:nvPr/>
        </p:nvSpPr>
        <p:spPr>
          <a:xfrm>
            <a:off x="7360920" y="2103120"/>
            <a:ext cx="1517904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</p:spPr>
      </p:sp>
      <p:sp>
        <p:nvSpPr>
          <p:cNvPr id="78" name="Text 75"/>
          <p:cNvSpPr txBox="1"/>
          <p:nvPr/>
        </p:nvSpPr>
        <p:spPr>
          <a:xfrm>
            <a:off x="7388352" y="21031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Port-fill terms with the group</a:t>
            </a:r>
            <a:endParaRPr lang="en-US" sz="550" dirty="0"/>
          </a:p>
        </p:txBody>
      </p:sp>
      <p:sp>
        <p:nvSpPr>
          <p:cNvPr id="79" name="badge E"/>
          <p:cNvSpPr/>
          <p:nvPr/>
        </p:nvSpPr>
        <p:spPr>
          <a:xfrm>
            <a:off x="2962656" y="2386584"/>
            <a:ext cx="219456" cy="219456"/>
          </a:xfrm>
          <a:prstGeom prst="roundRect">
            <a:avLst>
              <a:gd name="adj" fmla="val 20000"/>
            </a:avLst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80" name="Text 77"/>
          <p:cNvSpPr txBox="1"/>
          <p:nvPr/>
        </p:nvSpPr>
        <p:spPr>
          <a:xfrm>
            <a:off x="2962656" y="23865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</a:t>
            </a:r>
            <a:endParaRPr lang="en-US" sz="900" dirty="0"/>
          </a:p>
        </p:txBody>
      </p:sp>
      <p:sp>
        <p:nvSpPr>
          <p:cNvPr id="81" name="lane E0"/>
          <p:cNvSpPr/>
          <p:nvPr/>
        </p:nvSpPr>
        <p:spPr>
          <a:xfrm>
            <a:off x="3282696" y="2377440"/>
            <a:ext cx="868680" cy="237744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3310128" y="2377440"/>
            <a:ext cx="813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contracts; P&amp;L owner; InfraNexia data; consent</a:t>
            </a:r>
            <a:endParaRPr lang="en-US" sz="550" dirty="0"/>
          </a:p>
        </p:txBody>
      </p:sp>
      <p:sp>
        <p:nvSpPr>
          <p:cNvPr id="83" name="lane E1"/>
          <p:cNvSpPr/>
          <p:nvPr/>
        </p:nvSpPr>
        <p:spPr>
          <a:xfrm>
            <a:off x="4169664" y="2377440"/>
            <a:ext cx="1325880" cy="237744"/>
          </a:xfrm>
          <a:prstGeom prst="roundRect">
            <a:avLst>
              <a:gd name="adj" fmla="val 15385"/>
            </a:avLst>
          </a:prstGeom>
          <a:solidFill>
            <a:srgbClr val="F4E0E4"/>
          </a:solidFill>
          <a:ln/>
        </p:spPr>
      </p:sp>
      <p:sp>
        <p:nvSpPr>
          <p:cNvPr id="84" name="Text 81"/>
          <p:cNvSpPr txBox="1"/>
          <p:nvPr/>
        </p:nvSpPr>
        <p:spPr>
          <a:xfrm>
            <a:off x="4197096" y="2377440"/>
            <a:ext cx="1271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identity build</a:t>
            </a:r>
            <a:endParaRPr lang="en-US" sz="550" dirty="0"/>
          </a:p>
        </p:txBody>
      </p:sp>
      <p:sp>
        <p:nvSpPr>
          <p:cNvPr id="85" name="lane E2"/>
          <p:cNvSpPr/>
          <p:nvPr/>
        </p:nvSpPr>
        <p:spPr>
          <a:xfrm>
            <a:off x="5513832" y="2377440"/>
            <a:ext cx="1828800" cy="237744"/>
          </a:xfrm>
          <a:prstGeom prst="roundRect">
            <a:avLst>
              <a:gd name="adj" fmla="val 15385"/>
            </a:avLst>
          </a:prstGeom>
          <a:solidFill>
            <a:srgbClr val="F4E0E4"/>
          </a:solidFill>
          <a:ln/>
        </p:spPr>
      </p:sp>
      <p:sp>
        <p:nvSpPr>
          <p:cNvPr id="86" name="Text 83"/>
          <p:cNvSpPr txBox="1"/>
          <p:nvPr/>
        </p:nvSpPr>
        <p:spPr>
          <a:xfrm>
            <a:off x="5541264" y="23774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KPIs monthly; Orbit baseline</a:t>
            </a:r>
            <a:endParaRPr lang="en-US" sz="550" dirty="0"/>
          </a:p>
        </p:txBody>
      </p:sp>
      <p:sp>
        <p:nvSpPr>
          <p:cNvPr id="87" name="lane E3"/>
          <p:cNvSpPr/>
          <p:nvPr/>
        </p:nvSpPr>
        <p:spPr>
          <a:xfrm>
            <a:off x="7360920" y="2377440"/>
            <a:ext cx="1517904" cy="237744"/>
          </a:xfrm>
          <a:prstGeom prst="roundRect">
            <a:avLst>
              <a:gd name="adj" fmla="val 15385"/>
            </a:avLst>
          </a:prstGeom>
          <a:solidFill>
            <a:srgbClr val="F4E0E4"/>
          </a:solidFill>
          <a:ln/>
        </p:spPr>
      </p:sp>
      <p:sp>
        <p:nvSpPr>
          <p:cNvPr id="88" name="Text 85"/>
          <p:cNvSpPr txBox="1"/>
          <p:nvPr/>
        </p:nvSpPr>
        <p:spPr>
          <a:xfrm>
            <a:off x="7388352" y="237744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value in pay</a:t>
            </a:r>
            <a:endParaRPr lang="en-US" sz="550" dirty="0"/>
          </a:p>
        </p:txBody>
      </p:sp>
      <p:sp>
        <p:nvSpPr>
          <p:cNvPr id="89" name="gate 0"/>
          <p:cNvSpPr/>
          <p:nvPr/>
        </p:nvSpPr>
        <p:spPr>
          <a:xfrm>
            <a:off x="5422392" y="2651760"/>
            <a:ext cx="146304" cy="146304"/>
          </a:xfrm>
          <a:prstGeom prst="diamond">
            <a:avLst/>
          </a:prstGeom>
          <a:solidFill>
            <a:srgbClr val="E400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5038344" y="27980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1</a:t>
            </a:r>
            <a:endParaRPr lang="en-US" sz="540" dirty="0"/>
          </a:p>
          <a:p>
            <a:pPr algn="ctr" indent="0" marL="0">
              <a:buNone/>
            </a:pPr>
            <a:r>
              <a:rPr lang="en-US" sz="54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Jun 2027</a:t>
            </a:r>
            <a:endParaRPr lang="en-US" sz="540" dirty="0"/>
          </a:p>
        </p:txBody>
      </p:sp>
      <p:sp>
        <p:nvSpPr>
          <p:cNvPr id="91" name="gate 1"/>
          <p:cNvSpPr/>
          <p:nvPr/>
        </p:nvSpPr>
        <p:spPr>
          <a:xfrm>
            <a:off x="6355080" y="2651760"/>
            <a:ext cx="146304" cy="146304"/>
          </a:xfrm>
          <a:prstGeom prst="diamond">
            <a:avLst/>
          </a:prstGeom>
          <a:solidFill>
            <a:srgbClr val="E400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971032" y="27980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1b</a:t>
            </a:r>
            <a:endParaRPr lang="en-US" sz="540" dirty="0"/>
          </a:p>
          <a:p>
            <a:pPr algn="ctr" indent="0" marL="0">
              <a:buNone/>
            </a:pPr>
            <a:r>
              <a:rPr lang="en-US" sz="54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 2027 / Jun 2028</a:t>
            </a:r>
            <a:endParaRPr lang="en-US" sz="540" dirty="0"/>
          </a:p>
        </p:txBody>
      </p:sp>
      <p:sp>
        <p:nvSpPr>
          <p:cNvPr id="93" name="gate 2"/>
          <p:cNvSpPr/>
          <p:nvPr/>
        </p:nvSpPr>
        <p:spPr>
          <a:xfrm>
            <a:off x="7269480" y="2651760"/>
            <a:ext cx="146304" cy="146304"/>
          </a:xfrm>
          <a:prstGeom prst="diamond">
            <a:avLst/>
          </a:prstGeom>
          <a:solidFill>
            <a:srgbClr val="E4002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6885432" y="2798064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2</a:t>
            </a:r>
            <a:endParaRPr lang="en-US" sz="540" dirty="0"/>
          </a:p>
          <a:p>
            <a:pPr algn="ctr" indent="0" marL="0">
              <a:buNone/>
            </a:pPr>
            <a:r>
              <a:rPr lang="en-US" sz="54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 2028</a:t>
            </a:r>
            <a:endParaRPr lang="en-US" sz="540" dirty="0"/>
          </a:p>
        </p:txBody>
      </p:sp>
      <p:sp>
        <p:nvSpPr>
          <p:cNvPr id="95" name="gate1 marks"/>
          <p:cNvSpPr/>
          <p:nvPr/>
        </p:nvSpPr>
        <p:spPr>
          <a:xfrm>
            <a:off x="2944368" y="3008376"/>
            <a:ext cx="5925312" cy="310896"/>
          </a:xfrm>
          <a:prstGeom prst="roundRect">
            <a:avLst>
              <a:gd name="adj" fmla="val 11765"/>
            </a:avLst>
          </a:prstGeom>
          <a:solidFill>
            <a:srgbClr val="FDECEF"/>
          </a:solidFill>
          <a:ln/>
        </p:spPr>
      </p:sp>
      <p:sp>
        <p:nvSpPr>
          <p:cNvPr id="96" name="Text 93"/>
          <p:cNvSpPr txBox="1"/>
          <p:nvPr/>
        </p:nvSpPr>
        <p:spPr>
          <a:xfrm>
            <a:off x="3017520" y="3008376"/>
            <a:ext cx="5779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1 pass mark: every take-up KPI ≥ 60% of plan</a:t>
            </a:r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e.g. boost-end take-up ≥ </a:t>
            </a:r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4.8%</a:t>
            </a:r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save rate ≥ </a:t>
            </a:r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6%</a:t>
            </a:r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opt-in × conversion ≥ </a:t>
            </a:r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0.6%</a:t>
            </a:r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ladder steps ≥ </a:t>
            </a:r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1.8% / 0.3%</a:t>
            </a:r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lines ≥ </a:t>
            </a:r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1.2%</a:t>
            </a:r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If it fails, national spend stops.</a:t>
            </a:r>
            <a:endParaRPr lang="en-US" sz="610" dirty="0"/>
          </a:p>
        </p:txBody>
      </p:sp>
      <p:sp>
        <p:nvSpPr>
          <p:cNvPr id="97" name="zone badge 3"/>
          <p:cNvSpPr/>
          <p:nvPr/>
        </p:nvSpPr>
        <p:spPr>
          <a:xfrm>
            <a:off x="2944368" y="3383280"/>
            <a:ext cx="274320" cy="274320"/>
          </a:xfrm>
          <a:prstGeom prst="ellipse">
            <a:avLst/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98" name="Text 95"/>
          <p:cNvSpPr txBox="1"/>
          <p:nvPr/>
        </p:nvSpPr>
        <p:spPr>
          <a:xfrm>
            <a:off x="2944368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99" name="Text 96"/>
          <p:cNvSpPr txBox="1"/>
          <p:nvPr/>
        </p:nvSpPr>
        <p:spPr>
          <a:xfrm>
            <a:off x="3291840" y="3364992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 risks and triggers</a:t>
            </a:r>
            <a:endParaRPr lang="en-US" sz="800" dirty="0"/>
          </a:p>
        </p:txBody>
      </p:sp>
      <p:sp>
        <p:nvSpPr>
          <p:cNvPr id="100" name="zone rule 3"/>
          <p:cNvSpPr/>
          <p:nvPr/>
        </p:nvSpPr>
        <p:spPr>
          <a:xfrm>
            <a:off x="3291840" y="3712464"/>
            <a:ext cx="5577840" cy="0"/>
          </a:xfrm>
          <a:prstGeom prst="line">
            <a:avLst/>
          </a:prstGeom>
          <a:noFill/>
          <a:ln w="15875">
            <a:solidFill>
              <a:srgbClr val="A50021"/>
            </a:solidFill>
            <a:prstDash val="solid"/>
          </a:ln>
        </p:spPr>
      </p:sp>
      <p:sp>
        <p:nvSpPr>
          <p:cNvPr id="101" name="heat"/>
          <p:cNvSpPr/>
          <p:nvPr/>
        </p:nvSpPr>
        <p:spPr>
          <a:xfrm>
            <a:off x="3200400" y="3767328"/>
            <a:ext cx="301752" cy="301752"/>
          </a:xfrm>
          <a:prstGeom prst="rect">
            <a:avLst/>
          </a:prstGeom>
          <a:solidFill>
            <a:srgbClr val="F7D6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heat"/>
          <p:cNvSpPr/>
          <p:nvPr/>
        </p:nvSpPr>
        <p:spPr>
          <a:xfrm>
            <a:off x="3502152" y="3767328"/>
            <a:ext cx="301752" cy="301752"/>
          </a:xfrm>
          <a:prstGeom prst="rect">
            <a:avLst/>
          </a:prstGeom>
          <a:solidFill>
            <a:srgbClr val="F0AE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heat"/>
          <p:cNvSpPr/>
          <p:nvPr/>
        </p:nvSpPr>
        <p:spPr>
          <a:xfrm>
            <a:off x="3803904" y="3767328"/>
            <a:ext cx="301752" cy="301752"/>
          </a:xfrm>
          <a:prstGeom prst="rect">
            <a:avLst/>
          </a:prstGeom>
          <a:solidFill>
            <a:srgbClr val="E400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" name="heat"/>
          <p:cNvSpPr/>
          <p:nvPr/>
        </p:nvSpPr>
        <p:spPr>
          <a:xfrm>
            <a:off x="3200400" y="4069080"/>
            <a:ext cx="301752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heat"/>
          <p:cNvSpPr/>
          <p:nvPr/>
        </p:nvSpPr>
        <p:spPr>
          <a:xfrm>
            <a:off x="3502152" y="4069080"/>
            <a:ext cx="301752" cy="301752"/>
          </a:xfrm>
          <a:prstGeom prst="rect">
            <a:avLst/>
          </a:prstGeom>
          <a:solidFill>
            <a:srgbClr val="F7D6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6" name="heat"/>
          <p:cNvSpPr/>
          <p:nvPr/>
        </p:nvSpPr>
        <p:spPr>
          <a:xfrm>
            <a:off x="3803904" y="4069080"/>
            <a:ext cx="301752" cy="301752"/>
          </a:xfrm>
          <a:prstGeom prst="rect">
            <a:avLst/>
          </a:prstGeom>
          <a:solidFill>
            <a:srgbClr val="F0AEB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7" name="heat"/>
          <p:cNvSpPr/>
          <p:nvPr/>
        </p:nvSpPr>
        <p:spPr>
          <a:xfrm>
            <a:off x="3200400" y="4370832"/>
            <a:ext cx="301752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8" name="heat"/>
          <p:cNvSpPr/>
          <p:nvPr/>
        </p:nvSpPr>
        <p:spPr>
          <a:xfrm>
            <a:off x="3502152" y="4370832"/>
            <a:ext cx="301752" cy="30175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9" name="heat"/>
          <p:cNvSpPr/>
          <p:nvPr/>
        </p:nvSpPr>
        <p:spPr>
          <a:xfrm>
            <a:off x="3803904" y="4370832"/>
            <a:ext cx="301752" cy="301752"/>
          </a:xfrm>
          <a:prstGeom prst="rect">
            <a:avLst/>
          </a:prstGeom>
          <a:solidFill>
            <a:srgbClr val="F7D6D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Text 107"/>
          <p:cNvSpPr txBox="1"/>
          <p:nvPr/>
        </p:nvSpPr>
        <p:spPr>
          <a:xfrm rot="16200000">
            <a:off x="2743200" y="4087368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Impact</a:t>
            </a:r>
            <a:endParaRPr lang="en-US" sz="580" dirty="0"/>
          </a:p>
        </p:txBody>
      </p:sp>
      <p:sp>
        <p:nvSpPr>
          <p:cNvPr id="111" name="Text 108"/>
          <p:cNvSpPr txBox="1"/>
          <p:nvPr/>
        </p:nvSpPr>
        <p:spPr>
          <a:xfrm>
            <a:off x="3200400" y="4681728"/>
            <a:ext cx="9052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Likelihood →</a:t>
            </a:r>
            <a:endParaRPr lang="en-US" sz="580" dirty="0"/>
          </a:p>
        </p:txBody>
      </p:sp>
      <p:sp>
        <p:nvSpPr>
          <p:cNvPr id="112" name="risk dot 1"/>
          <p:cNvSpPr/>
          <p:nvPr/>
        </p:nvSpPr>
        <p:spPr>
          <a:xfrm>
            <a:off x="3858768" y="3822192"/>
            <a:ext cx="192024" cy="192024"/>
          </a:xfrm>
          <a:prstGeom prst="ellipse">
            <a:avLst/>
          </a:prstGeom>
          <a:solidFill>
            <a:srgbClr val="1F29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3" name="Text 110"/>
          <p:cNvSpPr txBox="1"/>
          <p:nvPr/>
        </p:nvSpPr>
        <p:spPr>
          <a:xfrm>
            <a:off x="3858768" y="382219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650" dirty="0"/>
          </a:p>
        </p:txBody>
      </p:sp>
      <p:sp>
        <p:nvSpPr>
          <p:cNvPr id="114" name="risk dot 2"/>
          <p:cNvSpPr/>
          <p:nvPr/>
        </p:nvSpPr>
        <p:spPr>
          <a:xfrm>
            <a:off x="3557016" y="3822192"/>
            <a:ext cx="192024" cy="192024"/>
          </a:xfrm>
          <a:prstGeom prst="ellipse">
            <a:avLst/>
          </a:prstGeom>
          <a:solidFill>
            <a:srgbClr val="1F29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5" name="Text 112"/>
          <p:cNvSpPr txBox="1"/>
          <p:nvPr/>
        </p:nvSpPr>
        <p:spPr>
          <a:xfrm>
            <a:off x="3557016" y="3822192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650" dirty="0"/>
          </a:p>
        </p:txBody>
      </p:sp>
      <p:sp>
        <p:nvSpPr>
          <p:cNvPr id="116" name="risk dot 3"/>
          <p:cNvSpPr/>
          <p:nvPr/>
        </p:nvSpPr>
        <p:spPr>
          <a:xfrm>
            <a:off x="3557016" y="4123944"/>
            <a:ext cx="192024" cy="192024"/>
          </a:xfrm>
          <a:prstGeom prst="ellipse">
            <a:avLst/>
          </a:prstGeom>
          <a:solidFill>
            <a:srgbClr val="1F29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7" name="Text 114"/>
          <p:cNvSpPr txBox="1"/>
          <p:nvPr/>
        </p:nvSpPr>
        <p:spPr>
          <a:xfrm>
            <a:off x="3557016" y="412394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650" dirty="0"/>
          </a:p>
        </p:txBody>
      </p:sp>
      <p:sp>
        <p:nvSpPr>
          <p:cNvPr id="118" name="risk dot 4"/>
          <p:cNvSpPr/>
          <p:nvPr/>
        </p:nvSpPr>
        <p:spPr>
          <a:xfrm>
            <a:off x="3858768" y="4123944"/>
            <a:ext cx="192024" cy="192024"/>
          </a:xfrm>
          <a:prstGeom prst="ellipse">
            <a:avLst/>
          </a:prstGeom>
          <a:solidFill>
            <a:srgbClr val="1F2937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9" name="Text 116"/>
          <p:cNvSpPr txBox="1"/>
          <p:nvPr/>
        </p:nvSpPr>
        <p:spPr>
          <a:xfrm>
            <a:off x="3858768" y="4123944"/>
            <a:ext cx="192024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6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24528" y="3749040"/>
          <a:ext cx="4645152" cy="914400"/>
        </p:xfrm>
        <a:graphic>
          <a:graphicData uri="http://schemas.openxmlformats.org/drawingml/2006/table">
            <a:tbl>
              <a:tblPr/>
              <a:tblGrid>
                <a:gridCol w="182880"/>
                <a:gridCol w="1417320"/>
                <a:gridCol w="3044952"/>
              </a:tblGrid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Trigger → action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Organisation resists household KPIs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in 2027 KPI contracts → Phase 0 does not exit; escalate to the CEO office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Cannibalisation (routing down)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Leakage &gt; 5% of new homes → tighten price fences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Boost-end backlash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Take-up &lt; 4.8% at month 3 → switch to outcome packs; never a silent cut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874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Rival price moves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Rival build detected → triggers and Wi-Fi checks there first; no price cut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Projection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projection: cash pays back in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2031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the homes won are worth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Rp394bn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after all capex, while a failed pilot stops at about </a:t>
            </a:r>
            <a:pPr indent="0" marL="0">
              <a:buNone/>
            </a:pPr>
            <a:r>
              <a:rPr lang="en-US" sz="12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Rp98bn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1888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Model in Appendix 21–24: incremental to a do-nothing base, Rp bn ex-VAT, 10% discount rate, 22% tax, life of homes won = 2027–2041 run-off with no new homes after 2031</a:t>
            </a:r>
            <a:endParaRPr lang="en-US" sz="600" dirty="0"/>
          </a:p>
        </p:txBody>
      </p:sp>
      <p:sp>
        <p:nvSpPr>
          <p:cNvPr id="8" name="Text 5"/>
          <p:cNvSpPr txBox="1"/>
          <p:nvPr/>
        </p:nvSpPr>
        <p:spPr>
          <a:xfrm>
            <a:off x="5440680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Background</a:t>
            </a:r>
            <a:endParaRPr lang="en-US" sz="650" dirty="0"/>
          </a:p>
        </p:txBody>
      </p:sp>
      <p:sp>
        <p:nvSpPr>
          <p:cNvPr id="9" name="Text 6"/>
          <p:cNvSpPr txBox="1"/>
          <p:nvPr/>
        </p:nvSpPr>
        <p:spPr>
          <a:xfrm>
            <a:off x="6053328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665976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650" dirty="0"/>
          </a:p>
        </p:txBody>
      </p:sp>
      <p:sp>
        <p:nvSpPr>
          <p:cNvPr id="11" name="Text 8"/>
          <p:cNvSpPr txBox="1"/>
          <p:nvPr/>
        </p:nvSpPr>
        <p:spPr>
          <a:xfrm>
            <a:off x="7278624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7891272" y="4919472"/>
            <a:ext cx="612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Projection</a:t>
            </a:r>
            <a:endParaRPr lang="en-US" sz="650" dirty="0"/>
          </a:p>
        </p:txBody>
      </p:sp>
      <p:sp>
        <p:nvSpPr>
          <p:cNvPr id="13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900" dirty="0"/>
          </a:p>
        </p:txBody>
      </p:sp>
      <p:sp>
        <p:nvSpPr>
          <p:cNvPr id="15" name="zone badge 1"/>
          <p:cNvSpPr/>
          <p:nvPr/>
        </p:nvSpPr>
        <p:spPr>
          <a:xfrm>
            <a:off x="274320" y="868680"/>
            <a:ext cx="274320" cy="274320"/>
          </a:xfrm>
          <a:prstGeom prst="ellipse">
            <a:avLst/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274320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" y="850392"/>
            <a:ext cx="3813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 and value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Rp bn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800" dirty="0"/>
          </a:p>
        </p:txBody>
      </p:sp>
      <p:sp>
        <p:nvSpPr>
          <p:cNvPr id="18" name="zone rule 1"/>
          <p:cNvSpPr/>
          <p:nvPr/>
        </p:nvSpPr>
        <p:spPr>
          <a:xfrm>
            <a:off x="621792" y="1197864"/>
            <a:ext cx="3813048" cy="0"/>
          </a:xfrm>
          <a:prstGeom prst="line">
            <a:avLst/>
          </a:prstGeom>
          <a:noFill/>
          <a:ln w="15875">
            <a:solidFill>
              <a:srgbClr val="A5002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74320" y="1243584"/>
            <a:ext cx="4160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8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Cumulative free cash flow against the do-nothing base</a:t>
            </a:r>
            <a:endParaRPr lang="en-US" sz="68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228600" y="1417320"/>
          <a:ext cx="420624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gate callout"/>
          <p:cNvSpPr/>
          <p:nvPr/>
        </p:nvSpPr>
        <p:spPr>
          <a:xfrm>
            <a:off x="566928" y="1517904"/>
            <a:ext cx="2514600" cy="237744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9525">
            <a:solidFill>
              <a:srgbClr val="E4002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12648" y="1517904"/>
            <a:ext cx="2441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◆ </a:t>
            </a:r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1 (Jun 2027):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if it fails, stop with </a:t>
            </a:r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Rp98bn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cash spent</a:t>
            </a:r>
            <a:endParaRPr lang="en-US" sz="620" dirty="0"/>
          </a:p>
        </p:txBody>
      </p:sp>
      <p:sp>
        <p:nvSpPr>
          <p:cNvPr id="23" name="metric label"/>
          <p:cNvSpPr/>
          <p:nvPr/>
        </p:nvSpPr>
        <p:spPr>
          <a:xfrm>
            <a:off x="274320" y="3108960"/>
            <a:ext cx="713232" cy="347472"/>
          </a:xfrm>
          <a:prstGeom prst="roundRect">
            <a:avLst>
              <a:gd name="adj" fmla="val 7895"/>
            </a:avLst>
          </a:prstGeom>
          <a:solidFill>
            <a:srgbClr val="A50021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301752" y="310896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NPV, life of homes won</a:t>
            </a:r>
            <a:endParaRPr lang="en-US" sz="590" dirty="0"/>
          </a:p>
        </p:txBody>
      </p:sp>
      <p:sp>
        <p:nvSpPr>
          <p:cNvPr id="25" name="metric value"/>
          <p:cNvSpPr/>
          <p:nvPr/>
        </p:nvSpPr>
        <p:spPr>
          <a:xfrm>
            <a:off x="987552" y="3108960"/>
            <a:ext cx="64008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A5002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987552" y="31089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Rp394bn</a:t>
            </a:r>
            <a:endParaRPr lang="en-US" sz="850" dirty="0"/>
          </a:p>
        </p:txBody>
      </p:sp>
      <p:sp>
        <p:nvSpPr>
          <p:cNvPr id="27" name="metric label"/>
          <p:cNvSpPr/>
          <p:nvPr/>
        </p:nvSpPr>
        <p:spPr>
          <a:xfrm>
            <a:off x="1673352" y="3108960"/>
            <a:ext cx="713232" cy="347472"/>
          </a:xfrm>
          <a:prstGeom prst="roundRect">
            <a:avLst>
              <a:gd name="adj" fmla="val 7895"/>
            </a:avLst>
          </a:prstGeom>
          <a:solidFill>
            <a:srgbClr val="A50021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1700784" y="310896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IRR</a:t>
            </a:r>
            <a:endParaRPr lang="en-US" sz="590" dirty="0"/>
          </a:p>
        </p:txBody>
      </p:sp>
      <p:sp>
        <p:nvSpPr>
          <p:cNvPr id="29" name="metric value"/>
          <p:cNvSpPr/>
          <p:nvPr/>
        </p:nvSpPr>
        <p:spPr>
          <a:xfrm>
            <a:off x="2386584" y="3108960"/>
            <a:ext cx="64008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A50021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2386584" y="31089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35.1%</a:t>
            </a:r>
            <a:endParaRPr lang="en-US" sz="850" dirty="0"/>
          </a:p>
        </p:txBody>
      </p:sp>
      <p:sp>
        <p:nvSpPr>
          <p:cNvPr id="31" name="metric label"/>
          <p:cNvSpPr/>
          <p:nvPr/>
        </p:nvSpPr>
        <p:spPr>
          <a:xfrm>
            <a:off x="3072384" y="3108960"/>
            <a:ext cx="713232" cy="347472"/>
          </a:xfrm>
          <a:prstGeom prst="roundRect">
            <a:avLst>
              <a:gd name="adj" fmla="val 7895"/>
            </a:avLst>
          </a:prstGeom>
          <a:solidFill>
            <a:srgbClr val="A50021"/>
          </a:solidFill>
          <a:ln/>
        </p:spPr>
      </p:sp>
      <p:sp>
        <p:nvSpPr>
          <p:cNvPr id="32" name="Text 28"/>
          <p:cNvSpPr txBox="1"/>
          <p:nvPr/>
        </p:nvSpPr>
        <p:spPr>
          <a:xfrm>
            <a:off x="3099816" y="3108960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B/C</a:t>
            </a:r>
            <a:endParaRPr lang="en-US" sz="590" dirty="0"/>
          </a:p>
        </p:txBody>
      </p:sp>
      <p:sp>
        <p:nvSpPr>
          <p:cNvPr id="33" name="metric value"/>
          <p:cNvSpPr/>
          <p:nvPr/>
        </p:nvSpPr>
        <p:spPr>
          <a:xfrm>
            <a:off x="3785616" y="3108960"/>
            <a:ext cx="64008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A50021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3785616" y="31089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2.95</a:t>
            </a:r>
            <a:endParaRPr lang="en-US" sz="850" dirty="0"/>
          </a:p>
        </p:txBody>
      </p:sp>
      <p:sp>
        <p:nvSpPr>
          <p:cNvPr id="35" name="metric label"/>
          <p:cNvSpPr/>
          <p:nvPr/>
        </p:nvSpPr>
        <p:spPr>
          <a:xfrm>
            <a:off x="274320" y="3511296"/>
            <a:ext cx="713232" cy="347472"/>
          </a:xfrm>
          <a:prstGeom prst="roundRect">
            <a:avLst>
              <a:gd name="adj" fmla="val 7895"/>
            </a:avLst>
          </a:prstGeom>
          <a:solidFill>
            <a:srgbClr val="A50021"/>
          </a:solidFill>
          <a:ln/>
        </p:spPr>
      </p:sp>
      <p:sp>
        <p:nvSpPr>
          <p:cNvPr id="36" name="Text 32"/>
          <p:cNvSpPr txBox="1"/>
          <p:nvPr/>
        </p:nvSpPr>
        <p:spPr>
          <a:xfrm>
            <a:off x="301752" y="351129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BEP (cash)</a:t>
            </a:r>
            <a:endParaRPr lang="en-US" sz="590" dirty="0"/>
          </a:p>
        </p:txBody>
      </p:sp>
      <p:sp>
        <p:nvSpPr>
          <p:cNvPr id="37" name="metric value"/>
          <p:cNvSpPr/>
          <p:nvPr/>
        </p:nvSpPr>
        <p:spPr>
          <a:xfrm>
            <a:off x="987552" y="3511296"/>
            <a:ext cx="64008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A50021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987552" y="351129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2031</a:t>
            </a:r>
            <a:endParaRPr lang="en-US" sz="850" dirty="0"/>
          </a:p>
        </p:txBody>
      </p:sp>
      <p:sp>
        <p:nvSpPr>
          <p:cNvPr id="39" name="metric label"/>
          <p:cNvSpPr/>
          <p:nvPr/>
        </p:nvSpPr>
        <p:spPr>
          <a:xfrm>
            <a:off x="1673352" y="3511296"/>
            <a:ext cx="713232" cy="347472"/>
          </a:xfrm>
          <a:prstGeom prst="roundRect">
            <a:avLst>
              <a:gd name="adj" fmla="val 7895"/>
            </a:avLst>
          </a:prstGeom>
          <a:solidFill>
            <a:srgbClr val="A50021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1700784" y="351129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5-year NPV</a:t>
            </a:r>
            <a:endParaRPr lang="en-US" sz="590" dirty="0"/>
          </a:p>
        </p:txBody>
      </p:sp>
      <p:sp>
        <p:nvSpPr>
          <p:cNvPr id="41" name="metric value"/>
          <p:cNvSpPr/>
          <p:nvPr/>
        </p:nvSpPr>
        <p:spPr>
          <a:xfrm>
            <a:off x="2386584" y="3511296"/>
            <a:ext cx="64008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A50021"/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2386584" y="351129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−Rp46bn</a:t>
            </a:r>
            <a:endParaRPr lang="en-US" sz="850" dirty="0"/>
          </a:p>
        </p:txBody>
      </p:sp>
      <p:sp>
        <p:nvSpPr>
          <p:cNvPr id="43" name="metric label"/>
          <p:cNvSpPr/>
          <p:nvPr/>
        </p:nvSpPr>
        <p:spPr>
          <a:xfrm>
            <a:off x="3072384" y="3511296"/>
            <a:ext cx="713232" cy="347472"/>
          </a:xfrm>
          <a:prstGeom prst="roundRect">
            <a:avLst>
              <a:gd name="adj" fmla="val 7895"/>
            </a:avLst>
          </a:prstGeom>
          <a:solidFill>
            <a:srgbClr val="A50021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3099816" y="3511296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Capex 2027–31</a:t>
            </a:r>
            <a:endParaRPr lang="en-US" sz="590" dirty="0"/>
          </a:p>
        </p:txBody>
      </p:sp>
      <p:sp>
        <p:nvSpPr>
          <p:cNvPr id="45" name="metric value"/>
          <p:cNvSpPr/>
          <p:nvPr/>
        </p:nvSpPr>
        <p:spPr>
          <a:xfrm>
            <a:off x="3785616" y="3511296"/>
            <a:ext cx="640080" cy="347472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A50021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3785616" y="351129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Rp295bn</a:t>
            </a:r>
            <a:endParaRPr lang="en-US" sz="850" dirty="0"/>
          </a:p>
        </p:txBody>
      </p:sp>
      <p:sp>
        <p:nvSpPr>
          <p:cNvPr id="47" name="zone badge 2"/>
          <p:cNvSpPr/>
          <p:nvPr/>
        </p:nvSpPr>
        <p:spPr>
          <a:xfrm>
            <a:off x="4572000" y="868680"/>
            <a:ext cx="274320" cy="274320"/>
          </a:xfrm>
          <a:prstGeom prst="ellipse">
            <a:avLst/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8" name="Text 44"/>
          <p:cNvSpPr txBox="1"/>
          <p:nvPr/>
        </p:nvSpPr>
        <p:spPr>
          <a:xfrm>
            <a:off x="4572000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49" name="Text 45"/>
          <p:cNvSpPr txBox="1"/>
          <p:nvPr/>
        </p:nvSpPr>
        <p:spPr>
          <a:xfrm>
            <a:off x="4919472" y="850392"/>
            <a:ext cx="3950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the value comes from</a:t>
            </a:r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and how robust it is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800" dirty="0"/>
          </a:p>
        </p:txBody>
      </p:sp>
      <p:sp>
        <p:nvSpPr>
          <p:cNvPr id="50" name="zone rule 2"/>
          <p:cNvSpPr/>
          <p:nvPr/>
        </p:nvSpPr>
        <p:spPr>
          <a:xfrm>
            <a:off x="4919472" y="1197864"/>
            <a:ext cx="3950208" cy="0"/>
          </a:xfrm>
          <a:prstGeom prst="line">
            <a:avLst/>
          </a:prstGeom>
          <a:noFill/>
          <a:ln w="15875">
            <a:solidFill>
              <a:srgbClr val="A50021"/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4572000" y="1243584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8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Life-of-homes NPV by pillar, Rp bn</a:t>
            </a:r>
            <a:endParaRPr lang="en-US" sz="680" dirty="0"/>
          </a:p>
        </p:txBody>
      </p:sp>
      <p:sp>
        <p:nvSpPr>
          <p:cNvPr id="52" name="wf H"/>
          <p:cNvSpPr/>
          <p:nvPr/>
        </p:nvSpPr>
        <p:spPr>
          <a:xfrm>
            <a:off x="4709160" y="2788019"/>
            <a:ext cx="475488" cy="92341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4617720" y="2632571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+53</a:t>
            </a:r>
            <a:endParaRPr lang="en-US" sz="680" dirty="0"/>
          </a:p>
        </p:txBody>
      </p:sp>
      <p:sp>
        <p:nvSpPr>
          <p:cNvPr id="54" name="Text 50"/>
          <p:cNvSpPr txBox="1"/>
          <p:nvPr/>
        </p:nvSpPr>
        <p:spPr>
          <a:xfrm>
            <a:off x="4599432" y="2907792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620" dirty="0"/>
          </a:p>
        </p:txBody>
      </p:sp>
      <p:sp>
        <p:nvSpPr>
          <p:cNvPr id="55" name="line"/>
          <p:cNvSpPr/>
          <p:nvPr/>
        </p:nvSpPr>
        <p:spPr>
          <a:xfrm>
            <a:off x="5184648" y="2788019"/>
            <a:ext cx="20116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56" name="wf O"/>
          <p:cNvSpPr/>
          <p:nvPr/>
        </p:nvSpPr>
        <p:spPr>
          <a:xfrm>
            <a:off x="5385816" y="2199126"/>
            <a:ext cx="475488" cy="588893"/>
          </a:xfrm>
          <a:prstGeom prst="rect">
            <a:avLst/>
          </a:prstGeom>
          <a:solidFill>
            <a:srgbClr val="A50021"/>
          </a:solidFill>
          <a:ln/>
        </p:spPr>
      </p:sp>
      <p:sp>
        <p:nvSpPr>
          <p:cNvPr id="57" name="wf O"/>
          <p:cNvSpPr/>
          <p:nvPr/>
        </p:nvSpPr>
        <p:spPr>
          <a:xfrm>
            <a:off x="5385816" y="1981340"/>
            <a:ext cx="475488" cy="217786"/>
          </a:xfrm>
          <a:prstGeom prst="rect">
            <a:avLst/>
          </a:prstGeom>
          <a:solidFill>
            <a:srgbClr val="C2566C"/>
          </a:solidFill>
          <a:ln/>
        </p:spPr>
      </p:sp>
      <p:sp>
        <p:nvSpPr>
          <p:cNvPr id="58" name="wf O"/>
          <p:cNvSpPr/>
          <p:nvPr/>
        </p:nvSpPr>
        <p:spPr>
          <a:xfrm>
            <a:off x="5385816" y="1857638"/>
            <a:ext cx="475488" cy="123702"/>
          </a:xfrm>
          <a:prstGeom prst="rect">
            <a:avLst/>
          </a:prstGeom>
          <a:solidFill>
            <a:srgbClr val="E58C9C"/>
          </a:solidFill>
          <a:ln/>
        </p:spPr>
      </p:sp>
      <p:sp>
        <p:nvSpPr>
          <p:cNvPr id="59" name="Text 55"/>
          <p:cNvSpPr txBox="1"/>
          <p:nvPr/>
        </p:nvSpPr>
        <p:spPr>
          <a:xfrm>
            <a:off x="5294376" y="1702190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+534</a:t>
            </a:r>
            <a:endParaRPr lang="en-US" sz="680" dirty="0"/>
          </a:p>
        </p:txBody>
      </p:sp>
      <p:sp>
        <p:nvSpPr>
          <p:cNvPr id="60" name="Text 56"/>
          <p:cNvSpPr txBox="1"/>
          <p:nvPr/>
        </p:nvSpPr>
        <p:spPr>
          <a:xfrm>
            <a:off x="5276088" y="2907792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620" dirty="0"/>
          </a:p>
        </p:txBody>
      </p:sp>
      <p:sp>
        <p:nvSpPr>
          <p:cNvPr id="61" name="line"/>
          <p:cNvSpPr/>
          <p:nvPr/>
        </p:nvSpPr>
        <p:spPr>
          <a:xfrm>
            <a:off x="5861304" y="1857638"/>
            <a:ext cx="20116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62" name="wf M"/>
          <p:cNvSpPr/>
          <p:nvPr/>
        </p:nvSpPr>
        <p:spPr>
          <a:xfrm>
            <a:off x="6062472" y="1554480"/>
            <a:ext cx="475488" cy="30315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63" name="Text 59"/>
          <p:cNvSpPr txBox="1"/>
          <p:nvPr/>
        </p:nvSpPr>
        <p:spPr>
          <a:xfrm>
            <a:off x="5971032" y="139903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+174</a:t>
            </a:r>
            <a:endParaRPr lang="en-US" sz="680" dirty="0"/>
          </a:p>
        </p:txBody>
      </p:sp>
      <p:sp>
        <p:nvSpPr>
          <p:cNvPr id="64" name="Text 60"/>
          <p:cNvSpPr txBox="1"/>
          <p:nvPr/>
        </p:nvSpPr>
        <p:spPr>
          <a:xfrm>
            <a:off x="5952744" y="2907792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620" dirty="0"/>
          </a:p>
        </p:txBody>
      </p:sp>
      <p:sp>
        <p:nvSpPr>
          <p:cNvPr id="65" name="line"/>
          <p:cNvSpPr/>
          <p:nvPr/>
        </p:nvSpPr>
        <p:spPr>
          <a:xfrm>
            <a:off x="6537960" y="1554480"/>
            <a:ext cx="20116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66" name="wf Shared costs"/>
          <p:cNvSpPr/>
          <p:nvPr/>
        </p:nvSpPr>
        <p:spPr>
          <a:xfrm>
            <a:off x="6739128" y="1554480"/>
            <a:ext cx="475488" cy="63245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7" name="Text 63"/>
          <p:cNvSpPr txBox="1"/>
          <p:nvPr/>
        </p:nvSpPr>
        <p:spPr>
          <a:xfrm>
            <a:off x="6647688" y="139903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−363</a:t>
            </a:r>
            <a:endParaRPr lang="en-US" sz="680" dirty="0"/>
          </a:p>
        </p:txBody>
      </p:sp>
      <p:sp>
        <p:nvSpPr>
          <p:cNvPr id="68" name="Text 64"/>
          <p:cNvSpPr txBox="1"/>
          <p:nvPr/>
        </p:nvSpPr>
        <p:spPr>
          <a:xfrm>
            <a:off x="6629400" y="2907792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costs</a:t>
            </a:r>
            <a:endParaRPr lang="en-US" sz="620" dirty="0"/>
          </a:p>
        </p:txBody>
      </p:sp>
      <p:sp>
        <p:nvSpPr>
          <p:cNvPr id="69" name="line"/>
          <p:cNvSpPr/>
          <p:nvPr/>
        </p:nvSpPr>
        <p:spPr>
          <a:xfrm>
            <a:off x="7214616" y="2186930"/>
            <a:ext cx="20116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70" name="wf Interaction"/>
          <p:cNvSpPr/>
          <p:nvPr/>
        </p:nvSpPr>
        <p:spPr>
          <a:xfrm>
            <a:off x="7415784" y="2186930"/>
            <a:ext cx="475488" cy="10973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1" name="Text 67"/>
          <p:cNvSpPr txBox="1"/>
          <p:nvPr/>
        </p:nvSpPr>
        <p:spPr>
          <a:xfrm>
            <a:off x="7324344" y="2031482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−4</a:t>
            </a:r>
            <a:endParaRPr lang="en-US" sz="680" dirty="0"/>
          </a:p>
        </p:txBody>
      </p:sp>
      <p:sp>
        <p:nvSpPr>
          <p:cNvPr id="72" name="Text 68"/>
          <p:cNvSpPr txBox="1"/>
          <p:nvPr/>
        </p:nvSpPr>
        <p:spPr>
          <a:xfrm>
            <a:off x="7306056" y="2907792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Interaction</a:t>
            </a:r>
            <a:endParaRPr lang="en-US" sz="620" dirty="0"/>
          </a:p>
        </p:txBody>
      </p:sp>
      <p:sp>
        <p:nvSpPr>
          <p:cNvPr id="73" name="line"/>
          <p:cNvSpPr/>
          <p:nvPr/>
        </p:nvSpPr>
        <p:spPr>
          <a:xfrm>
            <a:off x="7891272" y="2193899"/>
            <a:ext cx="201168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dash"/>
          </a:ln>
        </p:spPr>
      </p:sp>
      <p:sp>
        <p:nvSpPr>
          <p:cNvPr id="74" name="wf Total"/>
          <p:cNvSpPr/>
          <p:nvPr/>
        </p:nvSpPr>
        <p:spPr>
          <a:xfrm>
            <a:off x="8092440" y="2193899"/>
            <a:ext cx="475488" cy="686461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75" name="Text 71"/>
          <p:cNvSpPr txBox="1"/>
          <p:nvPr/>
        </p:nvSpPr>
        <p:spPr>
          <a:xfrm>
            <a:off x="8001000" y="2038451"/>
            <a:ext cx="658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394</a:t>
            </a:r>
            <a:endParaRPr lang="en-US" sz="680" dirty="0"/>
          </a:p>
        </p:txBody>
      </p:sp>
      <p:sp>
        <p:nvSpPr>
          <p:cNvPr id="76" name="Text 72"/>
          <p:cNvSpPr txBox="1"/>
          <p:nvPr/>
        </p:nvSpPr>
        <p:spPr>
          <a:xfrm>
            <a:off x="7982712" y="2907792"/>
            <a:ext cx="6949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</a:t>
            </a:r>
            <a:endParaRPr lang="en-US" sz="620" dirty="0"/>
          </a:p>
        </p:txBody>
      </p:sp>
      <p:sp>
        <p:nvSpPr>
          <p:cNvPr id="77" name="line"/>
          <p:cNvSpPr/>
          <p:nvPr/>
        </p:nvSpPr>
        <p:spPr>
          <a:xfrm>
            <a:off x="4663440" y="2880360"/>
            <a:ext cx="41605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8" name="Text 74"/>
          <p:cNvSpPr txBox="1"/>
          <p:nvPr/>
        </p:nvSpPr>
        <p:spPr>
          <a:xfrm>
            <a:off x="4572000" y="3072384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= </a:t>
            </a:r>
            <a:pPr indent="0" marL="0">
              <a:buNone/>
            </a:pPr>
            <a:r>
              <a:rPr lang="en-US" sz="590" i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</a:t>
            </a:r>
            <a:pPr indent="0" marL="0">
              <a:buNone/>
            </a:pPr>
            <a:r>
              <a:rPr lang="en-US" sz="59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paths Rp338bn</a:t>
            </a:r>
            <a:pPr indent="0" marL="0">
              <a:buNone/>
            </a:pPr>
            <a:r>
              <a:rPr lang="en-US" sz="59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(ladder steps 334 + Orbit → fiber 4) · </a:t>
            </a:r>
            <a:pPr indent="0" marL="0">
              <a:buNone/>
            </a:pPr>
            <a:r>
              <a:rPr lang="en-US" sz="590" i="1" dirty="0">
                <a:solidFill>
                  <a:srgbClr val="C2566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</a:t>
            </a:r>
            <a:pPr indent="0" marL="0">
              <a:buNone/>
            </a:pPr>
            <a:r>
              <a:rPr lang="en-US" sz="59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Rp125bn</a:t>
            </a:r>
            <a:pPr indent="0" marL="0">
              <a:buNone/>
            </a:pPr>
            <a:r>
              <a:rPr lang="en-US" sz="59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</a:t>
            </a:r>
            <a:pPr indent="0" marL="0">
              <a:buNone/>
            </a:pPr>
            <a:r>
              <a:rPr lang="en-US" sz="590" i="1" dirty="0">
                <a:solidFill>
                  <a:srgbClr val="E58C9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■ </a:t>
            </a:r>
            <a:pPr indent="0" marL="0">
              <a:buNone/>
            </a:pPr>
            <a:r>
              <a:rPr lang="en-US" sz="59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boost-end Rp71bn</a:t>
            </a:r>
            <a:pPr indent="0" marL="0">
              <a:buNone/>
            </a:pPr>
            <a:r>
              <a:rPr lang="en-US" sz="59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Shared costs = platforms, marketing, programme office.</a:t>
            </a:r>
            <a:endParaRPr lang="en-US" sz="590" dirty="0"/>
          </a:p>
        </p:txBody>
      </p:sp>
      <p:sp>
        <p:nvSpPr>
          <p:cNvPr id="79" name="robust"/>
          <p:cNvSpPr/>
          <p:nvPr/>
        </p:nvSpPr>
        <p:spPr>
          <a:xfrm>
            <a:off x="4572000" y="3346704"/>
            <a:ext cx="2121408" cy="420624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</p:spPr>
      </p:sp>
      <p:sp>
        <p:nvSpPr>
          <p:cNvPr id="80" name="Text 76"/>
          <p:cNvSpPr txBox="1"/>
          <p:nvPr/>
        </p:nvSpPr>
        <p:spPr>
          <a:xfrm>
            <a:off x="4626864" y="334670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Robust: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value falls to zero only if every take-up input lands at </a:t>
            </a:r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55% of plan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 once; Gate 1 passes at 60%.</a:t>
            </a:r>
            <a:endParaRPr lang="en-US" sz="620" dirty="0"/>
          </a:p>
        </p:txBody>
      </p:sp>
      <p:sp>
        <p:nvSpPr>
          <p:cNvPr id="81" name="robust"/>
          <p:cNvSpPr/>
          <p:nvPr/>
        </p:nvSpPr>
        <p:spPr>
          <a:xfrm>
            <a:off x="6748272" y="3346704"/>
            <a:ext cx="2121408" cy="420624"/>
          </a:xfrm>
          <a:prstGeom prst="roundRect">
            <a:avLst>
              <a:gd name="adj" fmla="val 8696"/>
            </a:avLst>
          </a:prstGeom>
          <a:solidFill>
            <a:srgbClr val="F1F5F9"/>
          </a:solidFill>
          <a:ln/>
        </p:spPr>
      </p:sp>
      <p:sp>
        <p:nvSpPr>
          <p:cNvPr id="82" name="Text 78"/>
          <p:cNvSpPr txBox="1"/>
          <p:nvPr/>
        </p:nvSpPr>
        <p:spPr>
          <a:xfrm>
            <a:off x="6803136" y="334670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Gated: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expected NPV </a:t>
            </a:r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Rp208bn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at a 60% chance of passing Gate 1.</a:t>
            </a:r>
            <a:endParaRPr lang="en-US" sz="620" dirty="0"/>
          </a:p>
        </p:txBody>
      </p:sp>
      <p:sp>
        <p:nvSpPr>
          <p:cNvPr id="83" name="Text 79"/>
          <p:cNvSpPr txBox="1"/>
          <p:nvPr/>
        </p:nvSpPr>
        <p:spPr>
          <a:xfrm>
            <a:off x="4572000" y="37856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Price-led comparator: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every </a:t>
            </a:r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Rp10k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cut across the base costs </a:t>
            </a:r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≈Rp1,142bn a year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nearly all of it margin, over five times the </a:t>
            </a:r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Rp210bn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EBITDA a year this plan adds by 2031.</a:t>
            </a:r>
            <a:endParaRPr lang="en-US" sz="620" dirty="0"/>
          </a:p>
        </p:txBody>
      </p:sp>
      <p:pic>
        <p:nvPicPr>
          <p:cNvPr id="84" name="Image 1" descr="kpi band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114800"/>
            <a:ext cx="8595360" cy="640080"/>
          </a:xfrm>
          <a:prstGeom prst="rect">
            <a:avLst/>
          </a:prstGeom>
        </p:spPr>
      </p:pic>
      <p:sp>
        <p:nvSpPr>
          <p:cNvPr id="85" name="Text 80"/>
          <p:cNvSpPr txBox="1"/>
          <p:nvPr/>
        </p:nvSpPr>
        <p:spPr>
          <a:xfrm>
            <a:off x="365760" y="413308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by</a:t>
            </a:r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(net stocks </a:t>
            </a:r>
            <a:pPr indent="0" marL="0">
              <a:buNone/>
            </a:pPr>
            <a:r>
              <a:rPr lang="en-US" sz="6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pPr indent="0" marL="0">
              <a:buNone/>
            </a:pPr>
            <a:r>
              <a:rPr lang="en-US" sz="65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), 2028 → 2031</a:t>
            </a:r>
            <a:endParaRPr lang="en-US" sz="650" dirty="0"/>
          </a:p>
        </p:txBody>
      </p:sp>
      <p:sp>
        <p:nvSpPr>
          <p:cNvPr id="86" name="Text 81"/>
          <p:cNvSpPr txBox="1"/>
          <p:nvPr/>
        </p:nvSpPr>
        <p:spPr>
          <a:xfrm>
            <a:off x="1600200" y="41330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73k → 213k</a:t>
            </a:r>
            <a:endParaRPr lang="en-US" sz="850" dirty="0"/>
          </a:p>
        </p:txBody>
      </p:sp>
      <p:sp>
        <p:nvSpPr>
          <p:cNvPr id="87" name="Text 82"/>
          <p:cNvSpPr txBox="1"/>
          <p:nvPr/>
        </p:nvSpPr>
        <p:spPr>
          <a:xfrm>
            <a:off x="1600200" y="430682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paying homes won</a:t>
            </a:r>
            <a:endParaRPr lang="en-US" sz="590" dirty="0"/>
          </a:p>
        </p:txBody>
      </p:sp>
      <p:sp>
        <p:nvSpPr>
          <p:cNvPr id="88" name="Text 83"/>
          <p:cNvSpPr txBox="1"/>
          <p:nvPr/>
        </p:nvSpPr>
        <p:spPr>
          <a:xfrm>
            <a:off x="3063240" y="41330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59k → 204k</a:t>
            </a:r>
            <a:endParaRPr lang="en-US" sz="850" dirty="0"/>
          </a:p>
        </p:txBody>
      </p:sp>
      <p:sp>
        <p:nvSpPr>
          <p:cNvPr id="89" name="Text 84"/>
          <p:cNvSpPr txBox="1"/>
          <p:nvPr/>
        </p:nvSpPr>
        <p:spPr>
          <a:xfrm>
            <a:off x="3063240" y="430682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homes kept</a:t>
            </a:r>
            <a:endParaRPr lang="en-US" sz="590" dirty="0"/>
          </a:p>
        </p:txBody>
      </p:sp>
      <p:sp>
        <p:nvSpPr>
          <p:cNvPr id="90" name="Text 85"/>
          <p:cNvSpPr txBox="1"/>
          <p:nvPr/>
        </p:nvSpPr>
        <p:spPr>
          <a:xfrm>
            <a:off x="4526280" y="41330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67k → 197k</a:t>
            </a:r>
            <a:endParaRPr lang="en-US" sz="850" dirty="0"/>
          </a:p>
        </p:txBody>
      </p:sp>
      <p:sp>
        <p:nvSpPr>
          <p:cNvPr id="91" name="Text 86"/>
          <p:cNvSpPr txBox="1"/>
          <p:nvPr/>
        </p:nvSpPr>
        <p:spPr>
          <a:xfrm>
            <a:off x="4526280" y="430682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 lines added</a:t>
            </a:r>
            <a:endParaRPr lang="en-US" sz="590" dirty="0"/>
          </a:p>
        </p:txBody>
      </p:sp>
      <p:sp>
        <p:nvSpPr>
          <p:cNvPr id="92" name="Text 87"/>
          <p:cNvSpPr txBox="1"/>
          <p:nvPr/>
        </p:nvSpPr>
        <p:spPr>
          <a:xfrm>
            <a:off x="5989320" y="41330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90k → 267k</a:t>
            </a:r>
            <a:endParaRPr lang="en-US" sz="850" dirty="0"/>
          </a:p>
        </p:txBody>
      </p:sp>
      <p:sp>
        <p:nvSpPr>
          <p:cNvPr id="93" name="Text 88"/>
          <p:cNvSpPr txBox="1"/>
          <p:nvPr/>
        </p:nvSpPr>
        <p:spPr>
          <a:xfrm>
            <a:off x="5989320" y="430682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ladder steps</a:t>
            </a:r>
            <a:endParaRPr lang="en-US" sz="590" dirty="0"/>
          </a:p>
        </p:txBody>
      </p:sp>
      <p:sp>
        <p:nvSpPr>
          <p:cNvPr id="94" name="Text 89"/>
          <p:cNvSpPr txBox="1"/>
          <p:nvPr/>
        </p:nvSpPr>
        <p:spPr>
          <a:xfrm>
            <a:off x="7452360" y="413308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Rp1,134bn</a:t>
            </a:r>
            <a:endParaRPr lang="en-US" sz="850" dirty="0"/>
          </a:p>
        </p:txBody>
      </p:sp>
      <p:sp>
        <p:nvSpPr>
          <p:cNvPr id="95" name="Text 90"/>
          <p:cNvSpPr txBox="1"/>
          <p:nvPr/>
        </p:nvSpPr>
        <p:spPr>
          <a:xfrm>
            <a:off x="7452360" y="430682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a year by 2031 (≈4.4%)</a:t>
            </a:r>
            <a:endParaRPr lang="en-US" sz="590" dirty="0"/>
          </a:p>
        </p:txBody>
      </p:sp>
      <p:sp>
        <p:nvSpPr>
          <p:cNvPr id="96" name="Text 91"/>
          <p:cNvSpPr txBox="1"/>
          <p:nvPr/>
        </p:nvSpPr>
        <p:spPr>
          <a:xfrm>
            <a:off x="365760" y="44622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Conclusion:</a:t>
            </a:r>
            <a:pPr indent="0" marL="0">
              <a:buNone/>
            </a:pPr>
            <a:r>
              <a:rPr lang="en-US" sz="6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H.O.M.E. answers the case without a price war: each home gets the product that fits, a path up it chooses and a reason to stay, all judged on household value and released only through gates.</a:t>
            </a:r>
            <a:endParaRPr lang="en-US" sz="6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pic>
        <p:nvPicPr>
          <p:cNvPr id="4" name="Image 0" descr="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502920"/>
            <a:ext cx="82296" cy="914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9436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0058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evidence behind every core claim, grouped by the criterion it serves. Core footnotes point here.</a:t>
            </a:r>
            <a:endParaRPr lang="en-US" sz="900" dirty="0"/>
          </a:p>
        </p:txBody>
      </p:sp>
      <p:sp>
        <p:nvSpPr>
          <p:cNvPr id="7" name="group"/>
          <p:cNvSpPr/>
          <p:nvPr/>
        </p:nvSpPr>
        <p:spPr>
          <a:xfrm>
            <a:off x="594360" y="1554480"/>
            <a:ext cx="2651760" cy="1572768"/>
          </a:xfrm>
          <a:prstGeom prst="roundRect">
            <a:avLst>
              <a:gd name="adj" fmla="val 3488"/>
            </a:avLst>
          </a:prstGeom>
          <a:solidFill>
            <a:srgbClr val="273244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and scoring map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847088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 Case requirements and scoring matrix  ·  p.12</a:t>
            </a:r>
            <a:endParaRPr lang="en-US" sz="620" dirty="0"/>
          </a:p>
        </p:txBody>
      </p:sp>
      <p:sp>
        <p:nvSpPr>
          <p:cNvPr id="10" name="group"/>
          <p:cNvSpPr/>
          <p:nvPr/>
        </p:nvSpPr>
        <p:spPr>
          <a:xfrm>
            <a:off x="3383280" y="1554480"/>
            <a:ext cx="2651760" cy="1572768"/>
          </a:xfrm>
          <a:prstGeom prst="roundRect">
            <a:avLst>
              <a:gd name="adj" fmla="val 3488"/>
            </a:avLst>
          </a:prstGeom>
          <a:solidFill>
            <a:srgbClr val="27324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7472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identification</a:t>
            </a:r>
            <a:endParaRPr lang="en-US" sz="850" dirty="0"/>
          </a:p>
        </p:txBody>
      </p:sp>
      <p:sp>
        <p:nvSpPr>
          <p:cNvPr id="12" name="Text 9"/>
          <p:cNvSpPr txBox="1"/>
          <p:nvPr/>
        </p:nvSpPr>
        <p:spPr>
          <a:xfrm>
            <a:off x="3474720" y="1847088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 Household revenue, base and ARPU  ·  p.14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A3 The 2Q26 cleansing  ·  p.15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A4 Paying households  ·  p.16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A5 Rival explanations  ·  p.17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A14 Root cause  ·  p.27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A15 Gap analysis and governing cause  ·  p.28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A16 Prioritisation  ·  p.29</a:t>
            </a:r>
            <a:endParaRPr lang="en-US" sz="620" dirty="0"/>
          </a:p>
        </p:txBody>
      </p:sp>
      <p:sp>
        <p:nvSpPr>
          <p:cNvPr id="13" name="group"/>
          <p:cNvSpPr/>
          <p:nvPr/>
        </p:nvSpPr>
        <p:spPr>
          <a:xfrm>
            <a:off x="6172200" y="1554480"/>
            <a:ext cx="2651760" cy="1572768"/>
          </a:xfrm>
          <a:prstGeom prst="roundRect">
            <a:avLst>
              <a:gd name="adj" fmla="val 3488"/>
            </a:avLst>
          </a:prstGeom>
          <a:solidFill>
            <a:srgbClr val="27324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26364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and research</a:t>
            </a:r>
            <a:endParaRPr lang="en-US" sz="850" dirty="0"/>
          </a:p>
        </p:txBody>
      </p:sp>
      <p:sp>
        <p:nvSpPr>
          <p:cNvPr id="15" name="Text 12"/>
          <p:cNvSpPr txBox="1"/>
          <p:nvPr/>
        </p:nvSpPr>
        <p:spPr>
          <a:xfrm>
            <a:off x="6263640" y="1847088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A6 Market sizing and value pools  ·  p.19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A7 Competitors  ·  p.20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A8 Measured experience  ·  p.21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A9 Digital mystery shop  ·  p.22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A10 Spend  ·  p.23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A11 Usage crossover  ·  p.24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A12 Households  ·  p.25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A13 Offload  ·  p.26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A17 SWOT with a so-what and the TOWS moves mapped to H, O and M  ·  p.30</a:t>
            </a:r>
            <a:endParaRPr lang="en-US" sz="620" dirty="0"/>
          </a:p>
        </p:txBody>
      </p:sp>
      <p:sp>
        <p:nvSpPr>
          <p:cNvPr id="16" name="group"/>
          <p:cNvSpPr/>
          <p:nvPr/>
        </p:nvSpPr>
        <p:spPr>
          <a:xfrm>
            <a:off x="594360" y="3246120"/>
            <a:ext cx="2651760" cy="1572768"/>
          </a:xfrm>
          <a:prstGeom prst="roundRect">
            <a:avLst>
              <a:gd name="adj" fmla="val 3488"/>
            </a:avLst>
          </a:prstGeom>
          <a:solidFill>
            <a:srgbClr val="273244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8580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</a:t>
            </a:r>
            <a:endParaRPr lang="en-US" sz="85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3538728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A18 Product roles and the routing tree  ·  p.31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A19 Initiatives and owners  ·  p.32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A26 Theme  ·  p.41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A28 Considered and parked  ·  p.44</a:t>
            </a:r>
            <a:endParaRPr lang="en-US" sz="620" dirty="0"/>
          </a:p>
        </p:txBody>
      </p:sp>
      <p:sp>
        <p:nvSpPr>
          <p:cNvPr id="19" name="group"/>
          <p:cNvSpPr/>
          <p:nvPr/>
        </p:nvSpPr>
        <p:spPr>
          <a:xfrm>
            <a:off x="3383280" y="3246120"/>
            <a:ext cx="2651760" cy="1572768"/>
          </a:xfrm>
          <a:prstGeom prst="roundRect">
            <a:avLst>
              <a:gd name="adj" fmla="val 3488"/>
            </a:avLst>
          </a:prstGeom>
          <a:solidFill>
            <a:srgbClr val="27324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347472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Feasibility, model and risk</a:t>
            </a:r>
            <a:endParaRPr lang="en-US" sz="850" dirty="0"/>
          </a:p>
        </p:txBody>
      </p:sp>
      <p:sp>
        <p:nvSpPr>
          <p:cNvPr id="21" name="Text 18"/>
          <p:cNvSpPr txBox="1"/>
          <p:nvPr/>
        </p:nvSpPr>
        <p:spPr>
          <a:xfrm>
            <a:off x="3474720" y="3538728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A20 Gates and KPIs  ·  p.33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A21 Financial model  ·  p.34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A22 Financial results  ·  p.36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A23 Sensitivity  ·  p.37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A24 Value split  ·  p.38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A25 Feasibility and trade-offs  ·  p.39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A27 Assumptions register  ·  p.42</a:t>
            </a:r>
            <a:endParaRPr lang="en-US" sz="620" dirty="0"/>
          </a:p>
        </p:txBody>
      </p:sp>
      <p:sp>
        <p:nvSpPr>
          <p:cNvPr id="22" name="group"/>
          <p:cNvSpPr/>
          <p:nvPr/>
        </p:nvSpPr>
        <p:spPr>
          <a:xfrm>
            <a:off x="6172200" y="3246120"/>
            <a:ext cx="2651760" cy="1572768"/>
          </a:xfrm>
          <a:prstGeom prst="roundRect">
            <a:avLst>
              <a:gd name="adj" fmla="val 3488"/>
            </a:avLst>
          </a:prstGeom>
          <a:solidFill>
            <a:srgbClr val="273244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263640" y="32918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FF8A9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6263640" y="3538728"/>
            <a:ext cx="248716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 References  ·  p.45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R2 References  ·  p.46</a:t>
            </a:r>
            <a:endParaRPr lang="en-US" sz="620" dirty="0"/>
          </a:p>
          <a:p>
            <a:pPr indent="0" marL="0">
              <a:buNone/>
            </a:pPr>
            <a:r>
              <a:rPr lang="en-US" sz="62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R3 References  ·  p.47</a:t>
            </a:r>
            <a:endParaRPr lang="en-US" sz="620" dirty="0"/>
          </a:p>
        </p:txBody>
      </p:sp>
      <p:sp>
        <p:nvSpPr>
          <p:cNvPr id="25" name="Text 22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1 (1/2)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Case requirements: every clause of the case question mapped to where the deck answers it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Case book (S01, p.3–4); guidebook (S02)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req 0"/>
          <p:cNvSpPr/>
          <p:nvPr/>
        </p:nvSpPr>
        <p:spPr>
          <a:xfrm>
            <a:off x="274320" y="868680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1" name="check"/>
          <p:cNvSpPr/>
          <p:nvPr/>
        </p:nvSpPr>
        <p:spPr>
          <a:xfrm>
            <a:off x="338328" y="941832"/>
            <a:ext cx="219456" cy="219456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38328" y="941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612648" y="90525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integrated household strategy</a:t>
            </a:r>
            <a:endParaRPr lang="en-US" sz="630" dirty="0"/>
          </a:p>
        </p:txBody>
      </p:sp>
      <p:sp>
        <p:nvSpPr>
          <p:cNvPr id="14" name="Text 11"/>
          <p:cNvSpPr txBox="1"/>
          <p:nvPr/>
        </p:nvSpPr>
        <p:spPr>
          <a:xfrm>
            <a:off x="612648" y="129844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P7 · A19</a:t>
            </a:r>
            <a:endParaRPr lang="en-US" sz="620" dirty="0"/>
          </a:p>
        </p:txBody>
      </p:sp>
      <p:sp>
        <p:nvSpPr>
          <p:cNvPr id="15" name="req 1"/>
          <p:cNvSpPr/>
          <p:nvPr/>
        </p:nvSpPr>
        <p:spPr>
          <a:xfrm>
            <a:off x="2441448" y="868680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6" name="check"/>
          <p:cNvSpPr/>
          <p:nvPr/>
        </p:nvSpPr>
        <p:spPr>
          <a:xfrm>
            <a:off x="2505456" y="941832"/>
            <a:ext cx="219456" cy="219456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505456" y="941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750" dirty="0"/>
          </a:p>
        </p:txBody>
      </p:sp>
      <p:sp>
        <p:nvSpPr>
          <p:cNvPr id="18" name="Text 15"/>
          <p:cNvSpPr txBox="1"/>
          <p:nvPr/>
        </p:nvSpPr>
        <p:spPr>
          <a:xfrm>
            <a:off x="2779776" y="90525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customer segments</a:t>
            </a:r>
            <a:endParaRPr lang="en-US" sz="630" dirty="0"/>
          </a:p>
        </p:txBody>
      </p:sp>
      <p:sp>
        <p:nvSpPr>
          <p:cNvPr id="19" name="Text 16"/>
          <p:cNvSpPr txBox="1"/>
          <p:nvPr/>
        </p:nvSpPr>
        <p:spPr>
          <a:xfrm>
            <a:off x="2779776" y="129844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P8 · A12</a:t>
            </a:r>
            <a:endParaRPr lang="en-US" sz="620" dirty="0"/>
          </a:p>
        </p:txBody>
      </p:sp>
      <p:sp>
        <p:nvSpPr>
          <p:cNvPr id="20" name="req 2"/>
          <p:cNvSpPr/>
          <p:nvPr/>
        </p:nvSpPr>
        <p:spPr>
          <a:xfrm>
            <a:off x="4608576" y="868680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1" name="check"/>
          <p:cNvSpPr/>
          <p:nvPr/>
        </p:nvSpPr>
        <p:spPr>
          <a:xfrm>
            <a:off x="4672584" y="941832"/>
            <a:ext cx="219456" cy="219456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672584" y="941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750" dirty="0"/>
          </a:p>
        </p:txBody>
      </p:sp>
      <p:sp>
        <p:nvSpPr>
          <p:cNvPr id="23" name="Text 20"/>
          <p:cNvSpPr txBox="1"/>
          <p:nvPr/>
        </p:nvSpPr>
        <p:spPr>
          <a:xfrm>
            <a:off x="4946904" y="90525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segment's connectivity needs</a:t>
            </a:r>
            <a:endParaRPr lang="en-US" sz="630" dirty="0"/>
          </a:p>
        </p:txBody>
      </p:sp>
      <p:sp>
        <p:nvSpPr>
          <p:cNvPr id="24" name="Text 21"/>
          <p:cNvSpPr txBox="1"/>
          <p:nvPr/>
        </p:nvSpPr>
        <p:spPr>
          <a:xfrm>
            <a:off x="4946904" y="129844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P5, P8 · A11, A12</a:t>
            </a:r>
            <a:endParaRPr lang="en-US" sz="620" dirty="0"/>
          </a:p>
        </p:txBody>
      </p:sp>
      <p:sp>
        <p:nvSpPr>
          <p:cNvPr id="25" name="req 3"/>
          <p:cNvSpPr/>
          <p:nvPr/>
        </p:nvSpPr>
        <p:spPr>
          <a:xfrm>
            <a:off x="6775704" y="868680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6" name="check"/>
          <p:cNvSpPr/>
          <p:nvPr/>
        </p:nvSpPr>
        <p:spPr>
          <a:xfrm>
            <a:off x="6839712" y="941832"/>
            <a:ext cx="219456" cy="219456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839712" y="9418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750" dirty="0"/>
          </a:p>
        </p:txBody>
      </p:sp>
      <p:sp>
        <p:nvSpPr>
          <p:cNvPr id="28" name="Text 25"/>
          <p:cNvSpPr txBox="1"/>
          <p:nvPr/>
        </p:nvSpPr>
        <p:spPr>
          <a:xfrm>
            <a:off x="7114032" y="90525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Role of IndiHome and Orbit per segment</a:t>
            </a:r>
            <a:endParaRPr lang="en-US" sz="630" dirty="0"/>
          </a:p>
        </p:txBody>
      </p:sp>
      <p:sp>
        <p:nvSpPr>
          <p:cNvPr id="29" name="Text 26"/>
          <p:cNvSpPr txBox="1"/>
          <p:nvPr/>
        </p:nvSpPr>
        <p:spPr>
          <a:xfrm>
            <a:off x="7114032" y="129844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P8 · A18</a:t>
            </a:r>
            <a:endParaRPr lang="en-US" sz="620" dirty="0"/>
          </a:p>
        </p:txBody>
      </p:sp>
      <p:sp>
        <p:nvSpPr>
          <p:cNvPr id="30" name="req 4"/>
          <p:cNvSpPr/>
          <p:nvPr/>
        </p:nvSpPr>
        <p:spPr>
          <a:xfrm>
            <a:off x="274320" y="1600200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1" name="check"/>
          <p:cNvSpPr/>
          <p:nvPr/>
        </p:nvSpPr>
        <p:spPr>
          <a:xfrm>
            <a:off x="338328" y="1673352"/>
            <a:ext cx="219456" cy="219456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38328" y="1673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750" dirty="0"/>
          </a:p>
        </p:txBody>
      </p:sp>
      <p:sp>
        <p:nvSpPr>
          <p:cNvPr id="33" name="Text 30"/>
          <p:cNvSpPr txBox="1"/>
          <p:nvPr/>
        </p:nvSpPr>
        <p:spPr>
          <a:xfrm>
            <a:off x="612648" y="163677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Products not treated as interchangeable</a:t>
            </a:r>
            <a:endParaRPr lang="en-US" sz="630" dirty="0"/>
          </a:p>
        </p:txBody>
      </p:sp>
      <p:sp>
        <p:nvSpPr>
          <p:cNvPr id="34" name="Text 31"/>
          <p:cNvSpPr txBox="1"/>
          <p:nvPr/>
        </p:nvSpPr>
        <p:spPr>
          <a:xfrm>
            <a:off x="612648" y="202996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P5, P8 · A11</a:t>
            </a:r>
            <a:endParaRPr lang="en-US" sz="620" dirty="0"/>
          </a:p>
        </p:txBody>
      </p:sp>
      <p:sp>
        <p:nvSpPr>
          <p:cNvPr id="35" name="req 5"/>
          <p:cNvSpPr/>
          <p:nvPr/>
        </p:nvSpPr>
        <p:spPr>
          <a:xfrm>
            <a:off x="2441448" y="1600200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6" name="check"/>
          <p:cNvSpPr/>
          <p:nvPr/>
        </p:nvSpPr>
        <p:spPr>
          <a:xfrm>
            <a:off x="2505456" y="1673352"/>
            <a:ext cx="219456" cy="219456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2505456" y="1673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750" dirty="0"/>
          </a:p>
        </p:txBody>
      </p:sp>
      <p:sp>
        <p:nvSpPr>
          <p:cNvPr id="38" name="Text 35"/>
          <p:cNvSpPr txBox="1"/>
          <p:nvPr/>
        </p:nvSpPr>
        <p:spPr>
          <a:xfrm>
            <a:off x="2779776" y="163677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Balance of acquisition, affordability, retention, monetisation, experience, differentiation</a:t>
            </a:r>
            <a:endParaRPr lang="en-US" sz="630" dirty="0"/>
          </a:p>
        </p:txBody>
      </p:sp>
      <p:sp>
        <p:nvSpPr>
          <p:cNvPr id="39" name="Text 36"/>
          <p:cNvSpPr txBox="1"/>
          <p:nvPr/>
        </p:nvSpPr>
        <p:spPr>
          <a:xfrm>
            <a:off x="2779776" y="202996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P7 · A25 (2/2)</a:t>
            </a:r>
            <a:endParaRPr lang="en-US" sz="620" dirty="0"/>
          </a:p>
        </p:txBody>
      </p:sp>
      <p:sp>
        <p:nvSpPr>
          <p:cNvPr id="40" name="req 6"/>
          <p:cNvSpPr/>
          <p:nvPr/>
        </p:nvSpPr>
        <p:spPr>
          <a:xfrm>
            <a:off x="4608576" y="1600200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1" name="check"/>
          <p:cNvSpPr/>
          <p:nvPr/>
        </p:nvSpPr>
        <p:spPr>
          <a:xfrm>
            <a:off x="4672584" y="1673352"/>
            <a:ext cx="219456" cy="219456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672584" y="1673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750" dirty="0"/>
          </a:p>
        </p:txBody>
      </p:sp>
      <p:sp>
        <p:nvSpPr>
          <p:cNvPr id="43" name="Text 40"/>
          <p:cNvSpPr txBox="1"/>
          <p:nvPr/>
        </p:nvSpPr>
        <p:spPr>
          <a:xfrm>
            <a:off x="4946904" y="163677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Levers: positioning, migration paths, cross-sell, bundling, FMC, digital services, partnerships</a:t>
            </a:r>
            <a:endParaRPr lang="en-US" sz="630" dirty="0"/>
          </a:p>
        </p:txBody>
      </p:sp>
      <p:sp>
        <p:nvSpPr>
          <p:cNvPr id="44" name="Text 41"/>
          <p:cNvSpPr txBox="1"/>
          <p:nvPr/>
        </p:nvSpPr>
        <p:spPr>
          <a:xfrm>
            <a:off x="4946904" y="202996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P7, P8 · A19</a:t>
            </a:r>
            <a:endParaRPr lang="en-US" sz="620" dirty="0"/>
          </a:p>
        </p:txBody>
      </p:sp>
      <p:sp>
        <p:nvSpPr>
          <p:cNvPr id="45" name="req 7"/>
          <p:cNvSpPr/>
          <p:nvPr/>
        </p:nvSpPr>
        <p:spPr>
          <a:xfrm>
            <a:off x="6775704" y="1600200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6" name="check"/>
          <p:cNvSpPr/>
          <p:nvPr/>
        </p:nvSpPr>
        <p:spPr>
          <a:xfrm>
            <a:off x="6839712" y="1673352"/>
            <a:ext cx="219456" cy="219456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6839712" y="16733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750" dirty="0"/>
          </a:p>
        </p:txBody>
      </p:sp>
      <p:sp>
        <p:nvSpPr>
          <p:cNvPr id="48" name="Text 45"/>
          <p:cNvSpPr txBox="1"/>
          <p:nvPr/>
        </p:nvSpPr>
        <p:spPr>
          <a:xfrm>
            <a:off x="7114032" y="163677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Commercially feasible in Indonesia</a:t>
            </a:r>
            <a:endParaRPr lang="en-US" sz="630" dirty="0"/>
          </a:p>
        </p:txBody>
      </p:sp>
      <p:sp>
        <p:nvSpPr>
          <p:cNvPr id="49" name="Text 46"/>
          <p:cNvSpPr txBox="1"/>
          <p:nvPr/>
        </p:nvSpPr>
        <p:spPr>
          <a:xfrm>
            <a:off x="7114032" y="202996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P10 · A22, A24</a:t>
            </a:r>
            <a:endParaRPr lang="en-US" sz="620" dirty="0"/>
          </a:p>
        </p:txBody>
      </p:sp>
      <p:sp>
        <p:nvSpPr>
          <p:cNvPr id="50" name="req 8"/>
          <p:cNvSpPr/>
          <p:nvPr/>
        </p:nvSpPr>
        <p:spPr>
          <a:xfrm>
            <a:off x="274320" y="2331720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1" name="check"/>
          <p:cNvSpPr/>
          <p:nvPr/>
        </p:nvSpPr>
        <p:spPr>
          <a:xfrm>
            <a:off x="338328" y="2404872"/>
            <a:ext cx="219456" cy="219456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338328" y="2404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750" dirty="0"/>
          </a:p>
        </p:txBody>
      </p:sp>
      <p:sp>
        <p:nvSpPr>
          <p:cNvPr id="53" name="Text 50"/>
          <p:cNvSpPr txBox="1"/>
          <p:nvPr/>
        </p:nvSpPr>
        <p:spPr>
          <a:xfrm>
            <a:off x="612648" y="236829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Operationally feasible</a:t>
            </a:r>
            <a:endParaRPr lang="en-US" sz="630" dirty="0"/>
          </a:p>
        </p:txBody>
      </p:sp>
      <p:sp>
        <p:nvSpPr>
          <p:cNvPr id="54" name="Text 51"/>
          <p:cNvSpPr txBox="1"/>
          <p:nvPr/>
        </p:nvSpPr>
        <p:spPr>
          <a:xfrm>
            <a:off x="612648" y="276148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P9 · A25</a:t>
            </a:r>
            <a:endParaRPr lang="en-US" sz="620" dirty="0"/>
          </a:p>
        </p:txBody>
      </p:sp>
      <p:sp>
        <p:nvSpPr>
          <p:cNvPr id="55" name="req 9"/>
          <p:cNvSpPr/>
          <p:nvPr/>
        </p:nvSpPr>
        <p:spPr>
          <a:xfrm>
            <a:off x="2441448" y="2331720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6" name="check"/>
          <p:cNvSpPr/>
          <p:nvPr/>
        </p:nvSpPr>
        <p:spPr>
          <a:xfrm>
            <a:off x="2505456" y="2404872"/>
            <a:ext cx="219456" cy="219456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2505456" y="2404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750" dirty="0"/>
          </a:p>
        </p:txBody>
      </p:sp>
      <p:sp>
        <p:nvSpPr>
          <p:cNvPr id="58" name="Text 55"/>
          <p:cNvSpPr txBox="1"/>
          <p:nvPr/>
        </p:nvSpPr>
        <p:spPr>
          <a:xfrm>
            <a:off x="2779776" y="236829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Implementation roadmap</a:t>
            </a:r>
            <a:endParaRPr lang="en-US" sz="630" dirty="0"/>
          </a:p>
        </p:txBody>
      </p:sp>
      <p:sp>
        <p:nvSpPr>
          <p:cNvPr id="59" name="Text 56"/>
          <p:cNvSpPr txBox="1"/>
          <p:nvPr/>
        </p:nvSpPr>
        <p:spPr>
          <a:xfrm>
            <a:off x="2779776" y="276148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P9 · A20</a:t>
            </a:r>
            <a:endParaRPr lang="en-US" sz="620" dirty="0"/>
          </a:p>
        </p:txBody>
      </p:sp>
      <p:sp>
        <p:nvSpPr>
          <p:cNvPr id="60" name="req 10"/>
          <p:cNvSpPr/>
          <p:nvPr/>
        </p:nvSpPr>
        <p:spPr>
          <a:xfrm>
            <a:off x="4608576" y="2331720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61" name="check"/>
          <p:cNvSpPr/>
          <p:nvPr/>
        </p:nvSpPr>
        <p:spPr>
          <a:xfrm>
            <a:off x="4672584" y="2404872"/>
            <a:ext cx="219456" cy="219456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4672584" y="2404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750" dirty="0"/>
          </a:p>
        </p:txBody>
      </p:sp>
      <p:sp>
        <p:nvSpPr>
          <p:cNvPr id="63" name="Text 60"/>
          <p:cNvSpPr txBox="1"/>
          <p:nvPr/>
        </p:nvSpPr>
        <p:spPr>
          <a:xfrm>
            <a:off x="4946904" y="236829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 and mitigation</a:t>
            </a:r>
            <a:endParaRPr lang="en-US" sz="630" dirty="0"/>
          </a:p>
        </p:txBody>
      </p:sp>
      <p:sp>
        <p:nvSpPr>
          <p:cNvPr id="64" name="Text 61"/>
          <p:cNvSpPr txBox="1"/>
          <p:nvPr/>
        </p:nvSpPr>
        <p:spPr>
          <a:xfrm>
            <a:off x="4946904" y="276148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P9 · A25</a:t>
            </a:r>
            <a:endParaRPr lang="en-US" sz="620" dirty="0"/>
          </a:p>
        </p:txBody>
      </p:sp>
      <p:sp>
        <p:nvSpPr>
          <p:cNvPr id="65" name="req 11"/>
          <p:cNvSpPr/>
          <p:nvPr/>
        </p:nvSpPr>
        <p:spPr>
          <a:xfrm>
            <a:off x="6775704" y="2331720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66" name="check"/>
          <p:cNvSpPr/>
          <p:nvPr/>
        </p:nvSpPr>
        <p:spPr>
          <a:xfrm>
            <a:off x="6839712" y="2404872"/>
            <a:ext cx="219456" cy="219456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6839712" y="24048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7114032" y="236829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Measurable KPIs</a:t>
            </a:r>
            <a:endParaRPr lang="en-US" sz="630" dirty="0"/>
          </a:p>
        </p:txBody>
      </p:sp>
      <p:sp>
        <p:nvSpPr>
          <p:cNvPr id="69" name="Text 66"/>
          <p:cNvSpPr txBox="1"/>
          <p:nvPr/>
        </p:nvSpPr>
        <p:spPr>
          <a:xfrm>
            <a:off x="7114032" y="276148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P9, P10 · A20</a:t>
            </a:r>
            <a:endParaRPr lang="en-US" sz="620" dirty="0"/>
          </a:p>
        </p:txBody>
      </p:sp>
      <p:sp>
        <p:nvSpPr>
          <p:cNvPr id="70" name="req 12"/>
          <p:cNvSpPr/>
          <p:nvPr/>
        </p:nvSpPr>
        <p:spPr>
          <a:xfrm>
            <a:off x="274320" y="3063240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71" name="check"/>
          <p:cNvSpPr/>
          <p:nvPr/>
        </p:nvSpPr>
        <p:spPr>
          <a:xfrm>
            <a:off x="338328" y="3136392"/>
            <a:ext cx="219456" cy="219456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338328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750" dirty="0"/>
          </a:p>
        </p:txBody>
      </p:sp>
      <p:sp>
        <p:nvSpPr>
          <p:cNvPr id="73" name="Text 70"/>
          <p:cNvSpPr txBox="1"/>
          <p:nvPr/>
        </p:nvSpPr>
        <p:spPr>
          <a:xfrm>
            <a:off x="612648" y="309981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impact: conversion, ARPU uplift, retention, FMC adoption, incremental revenue</a:t>
            </a:r>
            <a:endParaRPr lang="en-US" sz="630" dirty="0"/>
          </a:p>
        </p:txBody>
      </p:sp>
      <p:sp>
        <p:nvSpPr>
          <p:cNvPr id="74" name="Text 71"/>
          <p:cNvSpPr txBox="1"/>
          <p:nvPr/>
        </p:nvSpPr>
        <p:spPr>
          <a:xfrm>
            <a:off x="612648" y="349300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P10 · A22</a:t>
            </a:r>
            <a:endParaRPr lang="en-US" sz="620" dirty="0"/>
          </a:p>
        </p:txBody>
      </p:sp>
      <p:sp>
        <p:nvSpPr>
          <p:cNvPr id="75" name="req 13"/>
          <p:cNvSpPr/>
          <p:nvPr/>
        </p:nvSpPr>
        <p:spPr>
          <a:xfrm>
            <a:off x="2441448" y="3063240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76" name="check"/>
          <p:cNvSpPr/>
          <p:nvPr/>
        </p:nvSpPr>
        <p:spPr>
          <a:xfrm>
            <a:off x="2505456" y="3136392"/>
            <a:ext cx="219456" cy="219456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2505456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750" dirty="0"/>
          </a:p>
        </p:txBody>
      </p:sp>
      <p:sp>
        <p:nvSpPr>
          <p:cNvPr id="78" name="Text 75"/>
          <p:cNvSpPr txBox="1"/>
          <p:nvPr/>
        </p:nvSpPr>
        <p:spPr>
          <a:xfrm>
            <a:off x="2779776" y="309981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relying primarily on price competition</a:t>
            </a:r>
            <a:endParaRPr lang="en-US" sz="630" dirty="0"/>
          </a:p>
        </p:txBody>
      </p:sp>
      <p:sp>
        <p:nvSpPr>
          <p:cNvPr id="79" name="Text 76"/>
          <p:cNvSpPr txBox="1"/>
          <p:nvPr/>
        </p:nvSpPr>
        <p:spPr>
          <a:xfrm>
            <a:off x="2779776" y="349300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P8, P10 · A24</a:t>
            </a:r>
            <a:endParaRPr lang="en-US" sz="620" dirty="0"/>
          </a:p>
        </p:txBody>
      </p:sp>
      <p:sp>
        <p:nvSpPr>
          <p:cNvPr id="80" name="req 14"/>
          <p:cNvSpPr/>
          <p:nvPr/>
        </p:nvSpPr>
        <p:spPr>
          <a:xfrm>
            <a:off x="4608576" y="3063240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81" name="check"/>
          <p:cNvSpPr/>
          <p:nvPr/>
        </p:nvSpPr>
        <p:spPr>
          <a:xfrm>
            <a:off x="4672584" y="3136392"/>
            <a:ext cx="219456" cy="219456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4672584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4946904" y="309981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Stronger long-term household value</a:t>
            </a:r>
            <a:endParaRPr lang="en-US" sz="630" dirty="0"/>
          </a:p>
        </p:txBody>
      </p:sp>
      <p:sp>
        <p:nvSpPr>
          <p:cNvPr id="84" name="Text 81"/>
          <p:cNvSpPr txBox="1"/>
          <p:nvPr/>
        </p:nvSpPr>
        <p:spPr>
          <a:xfrm>
            <a:off x="4946904" y="349300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P10 · A21, A24</a:t>
            </a:r>
            <a:endParaRPr lang="en-US" sz="620" dirty="0"/>
          </a:p>
        </p:txBody>
      </p:sp>
      <p:sp>
        <p:nvSpPr>
          <p:cNvPr id="85" name="req 15"/>
          <p:cNvSpPr/>
          <p:nvPr/>
        </p:nvSpPr>
        <p:spPr>
          <a:xfrm>
            <a:off x="6775704" y="3063240"/>
            <a:ext cx="210312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86" name="check"/>
          <p:cNvSpPr/>
          <p:nvPr/>
        </p:nvSpPr>
        <p:spPr>
          <a:xfrm>
            <a:off x="6839712" y="3136392"/>
            <a:ext cx="219456" cy="219456"/>
          </a:xfrm>
          <a:prstGeom prst="ellipse">
            <a:avLst/>
          </a:prstGeom>
          <a:solidFill>
            <a:srgbClr val="E4002B"/>
          </a:solidFill>
          <a:ln/>
        </p:spPr>
      </p:sp>
      <p:sp>
        <p:nvSpPr>
          <p:cNvPr id="87" name="Text 84"/>
          <p:cNvSpPr txBox="1"/>
          <p:nvPr/>
        </p:nvSpPr>
        <p:spPr>
          <a:xfrm>
            <a:off x="6839712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✔</a:t>
            </a:r>
            <a:endParaRPr lang="en-US" sz="750" dirty="0"/>
          </a:p>
        </p:txBody>
      </p:sp>
      <p:sp>
        <p:nvSpPr>
          <p:cNvPr id="88" name="Text 85"/>
          <p:cNvSpPr txBox="1"/>
          <p:nvPr/>
        </p:nvSpPr>
        <p:spPr>
          <a:xfrm>
            <a:off x="7114032" y="3099816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Increasingly diverse household needs</a:t>
            </a:r>
            <a:endParaRPr lang="en-US" sz="630" dirty="0"/>
          </a:p>
        </p:txBody>
      </p:sp>
      <p:sp>
        <p:nvSpPr>
          <p:cNvPr id="89" name="Text 86"/>
          <p:cNvSpPr txBox="1"/>
          <p:nvPr/>
        </p:nvSpPr>
        <p:spPr>
          <a:xfrm>
            <a:off x="7114032" y="3493008"/>
            <a:ext cx="1719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P5 · A11, A12</a:t>
            </a:r>
            <a:endParaRPr lang="en-US" sz="620" dirty="0"/>
          </a:p>
        </p:txBody>
      </p:sp>
      <p:pic>
        <p:nvPicPr>
          <p:cNvPr id="90" name="Image 1" descr="bann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858768"/>
            <a:ext cx="8595360" cy="274320"/>
          </a:xfrm>
          <a:prstGeom prst="rect">
            <a:avLst/>
          </a:prstGeom>
        </p:spPr>
      </p:pic>
      <p:sp>
        <p:nvSpPr>
          <p:cNvPr id="91" name="Text 87"/>
          <p:cNvSpPr txBox="1"/>
          <p:nvPr/>
        </p:nvSpPr>
        <p:spPr>
          <a:xfrm>
            <a:off x="365760" y="38587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four Key Questions for participants</a:t>
            </a:r>
            <a:endParaRPr lang="en-US" sz="750" dirty="0"/>
          </a:p>
        </p:txBody>
      </p:sp>
      <p:sp>
        <p:nvSpPr>
          <p:cNvPr id="92" name="kq 0"/>
          <p:cNvSpPr/>
          <p:nvPr/>
        </p:nvSpPr>
        <p:spPr>
          <a:xfrm>
            <a:off x="274320" y="4187952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/>
        </p:spPr>
      </p:sp>
      <p:sp>
        <p:nvSpPr>
          <p:cNvPr id="93" name="Text 89"/>
          <p:cNvSpPr txBox="1"/>
          <p:nvPr/>
        </p:nvSpPr>
        <p:spPr>
          <a:xfrm>
            <a:off x="347472" y="4187952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KQ1 Which segments, with what needs</a:t>
            </a:r>
            <a:endParaRPr lang="en-US" sz="64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P8 (priority households) · A12</a:t>
            </a:r>
            <a:endParaRPr lang="en-US" sz="640" dirty="0"/>
          </a:p>
        </p:txBody>
      </p:sp>
      <p:sp>
        <p:nvSpPr>
          <p:cNvPr id="94" name="kq 1"/>
          <p:cNvSpPr/>
          <p:nvPr/>
        </p:nvSpPr>
        <p:spPr>
          <a:xfrm>
            <a:off x="2441448" y="4187952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/>
        </p:spPr>
      </p:sp>
      <p:sp>
        <p:nvSpPr>
          <p:cNvPr id="95" name="Text 91"/>
          <p:cNvSpPr txBox="1"/>
          <p:nvPr/>
        </p:nvSpPr>
        <p:spPr>
          <a:xfrm>
            <a:off x="2514600" y="4187952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KQ2 The role of IndiHome and Orbit</a:t>
            </a:r>
            <a:endParaRPr lang="en-US" sz="64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P8 (check and roles) · A18</a:t>
            </a:r>
            <a:endParaRPr lang="en-US" sz="640" dirty="0"/>
          </a:p>
        </p:txBody>
      </p:sp>
      <p:sp>
        <p:nvSpPr>
          <p:cNvPr id="96" name="kq 2"/>
          <p:cNvSpPr/>
          <p:nvPr/>
        </p:nvSpPr>
        <p:spPr>
          <a:xfrm>
            <a:off x="4608576" y="4187952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/>
        </p:spPr>
      </p:sp>
      <p:sp>
        <p:nvSpPr>
          <p:cNvPr id="97" name="Text 93"/>
          <p:cNvSpPr txBox="1"/>
          <p:nvPr/>
        </p:nvSpPr>
        <p:spPr>
          <a:xfrm>
            <a:off x="4681728" y="4187952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KQ3 Acquire, engage, retain, grow</a:t>
            </a:r>
            <a:endParaRPr lang="en-US" sz="64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P7 (H, O, M) · A19</a:t>
            </a:r>
            <a:endParaRPr lang="en-US" sz="640" dirty="0"/>
          </a:p>
        </p:txBody>
      </p:sp>
      <p:sp>
        <p:nvSpPr>
          <p:cNvPr id="98" name="kq 3"/>
          <p:cNvSpPr/>
          <p:nvPr/>
        </p:nvSpPr>
        <p:spPr>
          <a:xfrm>
            <a:off x="6775704" y="4187952"/>
            <a:ext cx="2103120" cy="566928"/>
          </a:xfrm>
          <a:prstGeom prst="roundRect">
            <a:avLst>
              <a:gd name="adj" fmla="val 8065"/>
            </a:avLst>
          </a:prstGeom>
          <a:solidFill>
            <a:srgbClr val="F1F5F9"/>
          </a:solidFill>
          <a:ln/>
        </p:spPr>
      </p:sp>
      <p:sp>
        <p:nvSpPr>
          <p:cNvPr id="99" name="Text 95"/>
          <p:cNvSpPr txBox="1"/>
          <p:nvPr/>
        </p:nvSpPr>
        <p:spPr>
          <a:xfrm>
            <a:off x="6848856" y="4187952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KQ4 Implement and measure</a:t>
            </a:r>
            <a:endParaRPr lang="en-US" sz="64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P9, P10 · A20–A24</a:t>
            </a:r>
            <a:endParaRPr lang="en-US" sz="6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1 (2/2)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Scoring matrix: where each criterion is answered, weighted as the judges weight it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Guidebook, scoring matrix (S02, p.10)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core row"/>
          <p:cNvSpPr/>
          <p:nvPr/>
        </p:nvSpPr>
        <p:spPr>
          <a:xfrm>
            <a:off x="274320" y="896112"/>
            <a:ext cx="8595360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65760" y="89611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Summary</a:t>
            </a:r>
            <a:endParaRPr lang="en-US" sz="750" dirty="0"/>
          </a:p>
        </p:txBody>
      </p:sp>
      <p:sp>
        <p:nvSpPr>
          <p:cNvPr id="12" name="weight bar"/>
          <p:cNvSpPr/>
          <p:nvPr/>
        </p:nvSpPr>
        <p:spPr>
          <a:xfrm>
            <a:off x="1783080" y="1078992"/>
            <a:ext cx="243840" cy="182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072640" y="89611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5%</a:t>
            </a:r>
            <a:endParaRPr lang="en-US" sz="8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89611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Concise summary; problem, solution and outcomes communicated</a:t>
            </a:r>
            <a:endParaRPr lang="en-US" sz="630" dirty="0"/>
          </a:p>
        </p:txBody>
      </p:sp>
      <p:sp>
        <p:nvSpPr>
          <p:cNvPr id="15" name="Text 12"/>
          <p:cNvSpPr txBox="1"/>
          <p:nvPr/>
        </p:nvSpPr>
        <p:spPr>
          <a:xfrm>
            <a:off x="6400800" y="8961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P1 (SCSI matrix, number row)</a:t>
            </a:r>
            <a:endParaRPr lang="en-US" sz="640" dirty="0"/>
          </a:p>
        </p:txBody>
      </p:sp>
      <p:sp>
        <p:nvSpPr>
          <p:cNvPr id="16" name="score row"/>
          <p:cNvSpPr/>
          <p:nvPr/>
        </p:nvSpPr>
        <p:spPr>
          <a:xfrm>
            <a:off x="274320" y="1517904"/>
            <a:ext cx="85953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365760" y="151790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Identification</a:t>
            </a:r>
            <a:endParaRPr lang="en-US" sz="750" dirty="0"/>
          </a:p>
        </p:txBody>
      </p:sp>
      <p:sp>
        <p:nvSpPr>
          <p:cNvPr id="18" name="weight bar"/>
          <p:cNvSpPr/>
          <p:nvPr/>
        </p:nvSpPr>
        <p:spPr>
          <a:xfrm>
            <a:off x="1783080" y="1700784"/>
            <a:ext cx="731520" cy="182880"/>
          </a:xfrm>
          <a:prstGeom prst="rect">
            <a:avLst/>
          </a:prstGeom>
          <a:solidFill>
            <a:srgbClr val="A5002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560320" y="151790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15%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3794760" y="151790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problem; depth of understanding; issues prioritised by significance and impact</a:t>
            </a:r>
            <a:endParaRPr lang="en-US" sz="630" dirty="0"/>
          </a:p>
        </p:txBody>
      </p:sp>
      <p:sp>
        <p:nvSpPr>
          <p:cNvPr id="21" name="Text 18"/>
          <p:cNvSpPr txBox="1"/>
          <p:nvPr/>
        </p:nvSpPr>
        <p:spPr>
          <a:xfrm>
            <a:off x="6400800" y="151790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P3 (issue tree, scores), P6; A3–A5, A14–A16</a:t>
            </a:r>
            <a:endParaRPr lang="en-US" sz="640" dirty="0"/>
          </a:p>
        </p:txBody>
      </p:sp>
      <p:sp>
        <p:nvSpPr>
          <p:cNvPr id="22" name="score row"/>
          <p:cNvSpPr/>
          <p:nvPr/>
        </p:nvSpPr>
        <p:spPr>
          <a:xfrm>
            <a:off x="274320" y="2139696"/>
            <a:ext cx="8595360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65760" y="213969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Analysis and Research</a:t>
            </a:r>
            <a:endParaRPr lang="en-US" sz="750" dirty="0"/>
          </a:p>
        </p:txBody>
      </p:sp>
      <p:sp>
        <p:nvSpPr>
          <p:cNvPr id="24" name="weight bar"/>
          <p:cNvSpPr/>
          <p:nvPr/>
        </p:nvSpPr>
        <p:spPr>
          <a:xfrm>
            <a:off x="1783080" y="2322576"/>
            <a:ext cx="1219200" cy="18288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048000" y="213969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25%</a:t>
            </a:r>
            <a:endParaRPr lang="en-US" sz="800" dirty="0"/>
          </a:p>
        </p:txBody>
      </p:sp>
      <p:sp>
        <p:nvSpPr>
          <p:cNvPr id="26" name="Text 23"/>
          <p:cNvSpPr txBox="1"/>
          <p:nvPr/>
        </p:nvSpPr>
        <p:spPr>
          <a:xfrm>
            <a:off x="3794760" y="213969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Relevant research; quality of data, tools and methods; opportunities, risks, threats and strengths</a:t>
            </a:r>
            <a:endParaRPr lang="en-US" sz="630" dirty="0"/>
          </a:p>
        </p:txBody>
      </p:sp>
      <p:sp>
        <p:nvSpPr>
          <p:cNvPr id="27" name="Text 24"/>
          <p:cNvSpPr txBox="1"/>
          <p:nvPr/>
        </p:nvSpPr>
        <p:spPr>
          <a:xfrm>
            <a:off x="6400800" y="213969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P2, P4, P5; A2–A13, A17</a:t>
            </a:r>
            <a:endParaRPr lang="en-US" sz="640" dirty="0"/>
          </a:p>
        </p:txBody>
      </p:sp>
      <p:sp>
        <p:nvSpPr>
          <p:cNvPr id="28" name="score row"/>
          <p:cNvSpPr/>
          <p:nvPr/>
        </p:nvSpPr>
        <p:spPr>
          <a:xfrm>
            <a:off x="274320" y="2761488"/>
            <a:ext cx="85953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65760" y="276148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Solution Quality</a:t>
            </a:r>
            <a:endParaRPr lang="en-US" sz="750" dirty="0"/>
          </a:p>
        </p:txBody>
      </p:sp>
      <p:sp>
        <p:nvSpPr>
          <p:cNvPr id="30" name="weight bar"/>
          <p:cNvSpPr/>
          <p:nvPr/>
        </p:nvSpPr>
        <p:spPr>
          <a:xfrm>
            <a:off x="1783080" y="2944368"/>
            <a:ext cx="1463040" cy="18288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291840" y="276148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30%</a:t>
            </a:r>
            <a:endParaRPr lang="en-US" sz="800" dirty="0"/>
          </a:p>
        </p:txBody>
      </p:sp>
      <p:sp>
        <p:nvSpPr>
          <p:cNvPr id="32" name="Text 29"/>
          <p:cNvSpPr txBox="1"/>
          <p:nvPr/>
        </p:nvSpPr>
        <p:spPr>
          <a:xfrm>
            <a:off x="3794760" y="27614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Critical, strategic reasoning; creative solutions consistent with the analysis</a:t>
            </a:r>
            <a:endParaRPr lang="en-US" sz="630" dirty="0"/>
          </a:p>
        </p:txBody>
      </p:sp>
      <p:sp>
        <p:nvSpPr>
          <p:cNvPr id="33" name="Text 30"/>
          <p:cNvSpPr txBox="1"/>
          <p:nvPr/>
        </p:nvSpPr>
        <p:spPr>
          <a:xfrm>
            <a:off x="6400800" y="276148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P6 bridge, P7, P8; A18, A19, A26</a:t>
            </a:r>
            <a:endParaRPr lang="en-US" sz="640" dirty="0"/>
          </a:p>
        </p:txBody>
      </p:sp>
      <p:sp>
        <p:nvSpPr>
          <p:cNvPr id="34" name="score row"/>
          <p:cNvSpPr/>
          <p:nvPr/>
        </p:nvSpPr>
        <p:spPr>
          <a:xfrm>
            <a:off x="274320" y="3383280"/>
            <a:ext cx="8595360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365760" y="3383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Feasibility and Risk</a:t>
            </a:r>
            <a:endParaRPr lang="en-US" sz="750" dirty="0"/>
          </a:p>
        </p:txBody>
      </p:sp>
      <p:sp>
        <p:nvSpPr>
          <p:cNvPr id="36" name="weight bar"/>
          <p:cNvSpPr/>
          <p:nvPr/>
        </p:nvSpPr>
        <p:spPr>
          <a:xfrm>
            <a:off x="1783080" y="3566160"/>
            <a:ext cx="975360" cy="182880"/>
          </a:xfrm>
          <a:prstGeom prst="rect">
            <a:avLst/>
          </a:prstGeom>
          <a:solidFill>
            <a:srgbClr val="A50021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2804160" y="338328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20%</a:t>
            </a:r>
            <a:endParaRPr lang="en-US" sz="800" dirty="0"/>
          </a:p>
        </p:txBody>
      </p:sp>
      <p:sp>
        <p:nvSpPr>
          <p:cNvPr id="38" name="Text 35"/>
          <p:cNvSpPr txBox="1"/>
          <p:nvPr/>
        </p:nvSpPr>
        <p:spPr>
          <a:xfrm>
            <a:off x="3794760" y="33832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Realistic, sequenced plan; sound financial model tied to operations; risks, trade-offs, contingencies</a:t>
            </a:r>
            <a:endParaRPr lang="en-US" sz="630" dirty="0"/>
          </a:p>
        </p:txBody>
      </p:sp>
      <p:sp>
        <p:nvSpPr>
          <p:cNvPr id="39" name="Text 36"/>
          <p:cNvSpPr txBox="1"/>
          <p:nvPr/>
        </p:nvSpPr>
        <p:spPr>
          <a:xfrm>
            <a:off x="6400800" y="33832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P9, P10; A20–A25, A27</a:t>
            </a:r>
            <a:endParaRPr lang="en-US" sz="640" dirty="0"/>
          </a:p>
        </p:txBody>
      </p:sp>
      <p:sp>
        <p:nvSpPr>
          <p:cNvPr id="40" name="score row"/>
          <p:cNvSpPr/>
          <p:nvPr/>
        </p:nvSpPr>
        <p:spPr>
          <a:xfrm>
            <a:off x="274320" y="4005072"/>
            <a:ext cx="859536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365760" y="40050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Formatting</a:t>
            </a:r>
            <a:endParaRPr lang="en-US" sz="750" dirty="0"/>
          </a:p>
        </p:txBody>
      </p:sp>
      <p:sp>
        <p:nvSpPr>
          <p:cNvPr id="42" name="weight bar"/>
          <p:cNvSpPr/>
          <p:nvPr/>
        </p:nvSpPr>
        <p:spPr>
          <a:xfrm>
            <a:off x="1783080" y="4187952"/>
            <a:ext cx="243840" cy="18288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2072640" y="400507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5%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3794760" y="400507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 compliance; clear professional business English</a:t>
            </a:r>
            <a:endParaRPr lang="en-US" sz="630" dirty="0"/>
          </a:p>
        </p:txBody>
      </p:sp>
      <p:sp>
        <p:nvSpPr>
          <p:cNvPr id="45" name="Text 42"/>
          <p:cNvSpPr txBox="1"/>
          <p:nvPr/>
        </p:nvSpPr>
        <p:spPr>
          <a:xfrm>
            <a:off x="6400800" y="400507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core pages, 16:9 PDF, English, references (R1–R3)</a:t>
            </a:r>
            <a:endParaRPr lang="en-US" sz="640" dirty="0"/>
          </a:p>
        </p:txBody>
      </p:sp>
      <p:sp>
        <p:nvSpPr>
          <p:cNvPr id="46" name="Text 43"/>
          <p:cNvSpPr txBox="1"/>
          <p:nvPr/>
        </p:nvSpPr>
        <p:spPr>
          <a:xfrm>
            <a:off x="274320" y="466344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Half the marks (Solution 30% + Feasibility 20%) sit on the answer and its execution, so the solution is built from the analysis (P6) and every model figure ties to a gate (P9) and an appendix page (A21–A24).</a:t>
            </a:r>
            <a:endParaRPr lang="en-US" sz="62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revenue, base and ARPU: revenue fell in 2025 and 1H26 while the reported base shrank 5.4%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Telkomsel AR 2025 (S03); Telkom info memos FY24–1H26 (S04–S08); our calculation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412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revenue a quarter (Rp bn)</a:t>
            </a:r>
            <a:endParaRPr lang="en-US" sz="8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228600" y="1024128"/>
          <a:ext cx="292608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3291840" y="8412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Reported base, thousands of homes</a:t>
            </a:r>
            <a:endParaRPr lang="en-US" sz="800" dirty="0"/>
          </a:p>
        </p:txBody>
      </p:sp>
      <p:graphicFrame>
        <p:nvGraphicFramePr>
          <p:cNvPr id="13" name="Chart 1" descr=""/>
          <p:cNvGraphicFramePr/>
          <p:nvPr/>
        </p:nvGraphicFramePr>
        <p:xfrm>
          <a:off x="3246120" y="1024128"/>
          <a:ext cx="292608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6309360" y="8412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bridge 2024 → 2025 (Rp bn)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051560"/>
          <a:ext cx="256032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 bn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FY2024 revenue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26,606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 volume (avg base 9.153M → 9.968M)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+2,369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 price and mix (Rp242.2k → Rp218.8k)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−2,807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FY2025 revenue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26,168</a:t>
                      </a:r>
                      <a:pPr algn="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(−1.6%)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 txBox="1"/>
          <p:nvPr/>
        </p:nvSpPr>
        <p:spPr>
          <a:xfrm>
            <a:off x="274320" y="2852928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ARPU on three bases, 2Q26 (Rp k a month)</a:t>
            </a:r>
            <a:endParaRPr lang="en-US" sz="8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63240"/>
          <a:ext cx="5852160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640080"/>
                <a:gridCol w="1965960"/>
                <a:gridCol w="10972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ARPU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vs cheapest standalone plan ex-VAT (Rp216.2k)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6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Basis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 reported (implies ≈10.14M accounts)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210.8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−2.5%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Telkom 1H26 Info Memo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the 9.513M closing base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224.6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+3.9%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our calculation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a paying base under the 0.8M reading (≈9.11M)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234.5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+8.4%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estimate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annual"/>
          <p:cNvSpPr/>
          <p:nvPr/>
        </p:nvSpPr>
        <p:spPr>
          <a:xfrm>
            <a:off x="6309360" y="2514600"/>
            <a:ext cx="2560320" cy="2212848"/>
          </a:xfrm>
          <a:prstGeom prst="roundRect">
            <a:avLst>
              <a:gd name="adj" fmla="val 2479"/>
            </a:avLst>
          </a:prstGeom>
          <a:solidFill>
            <a:srgbClr val="F1F5F9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6400800" y="2560320"/>
            <a:ext cx="237744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series</a:t>
            </a:r>
            <a:endParaRPr lang="en-US" sz="63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ARPU </a:t>
            </a:r>
            <a:pPr indent="0" marL="0">
              <a:spcAft>
                <a:spcPts val="300"/>
              </a:spcAft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Rp253k → Rp237.6k → Rp213.5k</a:t>
            </a:r>
            <a:pPr indent="0" marL="0">
              <a:spcAft>
                <a:spcPts val="300"/>
              </a:spcAft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(2023–2025), −15.6% in two years.</a:t>
            </a:r>
            <a:endParaRPr lang="en-US" sz="63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</a:t>
            </a:r>
            <a:pPr indent="0" marL="0">
              <a:spcAft>
                <a:spcPts val="300"/>
              </a:spcAft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Rp26.6T → Rp26.2T</a:t>
            </a:r>
            <a:pPr indent="0" marL="0">
              <a:spcAft>
                <a:spcPts val="300"/>
              </a:spcAft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(2024–2025); 1H26 </a:t>
            </a:r>
            <a:pPr indent="0" marL="0">
              <a:spcAft>
                <a:spcPts val="300"/>
              </a:spcAft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Rp12.78T, −3.8%</a:t>
            </a:r>
            <a:pPr indent="0" marL="0">
              <a:spcAft>
                <a:spcPts val="300"/>
              </a:spcAft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YoY.</a:t>
            </a:r>
            <a:endParaRPr lang="en-US" sz="63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 ARPU fell </a:t>
            </a:r>
            <a:pPr indent="0" marL="0">
              <a:spcAft>
                <a:spcPts val="300"/>
              </a:spcAft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3.1%</a:t>
            </a:r>
            <a:pPr indent="0" marL="0">
              <a:spcAft>
                <a:spcPts val="300"/>
              </a:spcAft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2025 but rose </a:t>
            </a:r>
            <a:pPr indent="0" marL="0">
              <a:spcAft>
                <a:spcPts val="300"/>
              </a:spcAft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9.0%</a:t>
            </a:r>
            <a:pPr indent="0" marL="0">
              <a:spcAft>
                <a:spcPts val="300"/>
              </a:spcAft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YoY in 2Q26; mobile revenue </a:t>
            </a:r>
            <a:pPr indent="0" marL="0">
              <a:spcAft>
                <a:spcPts val="300"/>
              </a:spcAft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+5.6%</a:t>
            </a:r>
            <a:pPr indent="0" marL="0">
              <a:spcAft>
                <a:spcPts val="300"/>
              </a:spcAft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1H26.</a:t>
            </a:r>
            <a:endParaRPr lang="en-US" sz="63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2Q26 +0.6% QoQ</a:t>
            </a:r>
            <a:pPr indent="0" marL="0">
              <a:spcAft>
                <a:spcPts val="300"/>
              </a:spcAft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is helped by removing inactive accounts and World Cup marketing: one quarter is not a turn.</a:t>
            </a:r>
            <a:endParaRPr lang="en-US" sz="630" dirty="0"/>
          </a:p>
        </p:txBody>
      </p:sp>
      <p:sp>
        <p:nvSpPr>
          <p:cNvPr id="20" name="Text 13"/>
          <p:cNvSpPr txBox="1"/>
          <p:nvPr/>
        </p:nvSpPr>
        <p:spPr>
          <a:xfrm>
            <a:off x="274320" y="422452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Reading: whichever base is used, the average IndiHome home pays between 2.5% below and 8.4% above Jakarta Selatan's cheapest standalone plan, so upsell depth is shallow.</a:t>
            </a:r>
            <a:endParaRPr lang="en-US" sz="6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2Q26 cleansing: two readings of its size, and where the net fall sat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Telkom 1H26 Info Memo p.43 (S04); BRI Danareksa, 5 Aug 2026 (S09); Telkom info memos (S05–S08); our calculation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412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Two readings of the same event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4206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08760"/>
                <a:gridCol w="1508760"/>
              </a:tblGrid>
              <a:tr h="274320"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Telkom's memo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BRI Danareksa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it says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"~1.2 Mn · inactive, non-revenue-contributing customers with a LoS of &gt;12 months"; one-off ~Rp130bn non-cash adjustment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"cleansed ~800k of non-contributing subs"; phased cleansing; FY26F base 9.124M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Implied 2Q26 underlying net adds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+386k</a:t>
                      </a:r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(vs +3k in 1Q26)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−14k</a:t>
                      </a:r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in line with 1Q26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Inactive accounts still in 9.513M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~0.4M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 of net adds Jan 2024–Jun 2025 (1.367M)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87.8%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58.5%</a:t>
                      </a:r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removed so far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 of the 1Q26 base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11.6%</a:t>
                      </a:r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(1 in 9)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7.7%</a:t>
                      </a:r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(1 in 13)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274320" y="34290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4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slide does not say the accounts never paid; it says they were older than 12 months and brought in no revenue. The deck carries both readings as a range: </a:t>
            </a:r>
            <a:pPr indent="0" marL="0">
              <a:buNone/>
            </a:pPr>
            <a:r>
              <a:rPr lang="en-US" sz="640" b="1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0.8–1.2M</a:t>
            </a:r>
            <a:pPr indent="0" marL="0">
              <a:buNone/>
            </a:pPr>
            <a:r>
              <a:rPr lang="en-US" sz="64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64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8412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Quarterly change in homes (thousands): converged vs without a Telkomsel line</a:t>
            </a:r>
            <a:endParaRPr lang="en-US" sz="8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4617720" y="1024128"/>
          <a:ext cx="42519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reading"/>
          <p:cNvSpPr/>
          <p:nvPr/>
        </p:nvSpPr>
        <p:spPr>
          <a:xfrm>
            <a:off x="4663440" y="3474720"/>
            <a:ext cx="4206240" cy="1261872"/>
          </a:xfrm>
          <a:prstGeom prst="roundRect">
            <a:avLst>
              <a:gd name="adj" fmla="val 4348"/>
            </a:avLst>
          </a:prstGeom>
          <a:solidFill>
            <a:srgbClr val="F1F5F9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4736592" y="3502152"/>
            <a:ext cx="406908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series shows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In 1H25 almost all net growth was in homes </a:t>
            </a:r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</a:t>
            </a:r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Telkomsel line (+449k base, ≈+13k converged).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In 2Q26 the net fall sat in that pool: </a:t>
            </a:r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−899k vs +85k</a:t>
            </a:r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converged (net; which accounts were removed is not published).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The 4Q25 jump (+420k converged on +63k net adds) may be better matching after one bill; 3Q25 is derived from a rounded rate.</a:t>
            </a:r>
            <a:endParaRPr lang="en-US" sz="6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Paying households: revenue per paying home fell in every timing scenario, and the timing test with its break-even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Telkomsel AR 2025 (S03); Telkom info memos (S04–S08); press timing (S10); our calculation and simulation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4124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Change in revenue per household, 2024 → 2025, by when the inactive stock built up (%)</a:t>
            </a:r>
            <a:endParaRPr lang="en-US" sz="8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228600" y="1024128"/>
          <a:ext cx="41148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17520"/>
          <a:ext cx="40233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731520"/>
                <a:gridCol w="822960"/>
                <a:gridCol w="118872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4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Scenario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Paying growth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 paying home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Volume / price-mix (Rp bn)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Reported view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+8.9%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−9.7%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+2,369 / −2,807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Built in 1H25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−0.9%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−0.7%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−247 / −191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Built Jan 2024 → Jun 2025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+1.3%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−2.9%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+350 / −788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Constant legacy stock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+10.2%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−10.8%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+2,727 / −3,165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27432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row adds to the same −Rp438bn. Scenarios use the 1.2M stock; 0.8M narrows the spread.</a:t>
            </a:r>
            <a:endParaRPr lang="en-US" sz="600" dirty="0"/>
          </a:p>
        </p:txBody>
      </p:sp>
      <p:sp>
        <p:nvSpPr>
          <p:cNvPr id="14" name="Text 9"/>
          <p:cNvSpPr txBox="1"/>
          <p:nvPr/>
        </p:nvSpPr>
        <p:spPr>
          <a:xfrm>
            <a:off x="4526280" y="841248"/>
            <a:ext cx="4343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Timing-based test: stock held constant from mid-2025</a:t>
            </a:r>
            <a:endParaRPr lang="en-US" sz="8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26280" y="1051560"/>
          <a:ext cx="43434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914400"/>
                <a:gridCol w="1280160"/>
                <a:gridCol w="10058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Quarter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 (Rp bn)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 paying home, 1.2M stock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Same, 0.8M stock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3Q25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6,490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Rp241.4k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Rp231.1k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4Q25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6,396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Rp234.5k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1Q26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6,370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Rp232.7k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Rp222.9k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Change 3Q25 → 1Q26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−3.6%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−3.5%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breakeven"/>
          <p:cNvSpPr/>
          <p:nvPr/>
        </p:nvSpPr>
        <p:spPr>
          <a:xfrm>
            <a:off x="4526280" y="2423160"/>
            <a:ext cx="43434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4002B"/>
            </a:solidFill>
            <a:prstDash val="dash"/>
          </a:ln>
        </p:spPr>
      </p:sp>
      <p:sp>
        <p:nvSpPr>
          <p:cNvPr id="17" name="Text 11"/>
          <p:cNvSpPr txBox="1"/>
          <p:nvPr/>
        </p:nvSpPr>
        <p:spPr>
          <a:xfrm>
            <a:off x="4617720" y="24231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0.33M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5577840" y="24231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non-payers between 3Q25 and 1Q26 would erase the fall (0.33–0.34M by stock); provisions were still rising in 1H26, so the test is </a:t>
            </a:r>
            <a:pPr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that falls short of proof</a:t>
            </a:r>
            <a:pPr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660" dirty="0"/>
          </a:p>
        </p:txBody>
      </p:sp>
      <p:sp>
        <p:nvSpPr>
          <p:cNvPr id="19" name="holds"/>
          <p:cNvSpPr/>
          <p:nvPr/>
        </p:nvSpPr>
        <p:spPr>
          <a:xfrm>
            <a:off x="4526280" y="3429000"/>
            <a:ext cx="4343400" cy="128016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4617720" y="3456432"/>
            <a:ext cx="418795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holds in every reading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Household revenue fell: </a:t>
            </a:r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−1.6%</a:t>
            </a:r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2025, </a:t>
            </a:r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−3.8%</a:t>
            </a:r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 1H26.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Revenue per paying household fell in all three timing scenarios (</a:t>
            </a:r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−0.7% to −10.8%</a:t>
            </a:r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The likeliest timing (built Jan 2024 → Jun 2025) means little real volume growth (+1.3%) and a moderate price-mix fall (−2.9%).</a:t>
            </a:r>
            <a:endParaRPr lang="en-US" sz="610" dirty="0"/>
          </a:p>
          <a:p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The cleansing is a robustness check; the headline is the role mismatch.</a:t>
            </a:r>
            <a:endParaRPr lang="en-US" sz="6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5 (1/2)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Rival explanations: eleven alternatives tested against the evidence (1/2)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02 §3: Telkomsel AR 2025 (S03); Telkom 1H26 Info Memo (S04); Opensignal (S14); Surge disclosures (S48, S58, S60); MPA (S24)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17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22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Explanation</a:t>
            </a:r>
            <a:endParaRPr lang="en-US" sz="66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822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it were the cause, we would see…</a:t>
            </a:r>
            <a:endParaRPr lang="en-US" sz="660" dirty="0"/>
          </a:p>
        </p:txBody>
      </p:sp>
      <p:sp>
        <p:nvSpPr>
          <p:cNvPr id="12" name="Text 9"/>
          <p:cNvSpPr txBox="1"/>
          <p:nvPr/>
        </p:nvSpPr>
        <p:spPr>
          <a:xfrm>
            <a:off x="3749040" y="822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numbers show</a:t>
            </a:r>
            <a:endParaRPr lang="en-US" sz="66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822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Verdict</a:t>
            </a:r>
            <a:endParaRPr lang="en-US" sz="660" dirty="0"/>
          </a:p>
        </p:txBody>
      </p:sp>
      <p:sp>
        <p:nvSpPr>
          <p:cNvPr id="14" name="rival Macro squeeze"/>
          <p:cNvSpPr/>
          <p:nvPr/>
        </p:nvSpPr>
        <p:spPr>
          <a:xfrm>
            <a:off x="274320" y="1042416"/>
            <a:ext cx="859536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7472" y="104241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 · Macro squeeze</a:t>
            </a:r>
            <a:endParaRPr lang="en-US" sz="680" dirty="0"/>
          </a:p>
        </p:txBody>
      </p:sp>
      <p:sp>
        <p:nvSpPr>
          <p:cNvPr id="16" name="Text 13"/>
          <p:cNvSpPr txBox="1"/>
          <p:nvPr/>
        </p:nvSpPr>
        <p:spPr>
          <a:xfrm>
            <a:off x="1874520" y="10424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household telecom spend falling</a:t>
            </a:r>
            <a:endParaRPr lang="en-US" sz="630" dirty="0"/>
          </a:p>
        </p:txBody>
      </p:sp>
      <p:sp>
        <p:nvSpPr>
          <p:cNvPr id="17" name="Text 14"/>
          <p:cNvSpPr txBox="1"/>
          <p:nvPr/>
        </p:nvSpPr>
        <p:spPr>
          <a:xfrm>
            <a:off x="3749040" y="104241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2025: mobile ARPU also fell 3.1%; 2026: mobile ARPU +9.0%, mobile revenue +5.6% while household revenue fell 3.8%</a:t>
            </a:r>
            <a:endParaRPr lang="en-US" sz="630" dirty="0"/>
          </a:p>
        </p:txBody>
      </p:sp>
      <p:sp>
        <p:nvSpPr>
          <p:cNvPr id="18" name="pill"/>
          <p:cNvSpPr/>
          <p:nvPr/>
        </p:nvSpPr>
        <p:spPr>
          <a:xfrm>
            <a:off x="7498080" y="1188720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0" y="118872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for 2026</a:t>
            </a:r>
            <a:endParaRPr lang="en-US" sz="600" dirty="0"/>
          </a:p>
        </p:txBody>
      </p:sp>
      <p:sp>
        <p:nvSpPr>
          <p:cNvPr id="20" name="rival A price war"/>
          <p:cNvSpPr/>
          <p:nvPr/>
        </p:nvSpPr>
        <p:spPr>
          <a:xfrm>
            <a:off x="274320" y="1645920"/>
            <a:ext cx="85953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7472" y="164592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R2 · A price war</a:t>
            </a:r>
            <a:endParaRPr lang="en-US" sz="680" dirty="0"/>
          </a:p>
        </p:txBody>
      </p:sp>
      <p:sp>
        <p:nvSpPr>
          <p:cNvPr id="22" name="Text 19"/>
          <p:cNvSpPr txBox="1"/>
          <p:nvPr/>
        </p:nvSpPr>
        <p:spPr>
          <a:xfrm>
            <a:off x="1874520" y="16459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cutting headline prices</a:t>
            </a:r>
            <a:endParaRPr lang="en-US" sz="630" dirty="0"/>
          </a:p>
        </p:txBody>
      </p:sp>
      <p:sp>
        <p:nvSpPr>
          <p:cNvPr id="23" name="Text 20"/>
          <p:cNvSpPr txBox="1"/>
          <p:nvPr/>
        </p:nvSpPr>
        <p:spPr>
          <a:xfrm>
            <a:off x="3749040" y="16459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headline cut (100 Mbps Rp270k, below rival fiber at Rp345–482k); speed and content added at the same price; Starlite at Rp100k since 2025</a:t>
            </a:r>
            <a:endParaRPr lang="en-US" sz="630" dirty="0"/>
          </a:p>
        </p:txBody>
      </p:sp>
      <p:sp>
        <p:nvSpPr>
          <p:cNvPr id="24" name="pill"/>
          <p:cNvSpPr/>
          <p:nvPr/>
        </p:nvSpPr>
        <p:spPr>
          <a:xfrm>
            <a:off x="7498080" y="179222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498080" y="17922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 only</a:t>
            </a:r>
            <a:endParaRPr lang="en-US" sz="600" dirty="0"/>
          </a:p>
        </p:txBody>
      </p:sp>
      <p:sp>
        <p:nvSpPr>
          <p:cNvPr id="26" name="rival Accounting: only the cleansing"/>
          <p:cNvSpPr/>
          <p:nvPr/>
        </p:nvSpPr>
        <p:spPr>
          <a:xfrm>
            <a:off x="274320" y="2249424"/>
            <a:ext cx="859536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47472" y="224942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R3 · Accounting: only the cleansing</a:t>
            </a:r>
            <a:endParaRPr lang="en-US" sz="680" dirty="0"/>
          </a:p>
        </p:txBody>
      </p:sp>
      <p:sp>
        <p:nvSpPr>
          <p:cNvPr id="28" name="Text 25"/>
          <p:cNvSpPr txBox="1"/>
          <p:nvPr/>
        </p:nvSpPr>
        <p:spPr>
          <a:xfrm>
            <a:off x="1874520" y="22494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flat, only counts and ARPU moving</a:t>
            </a:r>
            <a:endParaRPr lang="en-US" sz="630" dirty="0"/>
          </a:p>
        </p:txBody>
      </p:sp>
      <p:sp>
        <p:nvSpPr>
          <p:cNvPr id="29" name="Text 26"/>
          <p:cNvSpPr txBox="1"/>
          <p:nvPr/>
        </p:nvSpPr>
        <p:spPr>
          <a:xfrm>
            <a:off x="3749040" y="224942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fell −1.6% (2025) and −3.8% (1H26); per paying home −3.5% in two quarters with the stock constant</a:t>
            </a:r>
            <a:endParaRPr lang="en-US" sz="630" dirty="0"/>
          </a:p>
        </p:txBody>
      </p:sp>
      <p:sp>
        <p:nvSpPr>
          <p:cNvPr id="30" name="pill"/>
          <p:cNvSpPr/>
          <p:nvPr/>
        </p:nvSpPr>
        <p:spPr>
          <a:xfrm>
            <a:off x="7498080" y="2395728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498080" y="239572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 as whole story</a:t>
            </a:r>
            <a:endParaRPr lang="en-US" sz="600" dirty="0"/>
          </a:p>
        </p:txBody>
      </p:sp>
      <p:sp>
        <p:nvSpPr>
          <p:cNvPr id="32" name="rival Saturation"/>
          <p:cNvSpPr/>
          <p:nvPr/>
        </p:nvSpPr>
        <p:spPr>
          <a:xfrm>
            <a:off x="274320" y="2852928"/>
            <a:ext cx="85953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47472" y="285292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R4 · Saturation</a:t>
            </a:r>
            <a:endParaRPr lang="en-US" sz="680" dirty="0"/>
          </a:p>
        </p:txBody>
      </p:sp>
      <p:sp>
        <p:nvSpPr>
          <p:cNvPr id="34" name="Text 31"/>
          <p:cNvSpPr txBox="1"/>
          <p:nvPr/>
        </p:nvSpPr>
        <p:spPr>
          <a:xfrm>
            <a:off x="1874520" y="285292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Few new fixed homes anywhere</a:t>
            </a:r>
            <a:endParaRPr lang="en-US" sz="630" dirty="0"/>
          </a:p>
        </p:txBody>
      </p:sp>
      <p:sp>
        <p:nvSpPr>
          <p:cNvPr id="35" name="Text 32"/>
          <p:cNvSpPr txBox="1"/>
          <p:nvPr/>
        </p:nvSpPr>
        <p:spPr>
          <a:xfrm>
            <a:off x="3749040" y="28529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Penetration 18–21%; market +1.28M a year; IndiHome + Surge added 2.2–2.6M in 12 months</a:t>
            </a:r>
            <a:endParaRPr lang="en-US" sz="630" dirty="0"/>
          </a:p>
        </p:txBody>
      </p:sp>
      <p:sp>
        <p:nvSpPr>
          <p:cNvPr id="36" name="pill"/>
          <p:cNvSpPr/>
          <p:nvPr/>
        </p:nvSpPr>
        <p:spPr>
          <a:xfrm>
            <a:off x="7498080" y="2999232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498080" y="29992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</a:t>
            </a:r>
            <a:endParaRPr lang="en-US" sz="600" dirty="0"/>
          </a:p>
        </p:txBody>
      </p:sp>
      <p:sp>
        <p:nvSpPr>
          <p:cNvPr id="38" name="rival Shift to fixed wireless"/>
          <p:cNvSpPr/>
          <p:nvPr/>
        </p:nvSpPr>
        <p:spPr>
          <a:xfrm>
            <a:off x="274320" y="3456432"/>
            <a:ext cx="859536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47472" y="34564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R5 · Shift to fixed wireless</a:t>
            </a:r>
            <a:endParaRPr lang="en-US" sz="680" dirty="0"/>
          </a:p>
        </p:txBody>
      </p:sp>
      <p:sp>
        <p:nvSpPr>
          <p:cNvPr id="40" name="Text 37"/>
          <p:cNvSpPr txBox="1"/>
          <p:nvPr/>
        </p:nvSpPr>
        <p:spPr>
          <a:xfrm>
            <a:off x="1874520" y="34564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homes choosing wireless</a:t>
            </a:r>
            <a:endParaRPr lang="en-US" sz="630" dirty="0"/>
          </a:p>
        </p:txBody>
      </p:sp>
      <p:sp>
        <p:nvSpPr>
          <p:cNvPr id="41" name="Text 38"/>
          <p:cNvSpPr txBox="1"/>
          <p:nvPr/>
        </p:nvSpPr>
        <p:spPr>
          <a:xfrm>
            <a:off x="3749040" y="345643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78.3% of Surge's base is fiber; fiber is &gt;90–94% of connections; Surge cut its wireless target from 3M to 1M</a:t>
            </a:r>
            <a:endParaRPr lang="en-US" sz="630" dirty="0"/>
          </a:p>
        </p:txBody>
      </p:sp>
      <p:sp>
        <p:nvSpPr>
          <p:cNvPr id="42" name="pill"/>
          <p:cNvSpPr/>
          <p:nvPr/>
        </p:nvSpPr>
        <p:spPr>
          <a:xfrm>
            <a:off x="7498080" y="360273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94A3B8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498080" y="360273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Rejected</a:t>
            </a:r>
            <a:endParaRPr lang="en-US" sz="600" dirty="0"/>
          </a:p>
        </p:txBody>
      </p:sp>
      <p:sp>
        <p:nvSpPr>
          <p:cNvPr id="44" name="rival Industry-wide ARPU slide"/>
          <p:cNvSpPr/>
          <p:nvPr/>
        </p:nvSpPr>
        <p:spPr>
          <a:xfrm>
            <a:off x="274320" y="4059936"/>
            <a:ext cx="85953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47472" y="405993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R6 · Industry-wide ARPU slide</a:t>
            </a:r>
            <a:endParaRPr lang="en-US" sz="680" dirty="0"/>
          </a:p>
        </p:txBody>
      </p:sp>
      <p:sp>
        <p:nvSpPr>
          <p:cNvPr id="46" name="Text 43"/>
          <p:cNvSpPr txBox="1"/>
          <p:nvPr/>
        </p:nvSpPr>
        <p:spPr>
          <a:xfrm>
            <a:off x="1874520" y="405993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Rivals' ARPU falling alike</a:t>
            </a:r>
            <a:endParaRPr lang="en-US" sz="630" dirty="0"/>
          </a:p>
        </p:txBody>
      </p:sp>
      <p:sp>
        <p:nvSpPr>
          <p:cNvPr id="47" name="Text 44"/>
          <p:cNvSpPr txBox="1"/>
          <p:nvPr/>
        </p:nvSpPr>
        <p:spPr>
          <a:xfrm>
            <a:off x="3749040" y="405993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Surge's blended ARPU is Rp70–108k; XLSmart and Indosat fixed ARPU not published</a:t>
            </a:r>
            <a:endParaRPr lang="en-US" sz="630" dirty="0"/>
          </a:p>
        </p:txBody>
      </p:sp>
      <p:sp>
        <p:nvSpPr>
          <p:cNvPr id="48" name="pill"/>
          <p:cNvSpPr/>
          <p:nvPr/>
        </p:nvSpPr>
        <p:spPr>
          <a:xfrm>
            <a:off x="7498080" y="4206240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A50021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7498080" y="420624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Partial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5 (2/2)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Rival explanations: eleven alternatives tested against the evidence (2/2)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02 §3: Telkomsel AR 2025 (S03); Telkom 1H26 Info Memo (S04); Opensignal (S14); Surge disclosures (S48, S58, S60); MPA (S24)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2296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Explanation</a:t>
            </a:r>
            <a:endParaRPr lang="en-US" sz="660" dirty="0"/>
          </a:p>
        </p:txBody>
      </p:sp>
      <p:sp>
        <p:nvSpPr>
          <p:cNvPr id="11" name="Text 8"/>
          <p:cNvSpPr txBox="1"/>
          <p:nvPr/>
        </p:nvSpPr>
        <p:spPr>
          <a:xfrm>
            <a:off x="1874520" y="822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it were the cause, we would see…</a:t>
            </a:r>
            <a:endParaRPr lang="en-US" sz="660" dirty="0"/>
          </a:p>
        </p:txBody>
      </p:sp>
      <p:sp>
        <p:nvSpPr>
          <p:cNvPr id="12" name="Text 9"/>
          <p:cNvSpPr txBox="1"/>
          <p:nvPr/>
        </p:nvSpPr>
        <p:spPr>
          <a:xfrm>
            <a:off x="3749040" y="8229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numbers show</a:t>
            </a:r>
            <a:endParaRPr lang="en-US" sz="660" dirty="0"/>
          </a:p>
        </p:txBody>
      </p:sp>
      <p:sp>
        <p:nvSpPr>
          <p:cNvPr id="13" name="Text 10"/>
          <p:cNvSpPr txBox="1"/>
          <p:nvPr/>
        </p:nvSpPr>
        <p:spPr>
          <a:xfrm>
            <a:off x="7498080" y="82296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Verdict</a:t>
            </a:r>
            <a:endParaRPr lang="en-US" sz="660" dirty="0"/>
          </a:p>
        </p:txBody>
      </p:sp>
      <p:sp>
        <p:nvSpPr>
          <p:cNvPr id="14" name="rival IndiHome is a worse network"/>
          <p:cNvSpPr/>
          <p:nvPr/>
        </p:nvSpPr>
        <p:spPr>
          <a:xfrm>
            <a:off x="274320" y="1042416"/>
            <a:ext cx="859536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47472" y="104241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R7 · IndiHome is a worse network</a:t>
            </a:r>
            <a:endParaRPr lang="en-US" sz="680" dirty="0"/>
          </a:p>
        </p:txBody>
      </p:sp>
      <p:sp>
        <p:nvSpPr>
          <p:cNvPr id="16" name="Text 13"/>
          <p:cNvSpPr txBox="1"/>
          <p:nvPr/>
        </p:nvSpPr>
        <p:spPr>
          <a:xfrm>
            <a:off x="1874520" y="1042416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Losses where the quality gap is largest</a:t>
            </a:r>
            <a:endParaRPr lang="en-US" sz="630" dirty="0"/>
          </a:p>
        </p:txBody>
      </p:sp>
      <p:sp>
        <p:nvSpPr>
          <p:cNvPr id="17" name="Text 14"/>
          <p:cNvSpPr txBox="1"/>
          <p:nvPr/>
        </p:nvSpPr>
        <p:spPr>
          <a:xfrm>
            <a:off x="3749040" y="104241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of 50 urban vs 18 of 45 rural vs 30 of 30 Maluku–Papua award slots; 4th of 8 on urban consistent quality; churn by area not public</a:t>
            </a:r>
            <a:endParaRPr lang="en-US" sz="630" dirty="0"/>
          </a:p>
        </p:txBody>
      </p:sp>
      <p:sp>
        <p:nvSpPr>
          <p:cNvPr id="18" name="pill"/>
          <p:cNvSpPr/>
          <p:nvPr/>
        </p:nvSpPr>
        <p:spPr>
          <a:xfrm>
            <a:off x="7498080" y="1188720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A5002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498080" y="1188720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Plausible for urban</a:t>
            </a:r>
            <a:endParaRPr lang="en-US" sz="600" dirty="0"/>
          </a:p>
        </p:txBody>
      </p:sp>
      <p:sp>
        <p:nvSpPr>
          <p:cNvPr id="20" name="rival Hidden churn"/>
          <p:cNvSpPr/>
          <p:nvPr/>
        </p:nvSpPr>
        <p:spPr>
          <a:xfrm>
            <a:off x="274320" y="1645920"/>
            <a:ext cx="85953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47472" y="164592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R8 · Hidden churn</a:t>
            </a:r>
            <a:endParaRPr lang="en-US" sz="680" dirty="0"/>
          </a:p>
        </p:txBody>
      </p:sp>
      <p:sp>
        <p:nvSpPr>
          <p:cNvPr id="22" name="Text 19"/>
          <p:cNvSpPr txBox="1"/>
          <p:nvPr/>
        </p:nvSpPr>
        <p:spPr>
          <a:xfrm>
            <a:off x="1874520" y="1645920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Non-payers spread across tenure and home types</a:t>
            </a:r>
            <a:endParaRPr lang="en-US" sz="630" dirty="0"/>
          </a:p>
        </p:txBody>
      </p:sp>
      <p:sp>
        <p:nvSpPr>
          <p:cNvPr id="23" name="Text 20"/>
          <p:cNvSpPr txBox="1"/>
          <p:nvPr/>
        </p:nvSpPr>
        <p:spPr>
          <a:xfrm>
            <a:off x="3749040" y="16459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 built during a volume push with activation-paid incentives and no deposit; gross adds not disclosed</a:t>
            </a:r>
            <a:endParaRPr lang="en-US" sz="630" dirty="0"/>
          </a:p>
        </p:txBody>
      </p:sp>
      <p:sp>
        <p:nvSpPr>
          <p:cNvPr id="24" name="pill"/>
          <p:cNvSpPr/>
          <p:nvPr/>
        </p:nvSpPr>
        <p:spPr>
          <a:xfrm>
            <a:off x="7498080" y="1792224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A5002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498080" y="1792224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Partly true</a:t>
            </a:r>
            <a:endParaRPr lang="en-US" sz="600" dirty="0"/>
          </a:p>
        </p:txBody>
      </p:sp>
      <p:sp>
        <p:nvSpPr>
          <p:cNvPr id="26" name="rival Bundle revenue allocation"/>
          <p:cNvSpPr/>
          <p:nvPr/>
        </p:nvSpPr>
        <p:spPr>
          <a:xfrm>
            <a:off x="274320" y="2249424"/>
            <a:ext cx="859536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47472" y="224942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R9 · Bundle revenue allocation</a:t>
            </a:r>
            <a:endParaRPr lang="en-US" sz="680" dirty="0"/>
          </a:p>
        </p:txBody>
      </p:sp>
      <p:sp>
        <p:nvSpPr>
          <p:cNvPr id="28" name="Text 25"/>
          <p:cNvSpPr txBox="1"/>
          <p:nvPr/>
        </p:nvSpPr>
        <p:spPr>
          <a:xfrm>
            <a:off x="1874520" y="2249424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ARPU falling fastest where convergence is highest</a:t>
            </a:r>
            <a:endParaRPr lang="en-US" sz="630" dirty="0"/>
          </a:p>
        </p:txBody>
      </p:sp>
      <p:sp>
        <p:nvSpPr>
          <p:cNvPr id="29" name="Text 26"/>
          <p:cNvSpPr txBox="1"/>
          <p:nvPr/>
        </p:nvSpPr>
        <p:spPr>
          <a:xfrm>
            <a:off x="3749040" y="224942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Pattern fits (mobile up, fixed down, 59–65% converged) but the allocation rule is not disclosed</a:t>
            </a:r>
            <a:endParaRPr lang="en-US" sz="630" dirty="0"/>
          </a:p>
        </p:txBody>
      </p:sp>
      <p:sp>
        <p:nvSpPr>
          <p:cNvPr id="30" name="pill"/>
          <p:cNvSpPr/>
          <p:nvPr/>
        </p:nvSpPr>
        <p:spPr>
          <a:xfrm>
            <a:off x="7498080" y="2395728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498080" y="2395728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testable</a:t>
            </a:r>
            <a:endParaRPr lang="en-US" sz="600" dirty="0"/>
          </a:p>
        </p:txBody>
      </p:sp>
      <p:sp>
        <p:nvSpPr>
          <p:cNvPr id="32" name="rival Convergence follows engagement"/>
          <p:cNvSpPr/>
          <p:nvPr/>
        </p:nvSpPr>
        <p:spPr>
          <a:xfrm>
            <a:off x="274320" y="2852928"/>
            <a:ext cx="85953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347472" y="285292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R10 · Convergence follows engagement</a:t>
            </a:r>
            <a:endParaRPr lang="en-US" sz="680" dirty="0"/>
          </a:p>
        </p:txBody>
      </p:sp>
      <p:sp>
        <p:nvSpPr>
          <p:cNvPr id="34" name="Text 31"/>
          <p:cNvSpPr txBox="1"/>
          <p:nvPr/>
        </p:nvSpPr>
        <p:spPr>
          <a:xfrm>
            <a:off x="1874520" y="2852928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Converged counts jump when matching changes</a:t>
            </a:r>
            <a:endParaRPr lang="en-US" sz="630" dirty="0"/>
          </a:p>
        </p:txBody>
      </p:sp>
      <p:sp>
        <p:nvSpPr>
          <p:cNvPr id="35" name="Text 32"/>
          <p:cNvSpPr txBox="1"/>
          <p:nvPr/>
        </p:nvSpPr>
        <p:spPr>
          <a:xfrm>
            <a:off x="3749040" y="285292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4Q25: +420k converged on +63k net adds; the 2Q26 split cannot tell the stories apart</a:t>
            </a:r>
            <a:endParaRPr lang="en-US" sz="630" dirty="0"/>
          </a:p>
        </p:txBody>
      </p:sp>
      <p:sp>
        <p:nvSpPr>
          <p:cNvPr id="36" name="pill"/>
          <p:cNvSpPr/>
          <p:nvPr/>
        </p:nvSpPr>
        <p:spPr>
          <a:xfrm>
            <a:off x="7498080" y="2999232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7498080" y="2999232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Cannot rule out</a:t>
            </a:r>
            <a:endParaRPr lang="en-US" sz="600" dirty="0"/>
          </a:p>
        </p:txBody>
      </p:sp>
      <p:sp>
        <p:nvSpPr>
          <p:cNvPr id="38" name="rival Shift to single-play"/>
          <p:cNvSpPr/>
          <p:nvPr/>
        </p:nvSpPr>
        <p:spPr>
          <a:xfrm>
            <a:off x="274320" y="3456432"/>
            <a:ext cx="8595360" cy="530352"/>
          </a:xfrm>
          <a:prstGeom prst="roundRect">
            <a:avLst>
              <a:gd name="adj" fmla="val 8621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47472" y="345643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R11 · Shift to single-play</a:t>
            </a:r>
            <a:endParaRPr lang="en-US" sz="680" dirty="0"/>
          </a:p>
        </p:txBody>
      </p:sp>
      <p:sp>
        <p:nvSpPr>
          <p:cNvPr id="40" name="Text 37"/>
          <p:cNvSpPr txBox="1"/>
          <p:nvPr/>
        </p:nvSpPr>
        <p:spPr>
          <a:xfrm>
            <a:off x="1874520" y="3456432"/>
            <a:ext cx="1828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per home falls with mix</a:t>
            </a:r>
            <a:endParaRPr lang="en-US" sz="630" dirty="0"/>
          </a:p>
        </p:txBody>
      </p:sp>
      <p:sp>
        <p:nvSpPr>
          <p:cNvPr id="41" name="Text 38"/>
          <p:cNvSpPr txBox="1"/>
          <p:nvPr/>
        </p:nvSpPr>
        <p:spPr>
          <a:xfrm>
            <a:off x="3749040" y="345643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2P → 1P move is −Rp125k a month; ~525k moves a year would explain the likeliest price-mix fall</a:t>
            </a:r>
            <a:endParaRPr lang="en-US" sz="630" dirty="0"/>
          </a:p>
        </p:txBody>
      </p:sp>
      <p:sp>
        <p:nvSpPr>
          <p:cNvPr id="42" name="pill"/>
          <p:cNvSpPr/>
          <p:nvPr/>
        </p:nvSpPr>
        <p:spPr>
          <a:xfrm>
            <a:off x="7498080" y="3602736"/>
            <a:ext cx="1298448" cy="237744"/>
          </a:xfrm>
          <a:prstGeom prst="roundRect">
            <a:avLst>
              <a:gd name="adj" fmla="val 50000"/>
            </a:avLst>
          </a:prstGeom>
          <a:solidFill>
            <a:srgbClr val="A50021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498080" y="3602736"/>
            <a:ext cx="12984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Partly true, in spend</a:t>
            </a:r>
            <a:endParaRPr lang="en-US" sz="600" dirty="0"/>
          </a:p>
        </p:txBody>
      </p:sp>
      <p:sp>
        <p:nvSpPr>
          <p:cNvPr id="44" name="Text 41"/>
          <p:cNvSpPr txBox="1"/>
          <p:nvPr/>
        </p:nvSpPr>
        <p:spPr>
          <a:xfrm>
            <a:off x="274320" y="41148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Conclusion:</a:t>
            </a:r>
            <a:pPr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external forces set the Rp100k price point and squeezed 2025 spending, yet none explains the combination of 0.8–1.2M inactive accounts outside the mobile relationship, homes paying near the entry price, a bundle with little saving and no routing across five propositions. Those four are internal and controllable.</a:t>
            </a:r>
            <a:endParaRPr lang="en-US" sz="6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sizing and value pools: where the unconnected homes are and what each pool is worth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Media Partners Asia (S24); Komdigi (S21); BPS via GoodStats and Mandiri Institute (S50, S51); Telkom 1H26 Info Memo (S04); our calculation and estimate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412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Households (millions)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274320" y="1051560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households</a:t>
            </a:r>
            <a:endParaRPr lang="en-US" sz="630" dirty="0"/>
          </a:p>
        </p:txBody>
      </p:sp>
      <p:sp>
        <p:nvSpPr>
          <p:cNvPr id="12" name="pool bar"/>
          <p:cNvSpPr/>
          <p:nvPr/>
        </p:nvSpPr>
        <p:spPr>
          <a:xfrm>
            <a:off x="274320" y="1207008"/>
            <a:ext cx="2377440" cy="15544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2697480" y="1188720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73M</a:t>
            </a:r>
            <a:endParaRPr lang="en-US" sz="66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145389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fixed broadband</a:t>
            </a:r>
            <a:endParaRPr lang="en-US" sz="630" dirty="0"/>
          </a:p>
        </p:txBody>
      </p:sp>
      <p:sp>
        <p:nvSpPr>
          <p:cNvPr id="15" name="pool bar"/>
          <p:cNvSpPr/>
          <p:nvPr/>
        </p:nvSpPr>
        <p:spPr>
          <a:xfrm>
            <a:off x="274320" y="1609344"/>
            <a:ext cx="1888925" cy="155448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6" name="pool range"/>
          <p:cNvSpPr/>
          <p:nvPr/>
        </p:nvSpPr>
        <p:spPr>
          <a:xfrm>
            <a:off x="2163245" y="1609344"/>
            <a:ext cx="65135" cy="155448"/>
          </a:xfrm>
          <a:prstGeom prst="rect">
            <a:avLst/>
          </a:prstGeom>
          <a:solidFill>
            <a:srgbClr val="E4002B">
              <a:alpha val="40000"/>
            </a:srgb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274100" y="15910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≈58–60M</a:t>
            </a:r>
            <a:endParaRPr lang="en-US" sz="660" dirty="0"/>
          </a:p>
        </p:txBody>
      </p:sp>
      <p:sp>
        <p:nvSpPr>
          <p:cNvPr id="18" name="Text 15"/>
          <p:cNvSpPr txBox="1"/>
          <p:nvPr/>
        </p:nvSpPr>
        <p:spPr>
          <a:xfrm>
            <a:off x="274320" y="1856232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 mobile families without fixed broadband</a:t>
            </a:r>
            <a:endParaRPr lang="en-US" sz="630" dirty="0"/>
          </a:p>
        </p:txBody>
      </p:sp>
      <p:sp>
        <p:nvSpPr>
          <p:cNvPr id="19" name="pool bar"/>
          <p:cNvSpPr/>
          <p:nvPr/>
        </p:nvSpPr>
        <p:spPr>
          <a:xfrm>
            <a:off x="274320" y="2011680"/>
            <a:ext cx="846759" cy="155448"/>
          </a:xfrm>
          <a:prstGeom prst="rect">
            <a:avLst/>
          </a:prstGeom>
          <a:solidFill>
            <a:srgbClr val="A50021"/>
          </a:solidFill>
          <a:ln/>
        </p:spPr>
      </p:sp>
      <p:sp>
        <p:nvSpPr>
          <p:cNvPr id="20" name="pool range"/>
          <p:cNvSpPr/>
          <p:nvPr/>
        </p:nvSpPr>
        <p:spPr>
          <a:xfrm>
            <a:off x="1121079" y="2011680"/>
            <a:ext cx="325677" cy="155448"/>
          </a:xfrm>
          <a:prstGeom prst="rect">
            <a:avLst/>
          </a:prstGeom>
          <a:solidFill>
            <a:srgbClr val="A50021">
              <a:alpha val="40000"/>
            </a:srgbClr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492476" y="199339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26–36M </a:t>
            </a:r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60" dirty="0"/>
          </a:p>
        </p:txBody>
      </p:sp>
      <p:sp>
        <p:nvSpPr>
          <p:cNvPr id="22" name="Text 19"/>
          <p:cNvSpPr txBox="1"/>
          <p:nvPr/>
        </p:nvSpPr>
        <p:spPr>
          <a:xfrm>
            <a:off x="274320" y="2258568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fixed broadband</a:t>
            </a:r>
            <a:endParaRPr lang="en-US" sz="630" dirty="0"/>
          </a:p>
        </p:txBody>
      </p:sp>
      <p:sp>
        <p:nvSpPr>
          <p:cNvPr id="23" name="pool bar"/>
          <p:cNvSpPr/>
          <p:nvPr/>
        </p:nvSpPr>
        <p:spPr>
          <a:xfrm>
            <a:off x="274320" y="2414016"/>
            <a:ext cx="423380" cy="155448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4" name="pool range"/>
          <p:cNvSpPr/>
          <p:nvPr/>
        </p:nvSpPr>
        <p:spPr>
          <a:xfrm>
            <a:off x="697700" y="2414016"/>
            <a:ext cx="74906" cy="155448"/>
          </a:xfrm>
          <a:prstGeom prst="rect">
            <a:avLst/>
          </a:prstGeom>
          <a:solidFill>
            <a:srgbClr val="475569">
              <a:alpha val="40000"/>
            </a:srgbClr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18325" y="2395728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13.0–15.3M</a:t>
            </a:r>
            <a:endParaRPr lang="en-US" sz="660" dirty="0"/>
          </a:p>
        </p:txBody>
      </p:sp>
      <p:sp>
        <p:nvSpPr>
          <p:cNvPr id="26" name="Text 23"/>
          <p:cNvSpPr txBox="1"/>
          <p:nvPr/>
        </p:nvSpPr>
        <p:spPr>
          <a:xfrm>
            <a:off x="274320" y="2660904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 paying base</a:t>
            </a:r>
            <a:endParaRPr lang="en-US" sz="630" dirty="0"/>
          </a:p>
        </p:txBody>
      </p:sp>
      <p:sp>
        <p:nvSpPr>
          <p:cNvPr id="27" name="pool bar"/>
          <p:cNvSpPr/>
          <p:nvPr/>
        </p:nvSpPr>
        <p:spPr>
          <a:xfrm>
            <a:off x="274320" y="2816352"/>
            <a:ext cx="296366" cy="1554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8" name="pool range"/>
          <p:cNvSpPr/>
          <p:nvPr/>
        </p:nvSpPr>
        <p:spPr>
          <a:xfrm>
            <a:off x="570686" y="2816352"/>
            <a:ext cx="13027" cy="155448"/>
          </a:xfrm>
          <a:prstGeom prst="rect">
            <a:avLst/>
          </a:prstGeom>
          <a:solidFill>
            <a:srgbClr val="94A3B8">
              <a:alpha val="40000"/>
            </a:srgbClr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29433" y="2798064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9.1–9.5M</a:t>
            </a:r>
            <a:endParaRPr lang="en-US" sz="660" dirty="0"/>
          </a:p>
        </p:txBody>
      </p:sp>
      <p:sp>
        <p:nvSpPr>
          <p:cNvPr id="30" name="class"/>
          <p:cNvSpPr/>
          <p:nvPr/>
        </p:nvSpPr>
        <p:spPr>
          <a:xfrm>
            <a:off x="274320" y="310896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F1F5F9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365760" y="3145536"/>
            <a:ext cx="3127248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the next homes are</a:t>
            </a:r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pPr indent="0" marL="0">
              <a:buNone/>
            </a:pPr>
            <a:r>
              <a:rPr lang="en-US" sz="63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fixed market is roughly the middle and upper classes (≈12.9M homes). The next ~20M homes must come mostly from the </a:t>
            </a:r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aspiring middle class (≈36.0M)</a:t>
            </a:r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whose budgets sit near the </a:t>
            </a:r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Rp100–150k</a:t>
            </a:r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regulator uses as the rural household telecom budget. Policy targets </a:t>
            </a:r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50% by 2029</a:t>
            </a:r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(≈5.3M homes a year) against a market forecast of </a:t>
            </a:r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+1.28M a year</a:t>
            </a:r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630" dirty="0"/>
          </a:p>
        </p:txBody>
      </p:sp>
      <p:sp>
        <p:nvSpPr>
          <p:cNvPr id="32" name="Text 29"/>
          <p:cNvSpPr txBox="1"/>
          <p:nvPr/>
        </p:nvSpPr>
        <p:spPr>
          <a:xfrm>
            <a:off x="3749040" y="84124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pools Telkomsel could capture</a:t>
            </a:r>
            <a:endParaRPr lang="en-US" sz="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960120"/>
                <a:gridCol w="1600200"/>
                <a:gridCol w="68580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Pool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Size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 signal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Right to win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Appeal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Telkomsel mobile families without fixed broadband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26–36M </a:t>
                      </a:r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≈Rp117–156k a month of phone data, 50–70% of which moves to home Wi-Fi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Fair share of market growth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794–934k homes a 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≈Rp2.0–2.4T a year at today's revenue per account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Convergence depth in existing homes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3.345M homes without a line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 to ≈Rp1.85T a year, higher margin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Reactivation of removed homes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0.8–1.2M, already wired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sized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Idle fiber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~40% utilised; ~1.2M released ports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Lower cost per extra home if terms allow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High (group)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Household outcomes (Wi-Fi, safety, gaming)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86% of 1,000 parents interested in controls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≈Rp183–337bn a year per 1% FTTR attach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Medium-high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 micro-businesses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IndiBiz 756k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sized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Medium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Route out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Text 30"/>
          <p:cNvSpPr txBox="1"/>
          <p:nvPr/>
        </p:nvSpPr>
        <p:spPr>
          <a:xfrm>
            <a:off x="3749040" y="4251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Rp100k anchor: a Rp100k fiber line pays only below ≈Rp90k of incremental cost; budget homes are a cost-to-serve question, served selectively (P8).</a:t>
            </a:r>
            <a:endParaRPr lang="en-US" sz="62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7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Competitors: prices, measured quality and same-window growth of the main rivals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Surge disclosures (S48, S49, S58, S60, S70); Indosat (S29, S68); XLSmart (S16, S69); Opensignal (S14); price comparisons (S28); Telkomsel app (S45)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412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Surge (WIFI) customers, millions</a:t>
            </a:r>
            <a:endParaRPr lang="en-US" sz="8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228600" y="1024128"/>
          <a:ext cx="301752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surge"/>
          <p:cNvSpPr/>
          <p:nvPr/>
        </p:nvSpPr>
        <p:spPr>
          <a:xfrm>
            <a:off x="274320" y="3017520"/>
            <a:ext cx="2926080" cy="1691640"/>
          </a:xfrm>
          <a:prstGeom prst="roundRect">
            <a:avLst>
              <a:gd name="adj" fmla="val 3243"/>
            </a:avLst>
          </a:prstGeom>
          <a:solidFill>
            <a:srgbClr val="F1F5F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65760" y="3054096"/>
            <a:ext cx="2761488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Surge in one view</a:t>
            </a:r>
            <a:endParaRPr lang="en-US" sz="62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+1.98M</a:t>
            </a:r>
            <a:pPr indent="0" marL="0">
              <a:spcAft>
                <a:spcPts val="200"/>
              </a:spcAft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homes in 12 months: 3.0× (1.2M reading) to 7.8× (0.8M reading) IndiHome's underlying growth.</a:t>
            </a:r>
            <a:endParaRPr lang="en-US" sz="62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Take-up ~61% of homes passed (fiber), ~57% (FWA); ~165k adds a month.</a:t>
            </a:r>
            <a:endParaRPr lang="en-US" sz="62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guidance </a:t>
            </a:r>
            <a:pPr indent="0" marL="0">
              <a:spcAft>
                <a:spcPts val="200"/>
              </a:spcAft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2.1M fiber + 1M FWA</a:t>
            </a:r>
            <a:pPr indent="0" marL="0">
              <a:spcAft>
                <a:spcPts val="200"/>
              </a:spcAft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(cut from 3M), ~8M by 2028; blended ARPU </a:t>
            </a:r>
            <a:pPr indent="0" marL="0">
              <a:spcAft>
                <a:spcPts val="200"/>
              </a:spcAft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Rp70–108k</a:t>
            </a:r>
            <a:pPr indent="0" marL="0">
              <a:spcAft>
                <a:spcPts val="200"/>
              </a:spcAft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62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Moving up-market: </a:t>
            </a:r>
            <a:pPr indent="0" marL="0">
              <a:spcAft>
                <a:spcPts val="200"/>
              </a:spcAft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Prime 500 Mbps Rp168k</a:t>
            </a:r>
            <a:pPr indent="0" marL="0">
              <a:spcAft>
                <a:spcPts val="200"/>
              </a:spcAft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</a:t>
            </a:r>
            <a:pPr indent="0" marL="0">
              <a:spcAft>
                <a:spcPts val="200"/>
              </a:spcAft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 2 Gbps Rp250k</a:t>
            </a:r>
            <a:pPr indent="0" marL="0">
              <a:spcAft>
                <a:spcPts val="200"/>
              </a:spcAft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Combo fiber + FWA.</a:t>
            </a:r>
            <a:endParaRPr lang="en-US" sz="620" dirty="0"/>
          </a:p>
        </p:txBody>
      </p:sp>
      <p:sp>
        <p:nvSpPr>
          <p:cNvPr id="14" name="Text 10"/>
          <p:cNvSpPr txBox="1"/>
          <p:nvPr/>
        </p:nvSpPr>
        <p:spPr>
          <a:xfrm>
            <a:off x="3383280" y="8412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competes for the home connection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383280" y="1051560"/>
          <a:ext cx="54864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960120"/>
                <a:gridCol w="1417320"/>
                <a:gridCol w="105156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Rival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Model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Price (monthly)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Measured experience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Scale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Surge: Starlite, Internet Rakyat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Fiber + licensed 1.4 GHz FWA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Rp100k for 200 Mbps fiber or 100 Mbps FWA, VAT incl.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in Opensignal panel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2.36M (Jun 2026)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Indosat: HiFi, HiFi Air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Fiber + self-install FWA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HiFi 100 Mbps Rp345k*; HiFi Air 125 GB Rp100k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 consistent quality (69.7%)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~400k homes; 1M HiFi Air target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XLSmart: XL SATU, First Media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Fiber + mobile (converged)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Joy 100 Mbps Rp350k*; XL Home Biz Rp419k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 reliability (496.8)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~1.0M fixed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Biznet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Fiber specialist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Mbps Rp375k; ~Rp150k in small cities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Fastest download (41.0 Mbps)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City by city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Oxygen.id / MyRepublic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Fiber; MyRepublic Air FWA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Nova 100 Mbps Rp482k*; Air from Rp100k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Fastest upload (29.6 Mbps)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Merging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IndiHome (Telkomsel)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Fiber, widest reach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Mbps Rp270k (Jakarta Selatan, app)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Reliability 351.1, 7th of 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9.513M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Informal and satellite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RT/RW Net; Starlink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Very cheap / premium remote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Tens of thousands of resellers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1"/>
          <p:cNvSpPr txBox="1"/>
          <p:nvPr/>
        </p:nvSpPr>
        <p:spPr>
          <a:xfrm>
            <a:off x="3383280" y="4389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older press prices; VAT basis unclear. The low-price front is fiber more than wireless; the quality front is regional (XL SATU in West Java, Kalimantan, Sulawesi; HiFi in Jakarta; GlobalXtreme in Bali-Nusra).</a:t>
            </a:r>
            <a:endParaRPr lang="en-US" sz="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Measured experience: Opensignal award slots and IndiHome's urban profile against seven rivals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Opensignal, Indonesia Fixed Broadband Experience, 1 Jan–31 Mar 2026 (S14); award slots counted by script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21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412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Award slots won by IndiHome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274320" y="10972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views</a:t>
            </a:r>
            <a:endParaRPr lang="en-US" sz="660" dirty="0"/>
          </a:p>
        </p:txBody>
      </p:sp>
      <p:sp>
        <p:nvSpPr>
          <p:cNvPr id="12" name="slot total"/>
          <p:cNvSpPr/>
          <p:nvPr/>
        </p:nvSpPr>
        <p:spPr>
          <a:xfrm>
            <a:off x="274320" y="1280160"/>
            <a:ext cx="2468880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788920" y="126187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of 10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166420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Urban, outside Maluku–Papua</a:t>
            </a:r>
            <a:endParaRPr lang="en-US" sz="660" dirty="0"/>
          </a:p>
        </p:txBody>
      </p:sp>
      <p:sp>
        <p:nvSpPr>
          <p:cNvPr id="15" name="slot total"/>
          <p:cNvSpPr/>
          <p:nvPr/>
        </p:nvSpPr>
        <p:spPr>
          <a:xfrm>
            <a:off x="274320" y="1847088"/>
            <a:ext cx="2468880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lot won"/>
          <p:cNvSpPr/>
          <p:nvPr/>
        </p:nvSpPr>
        <p:spPr>
          <a:xfrm>
            <a:off x="274320" y="1847088"/>
            <a:ext cx="49378" cy="18288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788920" y="182880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of 50</a:t>
            </a:r>
            <a:endParaRPr lang="en-US" sz="750" dirty="0"/>
          </a:p>
        </p:txBody>
      </p:sp>
      <p:sp>
        <p:nvSpPr>
          <p:cNvPr id="18" name="Text 15"/>
          <p:cNvSpPr txBox="1"/>
          <p:nvPr/>
        </p:nvSpPr>
        <p:spPr>
          <a:xfrm>
            <a:off x="274320" y="2231136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Rural, outside Maluku–Papua</a:t>
            </a:r>
            <a:endParaRPr lang="en-US" sz="660" dirty="0"/>
          </a:p>
        </p:txBody>
      </p:sp>
      <p:sp>
        <p:nvSpPr>
          <p:cNvPr id="19" name="slot total"/>
          <p:cNvSpPr/>
          <p:nvPr/>
        </p:nvSpPr>
        <p:spPr>
          <a:xfrm>
            <a:off x="274320" y="2414016"/>
            <a:ext cx="2468880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lot won"/>
          <p:cNvSpPr/>
          <p:nvPr/>
        </p:nvSpPr>
        <p:spPr>
          <a:xfrm>
            <a:off x="274320" y="2414016"/>
            <a:ext cx="987552" cy="18288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2788920" y="239572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 of 45</a:t>
            </a:r>
            <a:endParaRPr lang="en-US" sz="750" dirty="0"/>
          </a:p>
        </p:txBody>
      </p:sp>
      <p:sp>
        <p:nvSpPr>
          <p:cNvPr id="22" name="Text 19"/>
          <p:cNvSpPr txBox="1"/>
          <p:nvPr/>
        </p:nvSpPr>
        <p:spPr>
          <a:xfrm>
            <a:off x="274320" y="279806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Maluku and Papua</a:t>
            </a:r>
            <a:endParaRPr lang="en-US" sz="660" dirty="0"/>
          </a:p>
        </p:txBody>
      </p:sp>
      <p:sp>
        <p:nvSpPr>
          <p:cNvPr id="23" name="slot total"/>
          <p:cNvSpPr/>
          <p:nvPr/>
        </p:nvSpPr>
        <p:spPr>
          <a:xfrm>
            <a:off x="274320" y="2980944"/>
            <a:ext cx="2468880" cy="182880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slot won"/>
          <p:cNvSpPr/>
          <p:nvPr/>
        </p:nvSpPr>
        <p:spPr>
          <a:xfrm>
            <a:off x="274320" y="2980944"/>
            <a:ext cx="2468880" cy="1828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2788920" y="296265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 of 30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274320" y="3429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1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Rural wins outside Maluku–Papua: all five in Banten and Yogyakarta, some in five more regions; Banten rural has IndiHome as the only ISP measured.</a:t>
            </a:r>
            <a:endParaRPr lang="en-US" sz="610" dirty="0"/>
          </a:p>
        </p:txBody>
      </p:sp>
      <p:sp>
        <p:nvSpPr>
          <p:cNvPr id="27" name="Text 24"/>
          <p:cNvSpPr txBox="1"/>
          <p:nvPr/>
        </p:nvSpPr>
        <p:spPr>
          <a:xfrm>
            <a:off x="3749040" y="84124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Rank and gap to the leader (8 ISPs)</a:t>
            </a:r>
            <a:endParaRPr lang="en-US" sz="800" dirty="0"/>
          </a:p>
        </p:txBody>
      </p:sp>
      <p:sp>
        <p:nvSpPr>
          <p:cNvPr id="28" name="met"/>
          <p:cNvSpPr/>
          <p:nvPr/>
        </p:nvSpPr>
        <p:spPr>
          <a:xfrm>
            <a:off x="3749040" y="1051560"/>
            <a:ext cx="5120640" cy="310896"/>
          </a:xfrm>
          <a:prstGeom prst="roundRect">
            <a:avLst>
              <a:gd name="adj" fmla="val 8824"/>
            </a:avLst>
          </a:prstGeom>
          <a:solidFill>
            <a:srgbClr val="F1F5F9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813048" y="10515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reliability (points)</a:t>
            </a:r>
            <a:endParaRPr lang="en-US" sz="630" dirty="0"/>
          </a:p>
        </p:txBody>
      </p:sp>
      <p:sp>
        <p:nvSpPr>
          <p:cNvPr id="30" name="Text 27"/>
          <p:cNvSpPr txBox="1"/>
          <p:nvPr/>
        </p:nvSpPr>
        <p:spPr>
          <a:xfrm>
            <a:off x="5230368" y="105156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351.1</a:t>
            </a:r>
            <a:endParaRPr lang="en-US" sz="640" dirty="0"/>
          </a:p>
        </p:txBody>
      </p:sp>
      <p:sp>
        <p:nvSpPr>
          <p:cNvPr id="31" name="dot"/>
          <p:cNvSpPr/>
          <p:nvPr/>
        </p:nvSpPr>
        <p:spPr>
          <a:xfrm>
            <a:off x="5925312" y="113385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dot"/>
          <p:cNvSpPr/>
          <p:nvPr/>
        </p:nvSpPr>
        <p:spPr>
          <a:xfrm>
            <a:off x="6099048" y="113385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dot"/>
          <p:cNvSpPr/>
          <p:nvPr/>
        </p:nvSpPr>
        <p:spPr>
          <a:xfrm>
            <a:off x="6272784" y="113385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dot"/>
          <p:cNvSpPr/>
          <p:nvPr/>
        </p:nvSpPr>
        <p:spPr>
          <a:xfrm>
            <a:off x="6446520" y="113385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dot"/>
          <p:cNvSpPr/>
          <p:nvPr/>
        </p:nvSpPr>
        <p:spPr>
          <a:xfrm>
            <a:off x="6620256" y="113385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dot"/>
          <p:cNvSpPr/>
          <p:nvPr/>
        </p:nvSpPr>
        <p:spPr>
          <a:xfrm>
            <a:off x="6793992" y="113385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dot"/>
          <p:cNvSpPr/>
          <p:nvPr/>
        </p:nvSpPr>
        <p:spPr>
          <a:xfrm>
            <a:off x="6967728" y="1133856"/>
            <a:ext cx="137160" cy="137160"/>
          </a:xfrm>
          <a:prstGeom prst="ellipse">
            <a:avLst/>
          </a:prstGeom>
          <a:solidFill>
            <a:srgbClr val="E4002B"/>
          </a:solidFill>
          <a:ln w="6350">
            <a:solidFill>
              <a:srgbClr val="E4002B"/>
            </a:solidFill>
            <a:prstDash val="solid"/>
          </a:ln>
        </p:spPr>
      </p:sp>
      <p:sp>
        <p:nvSpPr>
          <p:cNvPr id="38" name="dot"/>
          <p:cNvSpPr/>
          <p:nvPr/>
        </p:nvSpPr>
        <p:spPr>
          <a:xfrm>
            <a:off x="7141464" y="113385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360920" y="10515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496.8 (XL SATU)</a:t>
            </a:r>
            <a:endParaRPr lang="en-US" sz="580" dirty="0"/>
          </a:p>
        </p:txBody>
      </p:sp>
      <p:sp>
        <p:nvSpPr>
          <p:cNvPr id="40" name="Text 37"/>
          <p:cNvSpPr txBox="1"/>
          <p:nvPr/>
        </p:nvSpPr>
        <p:spPr>
          <a:xfrm>
            <a:off x="8275320" y="10515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−29%</a:t>
            </a:r>
            <a:endParaRPr lang="en-US" sz="630" dirty="0"/>
          </a:p>
        </p:txBody>
      </p:sp>
      <p:sp>
        <p:nvSpPr>
          <p:cNvPr id="41" name="met"/>
          <p:cNvSpPr/>
          <p:nvPr/>
        </p:nvSpPr>
        <p:spPr>
          <a:xfrm>
            <a:off x="3749040" y="1417320"/>
            <a:ext cx="512064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3813048" y="14173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consistent quality</a:t>
            </a:r>
            <a:endParaRPr lang="en-US" sz="630" dirty="0"/>
          </a:p>
        </p:txBody>
      </p:sp>
      <p:sp>
        <p:nvSpPr>
          <p:cNvPr id="43" name="Text 40"/>
          <p:cNvSpPr txBox="1"/>
          <p:nvPr/>
        </p:nvSpPr>
        <p:spPr>
          <a:xfrm>
            <a:off x="5230368" y="14173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57.8%</a:t>
            </a:r>
            <a:endParaRPr lang="en-US" sz="640" dirty="0"/>
          </a:p>
        </p:txBody>
      </p:sp>
      <p:sp>
        <p:nvSpPr>
          <p:cNvPr id="44" name="dot"/>
          <p:cNvSpPr/>
          <p:nvPr/>
        </p:nvSpPr>
        <p:spPr>
          <a:xfrm>
            <a:off x="5925312" y="149961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dot"/>
          <p:cNvSpPr/>
          <p:nvPr/>
        </p:nvSpPr>
        <p:spPr>
          <a:xfrm>
            <a:off x="6099048" y="149961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dot"/>
          <p:cNvSpPr/>
          <p:nvPr/>
        </p:nvSpPr>
        <p:spPr>
          <a:xfrm>
            <a:off x="6272784" y="149961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dot"/>
          <p:cNvSpPr/>
          <p:nvPr/>
        </p:nvSpPr>
        <p:spPr>
          <a:xfrm>
            <a:off x="6446520" y="149961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dot"/>
          <p:cNvSpPr/>
          <p:nvPr/>
        </p:nvSpPr>
        <p:spPr>
          <a:xfrm>
            <a:off x="6620256" y="1499616"/>
            <a:ext cx="137160" cy="137160"/>
          </a:xfrm>
          <a:prstGeom prst="ellipse">
            <a:avLst/>
          </a:prstGeom>
          <a:solidFill>
            <a:srgbClr val="E4002B"/>
          </a:solidFill>
          <a:ln w="6350">
            <a:solidFill>
              <a:srgbClr val="E4002B"/>
            </a:solidFill>
            <a:prstDash val="solid"/>
          </a:ln>
        </p:spPr>
      </p:sp>
      <p:sp>
        <p:nvSpPr>
          <p:cNvPr id="49" name="dot"/>
          <p:cNvSpPr/>
          <p:nvPr/>
        </p:nvSpPr>
        <p:spPr>
          <a:xfrm>
            <a:off x="6793992" y="149961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dot"/>
          <p:cNvSpPr/>
          <p:nvPr/>
        </p:nvSpPr>
        <p:spPr>
          <a:xfrm>
            <a:off x="6967728" y="149961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dot"/>
          <p:cNvSpPr/>
          <p:nvPr/>
        </p:nvSpPr>
        <p:spPr>
          <a:xfrm>
            <a:off x="7141464" y="149961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7360920" y="14173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69.7% (Indosat HiFi)</a:t>
            </a:r>
            <a:endParaRPr lang="en-US" sz="580" dirty="0"/>
          </a:p>
        </p:txBody>
      </p:sp>
      <p:sp>
        <p:nvSpPr>
          <p:cNvPr id="53" name="Text 50"/>
          <p:cNvSpPr txBox="1"/>
          <p:nvPr/>
        </p:nvSpPr>
        <p:spPr>
          <a:xfrm>
            <a:off x="8275320" y="141732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−11.9 pts</a:t>
            </a:r>
            <a:endParaRPr lang="en-US" sz="630" dirty="0"/>
          </a:p>
        </p:txBody>
      </p:sp>
      <p:sp>
        <p:nvSpPr>
          <p:cNvPr id="54" name="met"/>
          <p:cNvSpPr/>
          <p:nvPr/>
        </p:nvSpPr>
        <p:spPr>
          <a:xfrm>
            <a:off x="3749040" y="1783080"/>
            <a:ext cx="5120640" cy="310896"/>
          </a:xfrm>
          <a:prstGeom prst="roundRect">
            <a:avLst>
              <a:gd name="adj" fmla="val 8824"/>
            </a:avLst>
          </a:prstGeom>
          <a:solidFill>
            <a:srgbClr val="F1F5F9"/>
          </a:solidFill>
          <a:ln/>
        </p:spPr>
      </p:sp>
      <p:sp>
        <p:nvSpPr>
          <p:cNvPr id="55" name="Text 52"/>
          <p:cNvSpPr txBox="1"/>
          <p:nvPr/>
        </p:nvSpPr>
        <p:spPr>
          <a:xfrm>
            <a:off x="3813048" y="17830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download</a:t>
            </a:r>
            <a:endParaRPr lang="en-US" sz="630" dirty="0"/>
          </a:p>
        </p:txBody>
      </p:sp>
      <p:sp>
        <p:nvSpPr>
          <p:cNvPr id="56" name="Text 53"/>
          <p:cNvSpPr txBox="1"/>
          <p:nvPr/>
        </p:nvSpPr>
        <p:spPr>
          <a:xfrm>
            <a:off x="5230368" y="17830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26.2 Mbps</a:t>
            </a:r>
            <a:endParaRPr lang="en-US" sz="640" dirty="0"/>
          </a:p>
        </p:txBody>
      </p:sp>
      <p:sp>
        <p:nvSpPr>
          <p:cNvPr id="57" name="dot"/>
          <p:cNvSpPr/>
          <p:nvPr/>
        </p:nvSpPr>
        <p:spPr>
          <a:xfrm>
            <a:off x="5925312" y="186537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8" name="dot"/>
          <p:cNvSpPr/>
          <p:nvPr/>
        </p:nvSpPr>
        <p:spPr>
          <a:xfrm>
            <a:off x="6099048" y="186537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dot"/>
          <p:cNvSpPr/>
          <p:nvPr/>
        </p:nvSpPr>
        <p:spPr>
          <a:xfrm>
            <a:off x="6272784" y="186537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0" name="dot"/>
          <p:cNvSpPr/>
          <p:nvPr/>
        </p:nvSpPr>
        <p:spPr>
          <a:xfrm>
            <a:off x="6446520" y="186537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dot"/>
          <p:cNvSpPr/>
          <p:nvPr/>
        </p:nvSpPr>
        <p:spPr>
          <a:xfrm>
            <a:off x="6620256" y="186537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2" name="dot"/>
          <p:cNvSpPr/>
          <p:nvPr/>
        </p:nvSpPr>
        <p:spPr>
          <a:xfrm>
            <a:off x="6793992" y="186537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dot"/>
          <p:cNvSpPr/>
          <p:nvPr/>
        </p:nvSpPr>
        <p:spPr>
          <a:xfrm>
            <a:off x="6967728" y="1865376"/>
            <a:ext cx="137160" cy="137160"/>
          </a:xfrm>
          <a:prstGeom prst="ellipse">
            <a:avLst/>
          </a:prstGeom>
          <a:solidFill>
            <a:srgbClr val="E4002B"/>
          </a:solidFill>
          <a:ln w="6350">
            <a:solidFill>
              <a:srgbClr val="E4002B"/>
            </a:solidFill>
            <a:prstDash val="solid"/>
          </a:ln>
        </p:spPr>
      </p:sp>
      <p:sp>
        <p:nvSpPr>
          <p:cNvPr id="64" name="dot"/>
          <p:cNvSpPr/>
          <p:nvPr/>
        </p:nvSpPr>
        <p:spPr>
          <a:xfrm>
            <a:off x="7141464" y="186537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7360920" y="17830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41.0 (Biznet)</a:t>
            </a:r>
            <a:endParaRPr lang="en-US" sz="580" dirty="0"/>
          </a:p>
        </p:txBody>
      </p:sp>
      <p:sp>
        <p:nvSpPr>
          <p:cNvPr id="66" name="Text 63"/>
          <p:cNvSpPr txBox="1"/>
          <p:nvPr/>
        </p:nvSpPr>
        <p:spPr>
          <a:xfrm>
            <a:off x="8275320" y="178308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−36%</a:t>
            </a:r>
            <a:endParaRPr lang="en-US" sz="630" dirty="0"/>
          </a:p>
        </p:txBody>
      </p:sp>
      <p:sp>
        <p:nvSpPr>
          <p:cNvPr id="67" name="met"/>
          <p:cNvSpPr/>
          <p:nvPr/>
        </p:nvSpPr>
        <p:spPr>
          <a:xfrm>
            <a:off x="3749040" y="2148840"/>
            <a:ext cx="512064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68" name="Text 65"/>
          <p:cNvSpPr txBox="1"/>
          <p:nvPr/>
        </p:nvSpPr>
        <p:spPr>
          <a:xfrm>
            <a:off x="3813048" y="214884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upload</a:t>
            </a:r>
            <a:endParaRPr lang="en-US" sz="630" dirty="0"/>
          </a:p>
        </p:txBody>
      </p:sp>
      <p:sp>
        <p:nvSpPr>
          <p:cNvPr id="69" name="Text 66"/>
          <p:cNvSpPr txBox="1"/>
          <p:nvPr/>
        </p:nvSpPr>
        <p:spPr>
          <a:xfrm>
            <a:off x="5230368" y="214884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12.9 Mbps</a:t>
            </a:r>
            <a:endParaRPr lang="en-US" sz="640" dirty="0"/>
          </a:p>
        </p:txBody>
      </p:sp>
      <p:sp>
        <p:nvSpPr>
          <p:cNvPr id="70" name="dot"/>
          <p:cNvSpPr/>
          <p:nvPr/>
        </p:nvSpPr>
        <p:spPr>
          <a:xfrm>
            <a:off x="5925312" y="223113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1" name="dot"/>
          <p:cNvSpPr/>
          <p:nvPr/>
        </p:nvSpPr>
        <p:spPr>
          <a:xfrm>
            <a:off x="6099048" y="223113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2" name="dot"/>
          <p:cNvSpPr/>
          <p:nvPr/>
        </p:nvSpPr>
        <p:spPr>
          <a:xfrm>
            <a:off x="6272784" y="223113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3" name="dot"/>
          <p:cNvSpPr/>
          <p:nvPr/>
        </p:nvSpPr>
        <p:spPr>
          <a:xfrm>
            <a:off x="6446520" y="223113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4" name="dot"/>
          <p:cNvSpPr/>
          <p:nvPr/>
        </p:nvSpPr>
        <p:spPr>
          <a:xfrm>
            <a:off x="6620256" y="223113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5" name="dot"/>
          <p:cNvSpPr/>
          <p:nvPr/>
        </p:nvSpPr>
        <p:spPr>
          <a:xfrm>
            <a:off x="6793992" y="223113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6" name="dot"/>
          <p:cNvSpPr/>
          <p:nvPr/>
        </p:nvSpPr>
        <p:spPr>
          <a:xfrm>
            <a:off x="6967728" y="223113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7" name="dot"/>
          <p:cNvSpPr/>
          <p:nvPr/>
        </p:nvSpPr>
        <p:spPr>
          <a:xfrm>
            <a:off x="7141464" y="2231136"/>
            <a:ext cx="137160" cy="137160"/>
          </a:xfrm>
          <a:prstGeom prst="ellipse">
            <a:avLst/>
          </a:prstGeom>
          <a:solidFill>
            <a:srgbClr val="E4002B"/>
          </a:solidFill>
          <a:ln w="6350">
            <a:solidFill>
              <a:srgbClr val="E4002B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7360920" y="21488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29.6 (Oxygen.id)</a:t>
            </a:r>
            <a:endParaRPr lang="en-US" sz="580" dirty="0"/>
          </a:p>
        </p:txBody>
      </p:sp>
      <p:sp>
        <p:nvSpPr>
          <p:cNvPr id="79" name="Text 76"/>
          <p:cNvSpPr txBox="1"/>
          <p:nvPr/>
        </p:nvSpPr>
        <p:spPr>
          <a:xfrm>
            <a:off x="8275320" y="214884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−56%</a:t>
            </a:r>
            <a:endParaRPr lang="en-US" sz="630" dirty="0"/>
          </a:p>
        </p:txBody>
      </p:sp>
      <p:sp>
        <p:nvSpPr>
          <p:cNvPr id="80" name="met"/>
          <p:cNvSpPr/>
          <p:nvPr/>
        </p:nvSpPr>
        <p:spPr>
          <a:xfrm>
            <a:off x="3749040" y="2514600"/>
            <a:ext cx="5120640" cy="310896"/>
          </a:xfrm>
          <a:prstGeom prst="roundRect">
            <a:avLst>
              <a:gd name="adj" fmla="val 8824"/>
            </a:avLst>
          </a:prstGeom>
          <a:solidFill>
            <a:srgbClr val="F1F5F9"/>
          </a:solidFill>
          <a:ln/>
        </p:spPr>
      </p:sp>
      <p:sp>
        <p:nvSpPr>
          <p:cNvPr id="81" name="Text 78"/>
          <p:cNvSpPr txBox="1"/>
          <p:nvPr/>
        </p:nvSpPr>
        <p:spPr>
          <a:xfrm>
            <a:off x="3813048" y="25146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National video (0–100)</a:t>
            </a:r>
            <a:endParaRPr lang="en-US" sz="630" dirty="0"/>
          </a:p>
        </p:txBody>
      </p:sp>
      <p:sp>
        <p:nvSpPr>
          <p:cNvPr id="82" name="Text 79"/>
          <p:cNvSpPr txBox="1"/>
          <p:nvPr/>
        </p:nvSpPr>
        <p:spPr>
          <a:xfrm>
            <a:off x="5230368" y="251460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66.0</a:t>
            </a:r>
            <a:endParaRPr lang="en-US" sz="640" dirty="0"/>
          </a:p>
        </p:txBody>
      </p:sp>
      <p:sp>
        <p:nvSpPr>
          <p:cNvPr id="83" name="dot"/>
          <p:cNvSpPr/>
          <p:nvPr/>
        </p:nvSpPr>
        <p:spPr>
          <a:xfrm>
            <a:off x="5925312" y="259689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4" name="dot"/>
          <p:cNvSpPr/>
          <p:nvPr/>
        </p:nvSpPr>
        <p:spPr>
          <a:xfrm>
            <a:off x="6099048" y="259689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5" name="dot"/>
          <p:cNvSpPr/>
          <p:nvPr/>
        </p:nvSpPr>
        <p:spPr>
          <a:xfrm>
            <a:off x="6272784" y="259689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6" name="dot"/>
          <p:cNvSpPr/>
          <p:nvPr/>
        </p:nvSpPr>
        <p:spPr>
          <a:xfrm>
            <a:off x="6446520" y="259689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7" name="dot"/>
          <p:cNvSpPr/>
          <p:nvPr/>
        </p:nvSpPr>
        <p:spPr>
          <a:xfrm>
            <a:off x="6620256" y="259689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8" name="dot"/>
          <p:cNvSpPr/>
          <p:nvPr/>
        </p:nvSpPr>
        <p:spPr>
          <a:xfrm>
            <a:off x="6793992" y="2596896"/>
            <a:ext cx="137160" cy="137160"/>
          </a:xfrm>
          <a:prstGeom prst="ellipse">
            <a:avLst/>
          </a:prstGeom>
          <a:solidFill>
            <a:srgbClr val="E4002B"/>
          </a:solidFill>
          <a:ln w="6350">
            <a:solidFill>
              <a:srgbClr val="E4002B"/>
            </a:solidFill>
            <a:prstDash val="solid"/>
          </a:ln>
        </p:spPr>
      </p:sp>
      <p:sp>
        <p:nvSpPr>
          <p:cNvPr id="89" name="dot"/>
          <p:cNvSpPr/>
          <p:nvPr/>
        </p:nvSpPr>
        <p:spPr>
          <a:xfrm>
            <a:off x="6967728" y="259689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0" name="dot"/>
          <p:cNvSpPr/>
          <p:nvPr/>
        </p:nvSpPr>
        <p:spPr>
          <a:xfrm>
            <a:off x="7141464" y="259689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7360920" y="251460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70.3 (Oxygen.id)</a:t>
            </a:r>
            <a:endParaRPr lang="en-US" sz="580" dirty="0"/>
          </a:p>
        </p:txBody>
      </p:sp>
      <p:sp>
        <p:nvSpPr>
          <p:cNvPr id="92" name="Text 89"/>
          <p:cNvSpPr txBox="1"/>
          <p:nvPr/>
        </p:nvSpPr>
        <p:spPr>
          <a:xfrm>
            <a:off x="8275320" y="251460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−4.3 pts</a:t>
            </a:r>
            <a:endParaRPr lang="en-US" sz="630" dirty="0"/>
          </a:p>
        </p:txBody>
      </p:sp>
      <p:sp>
        <p:nvSpPr>
          <p:cNvPr id="93" name="met"/>
          <p:cNvSpPr/>
          <p:nvPr/>
        </p:nvSpPr>
        <p:spPr>
          <a:xfrm>
            <a:off x="3749040" y="2880360"/>
            <a:ext cx="512064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94" name="Text 91"/>
          <p:cNvSpPr txBox="1"/>
          <p:nvPr/>
        </p:nvSpPr>
        <p:spPr>
          <a:xfrm>
            <a:off x="3813048" y="288036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Urban consistent quality</a:t>
            </a:r>
            <a:endParaRPr lang="en-US" sz="630" dirty="0"/>
          </a:p>
        </p:txBody>
      </p:sp>
      <p:sp>
        <p:nvSpPr>
          <p:cNvPr id="95" name="Text 92"/>
          <p:cNvSpPr txBox="1"/>
          <p:nvPr/>
        </p:nvSpPr>
        <p:spPr>
          <a:xfrm>
            <a:off x="5230368" y="288036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58.8%</a:t>
            </a:r>
            <a:endParaRPr lang="en-US" sz="640" dirty="0"/>
          </a:p>
        </p:txBody>
      </p:sp>
      <p:sp>
        <p:nvSpPr>
          <p:cNvPr id="96" name="dot"/>
          <p:cNvSpPr/>
          <p:nvPr/>
        </p:nvSpPr>
        <p:spPr>
          <a:xfrm>
            <a:off x="5925312" y="296265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7" name="dot"/>
          <p:cNvSpPr/>
          <p:nvPr/>
        </p:nvSpPr>
        <p:spPr>
          <a:xfrm>
            <a:off x="6099048" y="296265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8" name="dot"/>
          <p:cNvSpPr/>
          <p:nvPr/>
        </p:nvSpPr>
        <p:spPr>
          <a:xfrm>
            <a:off x="6272784" y="296265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9" name="dot"/>
          <p:cNvSpPr/>
          <p:nvPr/>
        </p:nvSpPr>
        <p:spPr>
          <a:xfrm>
            <a:off x="6446520" y="2962656"/>
            <a:ext cx="137160" cy="137160"/>
          </a:xfrm>
          <a:prstGeom prst="ellipse">
            <a:avLst/>
          </a:prstGeom>
          <a:solidFill>
            <a:srgbClr val="E4002B"/>
          </a:solidFill>
          <a:ln w="6350">
            <a:solidFill>
              <a:srgbClr val="E4002B"/>
            </a:solidFill>
            <a:prstDash val="solid"/>
          </a:ln>
        </p:spPr>
      </p:sp>
      <p:sp>
        <p:nvSpPr>
          <p:cNvPr id="100" name="dot"/>
          <p:cNvSpPr/>
          <p:nvPr/>
        </p:nvSpPr>
        <p:spPr>
          <a:xfrm>
            <a:off x="6620256" y="296265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1" name="dot"/>
          <p:cNvSpPr/>
          <p:nvPr/>
        </p:nvSpPr>
        <p:spPr>
          <a:xfrm>
            <a:off x="6793992" y="296265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2" name="dot"/>
          <p:cNvSpPr/>
          <p:nvPr/>
        </p:nvSpPr>
        <p:spPr>
          <a:xfrm>
            <a:off x="6967728" y="296265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3" name="dot"/>
          <p:cNvSpPr/>
          <p:nvPr/>
        </p:nvSpPr>
        <p:spPr>
          <a:xfrm>
            <a:off x="7141464" y="296265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4" name="Text 101"/>
          <p:cNvSpPr txBox="1"/>
          <p:nvPr/>
        </p:nvSpPr>
        <p:spPr>
          <a:xfrm>
            <a:off x="7360920" y="28803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69.9%</a:t>
            </a:r>
            <a:endParaRPr lang="en-US" sz="580" dirty="0"/>
          </a:p>
        </p:txBody>
      </p:sp>
      <p:sp>
        <p:nvSpPr>
          <p:cNvPr id="105" name="Text 102"/>
          <p:cNvSpPr txBox="1"/>
          <p:nvPr/>
        </p:nvSpPr>
        <p:spPr>
          <a:xfrm>
            <a:off x="8275320" y="288036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−15.9%</a:t>
            </a:r>
            <a:endParaRPr lang="en-US" sz="630" dirty="0"/>
          </a:p>
        </p:txBody>
      </p:sp>
      <p:sp>
        <p:nvSpPr>
          <p:cNvPr id="106" name="met"/>
          <p:cNvSpPr/>
          <p:nvPr/>
        </p:nvSpPr>
        <p:spPr>
          <a:xfrm>
            <a:off x="3749040" y="3246120"/>
            <a:ext cx="5120640" cy="310896"/>
          </a:xfrm>
          <a:prstGeom prst="roundRect">
            <a:avLst>
              <a:gd name="adj" fmla="val 8824"/>
            </a:avLst>
          </a:prstGeom>
          <a:solidFill>
            <a:srgbClr val="F1F5F9"/>
          </a:solidFill>
          <a:ln/>
        </p:spPr>
      </p:sp>
      <p:sp>
        <p:nvSpPr>
          <p:cNvPr id="107" name="Text 104"/>
          <p:cNvSpPr txBox="1"/>
          <p:nvPr/>
        </p:nvSpPr>
        <p:spPr>
          <a:xfrm>
            <a:off x="3813048" y="32461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Urban download</a:t>
            </a:r>
            <a:endParaRPr lang="en-US" sz="630" dirty="0"/>
          </a:p>
        </p:txBody>
      </p:sp>
      <p:sp>
        <p:nvSpPr>
          <p:cNvPr id="108" name="Text 105"/>
          <p:cNvSpPr txBox="1"/>
          <p:nvPr/>
        </p:nvSpPr>
        <p:spPr>
          <a:xfrm>
            <a:off x="5230368" y="324612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26.4 Mbps</a:t>
            </a:r>
            <a:endParaRPr lang="en-US" sz="640" dirty="0"/>
          </a:p>
        </p:txBody>
      </p:sp>
      <p:sp>
        <p:nvSpPr>
          <p:cNvPr id="109" name="dot"/>
          <p:cNvSpPr/>
          <p:nvPr/>
        </p:nvSpPr>
        <p:spPr>
          <a:xfrm>
            <a:off x="5925312" y="332841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0" name="dot"/>
          <p:cNvSpPr/>
          <p:nvPr/>
        </p:nvSpPr>
        <p:spPr>
          <a:xfrm>
            <a:off x="6099048" y="332841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1" name="dot"/>
          <p:cNvSpPr/>
          <p:nvPr/>
        </p:nvSpPr>
        <p:spPr>
          <a:xfrm>
            <a:off x="6272784" y="332841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2" name="dot"/>
          <p:cNvSpPr/>
          <p:nvPr/>
        </p:nvSpPr>
        <p:spPr>
          <a:xfrm>
            <a:off x="6446520" y="332841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3" name="dot"/>
          <p:cNvSpPr/>
          <p:nvPr/>
        </p:nvSpPr>
        <p:spPr>
          <a:xfrm>
            <a:off x="6620256" y="332841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4" name="dot"/>
          <p:cNvSpPr/>
          <p:nvPr/>
        </p:nvSpPr>
        <p:spPr>
          <a:xfrm>
            <a:off x="6793992" y="332841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5" name="dot"/>
          <p:cNvSpPr/>
          <p:nvPr/>
        </p:nvSpPr>
        <p:spPr>
          <a:xfrm>
            <a:off x="6967728" y="3328416"/>
            <a:ext cx="137160" cy="137160"/>
          </a:xfrm>
          <a:prstGeom prst="ellipse">
            <a:avLst/>
          </a:prstGeom>
          <a:solidFill>
            <a:srgbClr val="E4002B"/>
          </a:solidFill>
          <a:ln w="6350">
            <a:solidFill>
              <a:srgbClr val="E4002B"/>
            </a:solidFill>
            <a:prstDash val="solid"/>
          </a:ln>
        </p:spPr>
      </p:sp>
      <p:sp>
        <p:nvSpPr>
          <p:cNvPr id="116" name="dot"/>
          <p:cNvSpPr/>
          <p:nvPr/>
        </p:nvSpPr>
        <p:spPr>
          <a:xfrm>
            <a:off x="7141464" y="332841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7" name="Text 114"/>
          <p:cNvSpPr txBox="1"/>
          <p:nvPr/>
        </p:nvSpPr>
        <p:spPr>
          <a:xfrm>
            <a:off x="7360920" y="32461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40.8</a:t>
            </a:r>
            <a:endParaRPr lang="en-US" sz="580" dirty="0"/>
          </a:p>
        </p:txBody>
      </p:sp>
      <p:sp>
        <p:nvSpPr>
          <p:cNvPr id="118" name="Text 115"/>
          <p:cNvSpPr txBox="1"/>
          <p:nvPr/>
        </p:nvSpPr>
        <p:spPr>
          <a:xfrm>
            <a:off x="8275320" y="324612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−35.3%</a:t>
            </a:r>
            <a:endParaRPr lang="en-US" sz="630" dirty="0"/>
          </a:p>
        </p:txBody>
      </p:sp>
      <p:sp>
        <p:nvSpPr>
          <p:cNvPr id="119" name="met"/>
          <p:cNvSpPr/>
          <p:nvPr/>
        </p:nvSpPr>
        <p:spPr>
          <a:xfrm>
            <a:off x="3749040" y="3611880"/>
            <a:ext cx="512064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/>
        </p:spPr>
      </p:sp>
      <p:sp>
        <p:nvSpPr>
          <p:cNvPr id="120" name="Text 117"/>
          <p:cNvSpPr txBox="1"/>
          <p:nvPr/>
        </p:nvSpPr>
        <p:spPr>
          <a:xfrm>
            <a:off x="3813048" y="361188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Urban upload</a:t>
            </a:r>
            <a:endParaRPr lang="en-US" sz="630" dirty="0"/>
          </a:p>
        </p:txBody>
      </p:sp>
      <p:sp>
        <p:nvSpPr>
          <p:cNvPr id="121" name="Text 118"/>
          <p:cNvSpPr txBox="1"/>
          <p:nvPr/>
        </p:nvSpPr>
        <p:spPr>
          <a:xfrm>
            <a:off x="5230368" y="361188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13.3 Mbps</a:t>
            </a:r>
            <a:endParaRPr lang="en-US" sz="640" dirty="0"/>
          </a:p>
        </p:txBody>
      </p:sp>
      <p:sp>
        <p:nvSpPr>
          <p:cNvPr id="122" name="dot"/>
          <p:cNvSpPr/>
          <p:nvPr/>
        </p:nvSpPr>
        <p:spPr>
          <a:xfrm>
            <a:off x="5925312" y="369417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3" name="dot"/>
          <p:cNvSpPr/>
          <p:nvPr/>
        </p:nvSpPr>
        <p:spPr>
          <a:xfrm>
            <a:off x="6099048" y="369417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4" name="dot"/>
          <p:cNvSpPr/>
          <p:nvPr/>
        </p:nvSpPr>
        <p:spPr>
          <a:xfrm>
            <a:off x="6272784" y="369417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5" name="dot"/>
          <p:cNvSpPr/>
          <p:nvPr/>
        </p:nvSpPr>
        <p:spPr>
          <a:xfrm>
            <a:off x="6446520" y="369417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6" name="dot"/>
          <p:cNvSpPr/>
          <p:nvPr/>
        </p:nvSpPr>
        <p:spPr>
          <a:xfrm>
            <a:off x="6620256" y="369417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7" name="dot"/>
          <p:cNvSpPr/>
          <p:nvPr/>
        </p:nvSpPr>
        <p:spPr>
          <a:xfrm>
            <a:off x="6793992" y="369417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8" name="dot"/>
          <p:cNvSpPr/>
          <p:nvPr/>
        </p:nvSpPr>
        <p:spPr>
          <a:xfrm>
            <a:off x="6967728" y="3694176"/>
            <a:ext cx="137160" cy="137160"/>
          </a:xfrm>
          <a:prstGeom prst="ellips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9" name="dot"/>
          <p:cNvSpPr/>
          <p:nvPr/>
        </p:nvSpPr>
        <p:spPr>
          <a:xfrm>
            <a:off x="7141464" y="3694176"/>
            <a:ext cx="137160" cy="137160"/>
          </a:xfrm>
          <a:prstGeom prst="ellipse">
            <a:avLst/>
          </a:prstGeom>
          <a:solidFill>
            <a:srgbClr val="E4002B"/>
          </a:solidFill>
          <a:ln w="6350">
            <a:solidFill>
              <a:srgbClr val="E4002B"/>
            </a:solidFill>
            <a:prstDash val="solid"/>
          </a:ln>
        </p:spPr>
      </p:sp>
      <p:sp>
        <p:nvSpPr>
          <p:cNvPr id="130" name="Text 127"/>
          <p:cNvSpPr txBox="1"/>
          <p:nvPr/>
        </p:nvSpPr>
        <p:spPr>
          <a:xfrm>
            <a:off x="7360920" y="361188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30.5</a:t>
            </a:r>
            <a:endParaRPr lang="en-US" sz="580" dirty="0"/>
          </a:p>
        </p:txBody>
      </p:sp>
      <p:sp>
        <p:nvSpPr>
          <p:cNvPr id="131" name="Text 128"/>
          <p:cNvSpPr txBox="1"/>
          <p:nvPr/>
        </p:nvSpPr>
        <p:spPr>
          <a:xfrm>
            <a:off x="8275320" y="361188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−56.4%</a:t>
            </a:r>
            <a:endParaRPr lang="en-US" sz="630" dirty="0"/>
          </a:p>
        </p:txBody>
      </p:sp>
      <p:sp>
        <p:nvSpPr>
          <p:cNvPr id="132" name="caveat"/>
          <p:cNvSpPr/>
          <p:nvPr/>
        </p:nvSpPr>
        <p:spPr>
          <a:xfrm>
            <a:off x="3749040" y="4023360"/>
            <a:ext cx="512064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33" name="Text 130"/>
          <p:cNvSpPr txBox="1"/>
          <p:nvPr/>
        </p:nvSpPr>
        <p:spPr>
          <a:xfrm>
            <a:off x="3822192" y="4041648"/>
            <a:ext cx="49834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Reading: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averages reflect the plan mix (many low-speed legacy plans), but reliability and consistency depend less on plan speed. The gap splits between the network (group fiber) and the home (router, Wi-Fi coverage, ONT), where Telkomsel can act alone and already sells fixes (ONT upgrades, Ultra Mesh, FTTR).</a:t>
            </a:r>
            <a:endParaRPr lang="en-US" sz="6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mystery shop: what five Telkomsel product pages tell a household about which product fits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Telkomsel web pages read 10 Oct 2026: /indihome, /orbit, /eznet, /eznet-wireless, /one (S65); MyTelkomsel app (S45)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</a:t>
            </a:r>
            <a:endParaRPr lang="en-US" sz="900" dirty="0"/>
          </a:p>
        </p:txBody>
      </p:sp>
      <p:sp>
        <p:nvSpPr>
          <p:cNvPr id="10" name="head IndiHome"/>
          <p:cNvSpPr/>
          <p:nvPr/>
        </p:nvSpPr>
        <p:spPr>
          <a:xfrm>
            <a:off x="274320" y="841248"/>
            <a:ext cx="1664208" cy="256032"/>
          </a:xfrm>
          <a:prstGeom prst="roundRect">
            <a:avLst>
              <a:gd name="adj" fmla="val 17857"/>
            </a:avLst>
          </a:prstGeom>
          <a:solidFill>
            <a:srgbClr val="A5002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74320" y="84124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</a:t>
            </a:r>
            <a:endParaRPr lang="en-US" sz="750" dirty="0"/>
          </a:p>
        </p:txBody>
      </p:sp>
      <p:sp>
        <p:nvSpPr>
          <p:cNvPr id="12" name="page card IndiHome"/>
          <p:cNvSpPr/>
          <p:nvPr/>
        </p:nvSpPr>
        <p:spPr>
          <a:xfrm>
            <a:off x="274320" y="1133856"/>
            <a:ext cx="1664208" cy="2880360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338328" y="1170432"/>
            <a:ext cx="1536192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Cross-product guidance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None: "Cek Jangkauan" returns IndiHome plans only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it says it is for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 counts per card (1–6 … 1–12)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shows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 Speed 200 on 100 Mbps Rp280k … 500 on 300 Mbps Rp500k; </a:t>
            </a:r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 or 360 days</a:t>
            </a:r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Rp50k installation promo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Notable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boost is time-limited; plan names mix boosted and base speeds</a:t>
            </a:r>
            <a:endParaRPr lang="en-US" sz="590" dirty="0"/>
          </a:p>
        </p:txBody>
      </p:sp>
      <p:sp>
        <p:nvSpPr>
          <p:cNvPr id="14" name="Text 11"/>
          <p:cNvSpPr txBox="1"/>
          <p:nvPr/>
        </p:nvSpPr>
        <p:spPr>
          <a:xfrm>
            <a:off x="338328" y="4041648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no routing tool</a:t>
            </a:r>
            <a:endParaRPr lang="en-US" sz="630" dirty="0"/>
          </a:p>
        </p:txBody>
      </p:sp>
      <p:sp>
        <p:nvSpPr>
          <p:cNvPr id="15" name="head Orbit"/>
          <p:cNvSpPr/>
          <p:nvPr/>
        </p:nvSpPr>
        <p:spPr>
          <a:xfrm>
            <a:off x="2002536" y="841248"/>
            <a:ext cx="1664208" cy="256032"/>
          </a:xfrm>
          <a:prstGeom prst="roundRect">
            <a:avLst>
              <a:gd name="adj" fmla="val 17857"/>
            </a:avLst>
          </a:prstGeom>
          <a:solidFill>
            <a:srgbClr val="A5002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002536" y="84124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</a:t>
            </a:r>
            <a:endParaRPr lang="en-US" sz="750" dirty="0"/>
          </a:p>
        </p:txBody>
      </p:sp>
      <p:sp>
        <p:nvSpPr>
          <p:cNvPr id="17" name="page card Orbit"/>
          <p:cNvSpPr/>
          <p:nvPr/>
        </p:nvSpPr>
        <p:spPr>
          <a:xfrm>
            <a:off x="2002536" y="1133856"/>
            <a:ext cx="1664208" cy="2880360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2066544" y="1170432"/>
            <a:ext cx="1536192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Cross-product guidance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None: "lihat modem Telkomsel Orbit lainnya" points to other Orbit modems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it says it is for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"Paket modem WiFi spesial </a:t>
            </a:r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untuk semua</a:t>
            </a:r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shows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Devices Rp445k–Rp2,339k; 30-day packs 45 GB Rp82k to 300 GB Rp410k; prices vary by location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Notable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target household named</a:t>
            </a:r>
            <a:endParaRPr lang="en-US" sz="590" dirty="0"/>
          </a:p>
        </p:txBody>
      </p:sp>
      <p:sp>
        <p:nvSpPr>
          <p:cNvPr id="19" name="Text 16"/>
          <p:cNvSpPr txBox="1"/>
          <p:nvPr/>
        </p:nvSpPr>
        <p:spPr>
          <a:xfrm>
            <a:off x="2066544" y="4041648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no routing tool</a:t>
            </a:r>
            <a:endParaRPr lang="en-US" sz="630" dirty="0"/>
          </a:p>
        </p:txBody>
      </p:sp>
      <p:sp>
        <p:nvSpPr>
          <p:cNvPr id="20" name="head EZnet"/>
          <p:cNvSpPr/>
          <p:nvPr/>
        </p:nvSpPr>
        <p:spPr>
          <a:xfrm>
            <a:off x="3730752" y="841248"/>
            <a:ext cx="1664208" cy="256032"/>
          </a:xfrm>
          <a:prstGeom prst="roundRect">
            <a:avLst>
              <a:gd name="adj" fmla="val 17857"/>
            </a:avLst>
          </a:prstGeom>
          <a:solidFill>
            <a:srgbClr val="A5002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730752" y="84124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EZnet</a:t>
            </a:r>
            <a:endParaRPr lang="en-US" sz="750" dirty="0"/>
          </a:p>
        </p:txBody>
      </p:sp>
      <p:sp>
        <p:nvSpPr>
          <p:cNvPr id="22" name="page card EZnet"/>
          <p:cNvSpPr/>
          <p:nvPr/>
        </p:nvSpPr>
        <p:spPr>
          <a:xfrm>
            <a:off x="3730752" y="1133856"/>
            <a:ext cx="1664208" cy="2880360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3" name="Text 20"/>
          <p:cNvSpPr txBox="1"/>
          <p:nvPr/>
        </p:nvSpPr>
        <p:spPr>
          <a:xfrm>
            <a:off x="3794760" y="1170432"/>
            <a:ext cx="1536192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Cross-product guidance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path: FAQ says upgrade by moving to IndiHome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it says it is for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"Internet rumah murah dan mudah </a:t>
            </a:r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untuk semua</a:t>
            </a:r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shows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Card 20 Mbps Rp170k; FAQ still 10 Mbps Rp150k; ex-VAT; 12 months, Rp1M exit fee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Notable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Contradicts itself; shows an expired promotion</a:t>
            </a:r>
            <a:endParaRPr lang="en-US" sz="590" dirty="0"/>
          </a:p>
        </p:txBody>
      </p:sp>
      <p:sp>
        <p:nvSpPr>
          <p:cNvPr id="24" name="Text 21"/>
          <p:cNvSpPr txBox="1"/>
          <p:nvPr/>
        </p:nvSpPr>
        <p:spPr>
          <a:xfrm>
            <a:off x="3794760" y="4041648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no routing tool</a:t>
            </a:r>
            <a:endParaRPr lang="en-US" sz="630" dirty="0"/>
          </a:p>
        </p:txBody>
      </p:sp>
      <p:sp>
        <p:nvSpPr>
          <p:cNvPr id="25" name="head EZnet Wireless"/>
          <p:cNvSpPr/>
          <p:nvPr/>
        </p:nvSpPr>
        <p:spPr>
          <a:xfrm>
            <a:off x="5458968" y="841248"/>
            <a:ext cx="1664208" cy="256032"/>
          </a:xfrm>
          <a:prstGeom prst="roundRect">
            <a:avLst>
              <a:gd name="adj" fmla="val 17857"/>
            </a:avLst>
          </a:prstGeom>
          <a:solidFill>
            <a:srgbClr val="A50021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5458968" y="84124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EZnet Wireless</a:t>
            </a:r>
            <a:endParaRPr lang="en-US" sz="750" dirty="0"/>
          </a:p>
        </p:txBody>
      </p:sp>
      <p:sp>
        <p:nvSpPr>
          <p:cNvPr id="27" name="page card EZnet Wireless"/>
          <p:cNvSpPr/>
          <p:nvPr/>
        </p:nvSpPr>
        <p:spPr>
          <a:xfrm>
            <a:off x="5458968" y="1133856"/>
            <a:ext cx="1664208" cy="2880360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8" name="Text 25"/>
          <p:cNvSpPr txBox="1"/>
          <p:nvPr/>
        </p:nvSpPr>
        <p:spPr>
          <a:xfrm>
            <a:off x="5522976" y="1170432"/>
            <a:ext cx="1536192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Cross-product guidance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None: no comparison with Orbit, IndiHome or EZnet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it says it is for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"Fleksibel tanpa kontrak jangka panjang"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shows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Mbps Rp170k + admin fee, ex-VAT; 350 GB then 5 Mbps; modem lent; postpaid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Notable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opposite model to Orbit for the same household job</a:t>
            </a:r>
            <a:endParaRPr lang="en-US" sz="590" dirty="0"/>
          </a:p>
        </p:txBody>
      </p:sp>
      <p:sp>
        <p:nvSpPr>
          <p:cNvPr id="29" name="Text 26"/>
          <p:cNvSpPr txBox="1"/>
          <p:nvPr/>
        </p:nvSpPr>
        <p:spPr>
          <a:xfrm>
            <a:off x="5522976" y="4041648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no routing tool</a:t>
            </a:r>
            <a:endParaRPr lang="en-US" sz="630" dirty="0"/>
          </a:p>
        </p:txBody>
      </p:sp>
      <p:sp>
        <p:nvSpPr>
          <p:cNvPr id="30" name="head Telkomsel One"/>
          <p:cNvSpPr/>
          <p:nvPr/>
        </p:nvSpPr>
        <p:spPr>
          <a:xfrm>
            <a:off x="7187184" y="841248"/>
            <a:ext cx="1664208" cy="256032"/>
          </a:xfrm>
          <a:prstGeom prst="roundRect">
            <a:avLst>
              <a:gd name="adj" fmla="val 17857"/>
            </a:avLst>
          </a:prstGeom>
          <a:solidFill>
            <a:srgbClr val="A50021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187184" y="841248"/>
            <a:ext cx="1664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 One</a:t>
            </a:r>
            <a:endParaRPr lang="en-US" sz="750" dirty="0"/>
          </a:p>
        </p:txBody>
      </p:sp>
      <p:sp>
        <p:nvSpPr>
          <p:cNvPr id="32" name="page card Telkomsel One"/>
          <p:cNvSpPr/>
          <p:nvPr/>
        </p:nvSpPr>
        <p:spPr>
          <a:xfrm>
            <a:off x="7187184" y="1133856"/>
            <a:ext cx="1664208" cy="2880360"/>
          </a:xfrm>
          <a:prstGeom prst="roundRect">
            <a:avLst>
              <a:gd name="adj" fmla="val 274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3" name="Text 30"/>
          <p:cNvSpPr txBox="1"/>
          <p:nvPr/>
        </p:nvSpPr>
        <p:spPr>
          <a:xfrm>
            <a:off x="7251192" y="1170432"/>
            <a:ext cx="1536192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Cross-product guidance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None: one line for the whole brand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it says it is for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"Untuk keluarga"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shows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Rp270k / Rp350k; Complete Rp405–730k; Easy Rp120k; installation Rp150k; VAT basis not stated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Notable</a:t>
            </a:r>
            <a:endParaRPr lang="en-US" sz="590" dirty="0"/>
          </a:p>
          <a:p>
            <a:pPr indent="0" marL="0">
              <a:spcAft>
                <a:spcPts val="15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Double Speed; device for the Orbit quota not stated</a:t>
            </a:r>
            <a:endParaRPr lang="en-US" sz="590" dirty="0"/>
          </a:p>
        </p:txBody>
      </p:sp>
      <p:sp>
        <p:nvSpPr>
          <p:cNvPr id="34" name="Text 31"/>
          <p:cNvSpPr txBox="1"/>
          <p:nvPr/>
        </p:nvSpPr>
        <p:spPr>
          <a:xfrm>
            <a:off x="7251192" y="4041648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✖ no routing tool</a:t>
            </a:r>
            <a:endParaRPr lang="en-US" sz="630" dirty="0"/>
          </a:p>
        </p:txBody>
      </p:sp>
      <p:sp>
        <p:nvSpPr>
          <p:cNvPr id="35" name="so what"/>
          <p:cNvSpPr/>
          <p:nvPr/>
        </p:nvSpPr>
        <p:spPr>
          <a:xfrm>
            <a:off x="274320" y="4261104"/>
            <a:ext cx="8595360" cy="475488"/>
          </a:xfrm>
          <a:prstGeom prst="roundRect">
            <a:avLst>
              <a:gd name="adj" fmla="val 11538"/>
            </a:avLst>
          </a:prstGeom>
          <a:solidFill>
            <a:srgbClr val="F1F5F9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65760" y="4261104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what:</a:t>
            </a:r>
            <a:pPr indent="0" marL="0">
              <a:buNone/>
            </a:pPr>
            <a:r>
              <a:rPr lang="en-US" sz="6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none of the five pages routes a household between products; two say "for everyone"; two wireless products sell the same job on opposite models; prices appear on four VAT bases; bundle installation terms change by campaign (Rp150k vs a Rp50k standalone promo).</a:t>
            </a:r>
            <a:endParaRPr lang="en-US" sz="6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10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Spend: the price ladder, Telkomsel One against its parts, and what Double Speed lends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Telkomsel app and web (S45, S46, S65); user-reported Super Seru pack prices (S47); OTT retail prices (S67, weak); Telkom 1H26 Info Memo (S04); our calculation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4124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 One against IndiHome + a mobile pack, by VAT reading (% cheaper or dearer)</a:t>
            </a:r>
            <a:endParaRPr lang="en-US" sz="800" dirty="0"/>
          </a:p>
        </p:txBody>
      </p:sp>
      <p:sp>
        <p:nvSpPr>
          <p:cNvPr id="11" name="line"/>
          <p:cNvSpPr/>
          <p:nvPr/>
        </p:nvSpPr>
        <p:spPr>
          <a:xfrm>
            <a:off x="2743200" y="1097280"/>
            <a:ext cx="0" cy="160020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645920" y="1097280"/>
            <a:ext cx="1051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cheaper ←</a:t>
            </a:r>
            <a:endParaRPr lang="en-US" sz="580" dirty="0"/>
          </a:p>
        </p:txBody>
      </p:sp>
      <p:sp>
        <p:nvSpPr>
          <p:cNvPr id="13" name="Text 10"/>
          <p:cNvSpPr txBox="1"/>
          <p:nvPr/>
        </p:nvSpPr>
        <p:spPr>
          <a:xfrm>
            <a:off x="2788920" y="1097280"/>
            <a:ext cx="9144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 dearer</a:t>
            </a:r>
            <a:endParaRPr lang="en-US" sz="58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12801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Mbps + 15 GB, prices incl. VAT</a:t>
            </a:r>
            <a:endParaRPr lang="en-US" sz="590" dirty="0"/>
          </a:p>
        </p:txBody>
      </p:sp>
      <p:sp>
        <p:nvSpPr>
          <p:cNvPr id="15" name="range"/>
          <p:cNvSpPr/>
          <p:nvPr/>
        </p:nvSpPr>
        <p:spPr>
          <a:xfrm>
            <a:off x="1481328" y="1353312"/>
            <a:ext cx="164592" cy="146304"/>
          </a:xfrm>
          <a:prstGeom prst="rect">
            <a:avLst/>
          </a:prstGeom>
          <a:solidFill>
            <a:srgbClr val="A5002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794760" y="1280160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-11.5 to -10.0%</a:t>
            </a:r>
            <a:endParaRPr lang="en-US" sz="630" dirty="0"/>
          </a:p>
        </p:txBody>
      </p:sp>
      <p:sp>
        <p:nvSpPr>
          <p:cNvPr id="17" name="Text 14"/>
          <p:cNvSpPr txBox="1"/>
          <p:nvPr/>
        </p:nvSpPr>
        <p:spPr>
          <a:xfrm>
            <a:off x="274320" y="162763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 Mbps + 15 GB, web prices ex-VAT</a:t>
            </a:r>
            <a:endParaRPr lang="en-US" sz="590" dirty="0"/>
          </a:p>
        </p:txBody>
      </p:sp>
      <p:sp>
        <p:nvSpPr>
          <p:cNvPr id="18" name="range"/>
          <p:cNvSpPr/>
          <p:nvPr/>
        </p:nvSpPr>
        <p:spPr>
          <a:xfrm>
            <a:off x="2556662" y="1700784"/>
            <a:ext cx="175565" cy="14630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794760" y="1627632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-1.7 to -0.1%</a:t>
            </a:r>
            <a:endParaRPr lang="en-US" sz="630" dirty="0"/>
          </a:p>
        </p:txBody>
      </p:sp>
      <p:sp>
        <p:nvSpPr>
          <p:cNvPr id="20" name="Text 17"/>
          <p:cNvSpPr txBox="1"/>
          <p:nvPr/>
        </p:nvSpPr>
        <p:spPr>
          <a:xfrm>
            <a:off x="274320" y="19751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Mbps + 30 GB, prices incl. VAT</a:t>
            </a:r>
            <a:endParaRPr lang="en-US" sz="590" dirty="0"/>
          </a:p>
        </p:txBody>
      </p:sp>
      <p:sp>
        <p:nvSpPr>
          <p:cNvPr id="21" name="range"/>
          <p:cNvSpPr/>
          <p:nvPr/>
        </p:nvSpPr>
        <p:spPr>
          <a:xfrm>
            <a:off x="2293315" y="2048256"/>
            <a:ext cx="142646" cy="146304"/>
          </a:xfrm>
          <a:prstGeom prst="rect">
            <a:avLst/>
          </a:prstGeom>
          <a:solidFill>
            <a:srgbClr val="A50021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3794760" y="1975104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-4.1 to -2.8%</a:t>
            </a:r>
            <a:endParaRPr lang="en-US" sz="630" dirty="0"/>
          </a:p>
        </p:txBody>
      </p:sp>
      <p:sp>
        <p:nvSpPr>
          <p:cNvPr id="23" name="Text 20"/>
          <p:cNvSpPr txBox="1"/>
          <p:nvPr/>
        </p:nvSpPr>
        <p:spPr>
          <a:xfrm>
            <a:off x="274320" y="232257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 Mbps + 30 GB, web prices ex-VAT</a:t>
            </a:r>
            <a:endParaRPr lang="en-US" sz="590" dirty="0"/>
          </a:p>
        </p:txBody>
      </p:sp>
      <p:sp>
        <p:nvSpPr>
          <p:cNvPr id="24" name="range"/>
          <p:cNvSpPr/>
          <p:nvPr/>
        </p:nvSpPr>
        <p:spPr>
          <a:xfrm>
            <a:off x="3445459" y="2395728"/>
            <a:ext cx="164592" cy="146304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794760" y="2322576"/>
            <a:ext cx="1051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+6.4 to +7.9%</a:t>
            </a:r>
            <a:endParaRPr lang="en-US" sz="630" dirty="0"/>
          </a:p>
        </p:txBody>
      </p:sp>
      <p:sp>
        <p:nvSpPr>
          <p:cNvPr id="26" name="Text 23"/>
          <p:cNvSpPr txBox="1"/>
          <p:nvPr/>
        </p:nvSpPr>
        <p:spPr>
          <a:xfrm>
            <a:off x="274320" y="2724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1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 in both readings: at best a small saving, for less speed than standalone IndiHome with Double Speed, and a Rp150k installation fee against Rp50k standalone.</a:t>
            </a:r>
            <a:endParaRPr lang="en-US" sz="610" dirty="0"/>
          </a:p>
        </p:txBody>
      </p:sp>
      <p:sp>
        <p:nvSpPr>
          <p:cNvPr id="27" name="Text 24"/>
          <p:cNvSpPr txBox="1"/>
          <p:nvPr/>
        </p:nvSpPr>
        <p:spPr>
          <a:xfrm>
            <a:off x="274320" y="3044952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charging for extras to giving them away</a:t>
            </a:r>
            <a:endParaRPr lang="en-US" sz="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46120"/>
          <a:ext cx="45720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15544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Period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Telkomsel did with extras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Effect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2023–2024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Triple-play as the norm; ARPU Rp253k → Rp238k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Bundled extras carried ARPU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Internet-only spreads; "Higher Speed More Price"; tiered OTT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ARPU −10.1%; mix moves to 1P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"High Speed Same Price": Double Speed for 180 or 360 days; Viu, Prime Video, Vision+ included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Speed and some content free; Netflix +Rp30k, FTTR +Rp160–295k still paid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Text 25"/>
          <p:cNvSpPr txBox="1"/>
          <p:nvPr/>
        </p:nvSpPr>
        <p:spPr>
          <a:xfrm>
            <a:off x="5029200" y="84124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base plan now contains</a:t>
            </a:r>
            <a:endParaRPr lang="en-US" sz="800" dirty="0"/>
          </a:p>
        </p:txBody>
      </p:sp>
      <p:sp>
        <p:nvSpPr>
          <p:cNvPr id="30" name="st"/>
          <p:cNvSpPr/>
          <p:nvPr/>
        </p:nvSpPr>
        <p:spPr>
          <a:xfrm>
            <a:off x="5029200" y="1051560"/>
            <a:ext cx="3840480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5102352" y="10515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 / 360 days</a:t>
            </a:r>
            <a:endParaRPr lang="en-US" sz="950" dirty="0"/>
          </a:p>
        </p:txBody>
      </p:sp>
      <p:sp>
        <p:nvSpPr>
          <p:cNvPr id="32" name="Text 28"/>
          <p:cNvSpPr txBox="1"/>
          <p:nvPr/>
        </p:nvSpPr>
        <p:spPr>
          <a:xfrm>
            <a:off x="6309360" y="10515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Double Speed on 100–150 Mbps / 200–300 Mbps bases: a renewal cliff at month 6 or 12 unless designed as a choice</a:t>
            </a:r>
            <a:endParaRPr lang="en-US" sz="620" dirty="0"/>
          </a:p>
        </p:txBody>
      </p:sp>
      <p:sp>
        <p:nvSpPr>
          <p:cNvPr id="33" name="st"/>
          <p:cNvSpPr/>
          <p:nvPr/>
        </p:nvSpPr>
        <p:spPr>
          <a:xfrm>
            <a:off x="5029200" y="1673352"/>
            <a:ext cx="3840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5102352" y="1673352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≈Rp109–132k</a:t>
            </a:r>
            <a:endParaRPr lang="en-US" sz="950" dirty="0"/>
          </a:p>
        </p:txBody>
      </p:sp>
      <p:sp>
        <p:nvSpPr>
          <p:cNvPr id="35" name="Text 31"/>
          <p:cNvSpPr txBox="1"/>
          <p:nvPr/>
        </p:nvSpPr>
        <p:spPr>
          <a:xfrm>
            <a:off x="6309360" y="167335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retail value of the three services in a Double Speed plan, 45–55% of the Rp240k price </a:t>
            </a:r>
            <a:pPr indent="0" marL="0">
              <a:buNone/>
            </a:pPr>
            <a:r>
              <a:rPr lang="en-US" sz="62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20" dirty="0"/>
          </a:p>
        </p:txBody>
      </p:sp>
      <p:sp>
        <p:nvSpPr>
          <p:cNvPr id="36" name="st"/>
          <p:cNvSpPr/>
          <p:nvPr/>
        </p:nvSpPr>
        <p:spPr>
          <a:xfrm>
            <a:off x="5029200" y="2295144"/>
            <a:ext cx="3840480" cy="548640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102352" y="2295144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−2.5% to +8.4%</a:t>
            </a:r>
            <a:endParaRPr lang="en-US" sz="950" dirty="0"/>
          </a:p>
        </p:txBody>
      </p:sp>
      <p:sp>
        <p:nvSpPr>
          <p:cNvPr id="38" name="Text 34"/>
          <p:cNvSpPr txBox="1"/>
          <p:nvPr/>
        </p:nvSpPr>
        <p:spPr>
          <a:xfrm>
            <a:off x="6309360" y="2295144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average home pays against the cheapest standalone plan, by base</a:t>
            </a:r>
            <a:endParaRPr lang="en-US" sz="620" dirty="0"/>
          </a:p>
        </p:txBody>
      </p:sp>
      <p:sp>
        <p:nvSpPr>
          <p:cNvPr id="39" name="st"/>
          <p:cNvSpPr/>
          <p:nvPr/>
        </p:nvSpPr>
        <p:spPr>
          <a:xfrm>
            <a:off x="5029200" y="2916936"/>
            <a:ext cx="384048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102352" y="2916936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Rp27.0k</a:t>
            </a:r>
            <a:endParaRPr lang="en-US" sz="950" dirty="0"/>
          </a:p>
        </p:txBody>
      </p:sp>
      <p:sp>
        <p:nvSpPr>
          <p:cNvPr id="41" name="Text 37"/>
          <p:cNvSpPr txBox="1"/>
          <p:nvPr/>
        </p:nvSpPr>
        <p:spPr>
          <a:xfrm>
            <a:off x="6309360" y="2916936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speed step ex-VAT (Rp240k → Rp270k incl. VAT), the unit the boost-end choice prices</a:t>
            </a:r>
            <a:endParaRPr lang="en-US" sz="620" dirty="0"/>
          </a:p>
        </p:txBody>
      </p:sp>
      <p:sp>
        <p:nvSpPr>
          <p:cNvPr id="42" name="so what"/>
          <p:cNvSpPr/>
          <p:nvPr/>
        </p:nvSpPr>
        <p:spPr>
          <a:xfrm>
            <a:off x="5029200" y="3611880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4002B"/>
            </a:solidFill>
            <a:prstDash val="dash"/>
          </a:ln>
        </p:spPr>
      </p:sp>
      <p:sp>
        <p:nvSpPr>
          <p:cNvPr id="43" name="Text 39"/>
          <p:cNvSpPr txBox="1"/>
          <p:nvPr/>
        </p:nvSpPr>
        <p:spPr>
          <a:xfrm>
            <a:off x="5120640" y="3630168"/>
            <a:ext cx="3675888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what:</a:t>
            </a:r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things that could raise household spend (convergence, whole-home Wi-Fi, safety, content, a second location) are priced as add-ons per product, lent for a period, or not sold as household outcomes. Management chose HSSP "to defend premium base"; the issue is that its end is not designed.</a:t>
            </a:r>
            <a:endParaRPr lang="en-US" sz="63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11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Usage crossover: monthly cost of each option by usage, and how robust the Orbit result is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Telkomsel app and web (S45, S65); HiFi Air (S29); Starlite and Internet Rakyat (S60, S70); data yield (S04); Netflix (S59); PMK 131/2024 (S66); our calculation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412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each option costs a household a month (Rp k); cheapest option shaded</a:t>
            </a:r>
            <a:endParaRPr lang="en-US" sz="8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731520"/>
                <a:gridCol w="1325880"/>
                <a:gridCol w="1143000"/>
                <a:gridCol w="822960"/>
                <a:gridCol w="914400"/>
                <a:gridCol w="1143000"/>
                <a:gridCol w="10515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Monthly use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Orbit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HiFi Air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EZnet Wireless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EZnet fiber (card; FAQ)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IndiHome entry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Internet Rakyat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Starlite fiber 200 Mbps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Mobile data only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 GB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188.7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188.7 (166.5)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 GB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188.7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188.7 (166.5)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 GB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188.7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188.7 (166.5)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 GB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188.7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188.7 (166.5)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465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250 GB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188.7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188.7 (166.5)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775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450 GB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642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188.7, slowed to 5 Mbps above 350 GB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188.7 (166.5)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1,395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274320" y="283464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incl. VAT (app); EZnet and EZnet Wireless Rp170k ex-VAT ×1.11 (EZnet Wireless adds admin and installation fees); Internet Rakyat and Starlite incl. VAT; Orbit and HiFi Air VAT basis not stated; mobile data at Rp3.11 per MB.</a:t>
            </a:r>
            <a:endParaRPr lang="en-US" sz="590" dirty="0"/>
          </a:p>
        </p:txBody>
      </p:sp>
      <p:sp>
        <p:nvSpPr>
          <p:cNvPr id="13" name="Text 9"/>
          <p:cNvSpPr txBox="1"/>
          <p:nvPr/>
        </p:nvSpPr>
        <p:spPr>
          <a:xfrm>
            <a:off x="274320" y="3127248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the Orbit result depend on the weak 450–500 GB figure? A conservative family build-up</a:t>
            </a:r>
            <a:endParaRPr lang="en-US" sz="800" dirty="0"/>
          </a:p>
        </p:txBody>
      </p:sp>
      <p:graphicFrame>
        <p:nvGraphicFramePr>
          <p:cNvPr id="5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37560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651760"/>
                <a:gridCol w="100584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4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Component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4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Basis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GB a month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Phones on home Wi-Fi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4–6 members × 12.5 GB per Telkomsel customer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50–75 </a:t>
                      </a:r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TV streaming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hours a day × 30 days × 1–3 GB an hour (Netflix SD–HD)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60–180 </a:t>
                      </a:r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Family home, conservative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≈110–255</a:t>
                      </a:r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eading"/>
          <p:cNvSpPr/>
          <p:nvPr/>
        </p:nvSpPr>
        <p:spPr>
          <a:xfrm>
            <a:off x="5394960" y="3154680"/>
            <a:ext cx="3474720" cy="1554480"/>
          </a:xfrm>
          <a:prstGeom prst="roundRect">
            <a:avLst>
              <a:gd name="adj" fmla="val 3529"/>
            </a:avLst>
          </a:prstGeom>
          <a:solidFill>
            <a:srgbClr val="F1F5F9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5486400" y="3182112"/>
            <a:ext cx="331012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Reading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Within Telkomsel, Orbit is cheapest only up to </a:t>
            </a:r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95 GB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(vs EZnet's FAQ price) or </a:t>
            </a:r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125 GB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(vs Rp188.7k).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Above ~155 GB Orbit costs more than IndiHome; at 450 GB </a:t>
            </a:r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2.7×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EZnet Wireless already sells heavy wireless use at Rp0.54k per GB.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So Orbit fits light, flexible or temporary homes: the issue is positioning, and the technology works. An unlimited Orbit plan at Rp150k (2025 press) was not seen on 10 Oct; Phase 0 checks it.</a:t>
            </a:r>
            <a:endParaRPr lang="en-US" sz="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12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Households: needs, product fit and what each household type is worth to Telkomsel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02 §8: BPS via GoodStats (S50, S51); tSurvey in Telkomsel AR 2025 (S03); Telkom 1H26 Info Memo (S04); IESPA and Kadin (S54); our calculation and estimate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41248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fit by household need: ✔ good · ~ partial · ✖ poor</a:t>
            </a:r>
            <a:endParaRPr lang="en-US" sz="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55778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02920"/>
                <a:gridCol w="685800"/>
                <a:gridCol w="594360"/>
                <a:gridCol w="594360"/>
                <a:gridCol w="685800"/>
                <a:gridCol w="82296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Need (size)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Orbit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EZnet Wireless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EZnet fiber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IndiHome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Telkomsel 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Best-fit rival today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First connection, tight budget (most of ≈58–60M)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Starlite / Internet Rakyat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Flexible or temporary living (9.29M non-owners)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HiFi Air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Connected families (4–5 people: 46.5%)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HiFi / XL SATU; Starlite Prime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Performance: gaming, hybrid work (~68M gamers)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Biznet / Oxygen.id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Large or premium homes (≈12.9M)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XL SATU; Starlite Super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Fiber-dark or remote homes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8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Starlink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 micro-business (66M MSMEs)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XL Home Biz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274320" y="3657600"/>
            <a:ext cx="5577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1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need has a Telkomsel product that fits at least partly, but the best fit differs by need, two wireless products compete for the same homes, and nothing routes a household to the right one.</a:t>
            </a:r>
            <a:endParaRPr lang="en-US" sz="610" dirty="0"/>
          </a:p>
        </p:txBody>
      </p:sp>
      <p:sp>
        <p:nvSpPr>
          <p:cNvPr id="13" name="Text 9"/>
          <p:cNvSpPr txBox="1"/>
          <p:nvPr/>
        </p:nvSpPr>
        <p:spPr>
          <a:xfrm>
            <a:off x="6035040" y="841248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 to Telkomsel a year (Rp M, ex-VAT)</a:t>
            </a:r>
            <a:endParaRPr lang="en-US" sz="800" dirty="0"/>
          </a:p>
        </p:txBody>
      </p:sp>
      <p:sp>
        <p:nvSpPr>
          <p:cNvPr id="14" name="Text 10"/>
          <p:cNvSpPr txBox="1"/>
          <p:nvPr/>
        </p:nvSpPr>
        <p:spPr>
          <a:xfrm>
            <a:off x="6035040" y="1051560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100 Mbps + 3 Telkomsel lines</a:t>
            </a:r>
            <a:endParaRPr lang="en-US" sz="620" dirty="0"/>
          </a:p>
        </p:txBody>
      </p:sp>
      <p:sp>
        <p:nvSpPr>
          <p:cNvPr id="15" name="hv"/>
          <p:cNvSpPr/>
          <p:nvPr/>
        </p:nvSpPr>
        <p:spPr>
          <a:xfrm>
            <a:off x="6035040" y="1225296"/>
            <a:ext cx="2011680" cy="164592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092440" y="12070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Rp4.58M </a:t>
            </a:r>
            <a:pPr indent="0" marL="0">
              <a:buNone/>
            </a:pPr>
            <a:r>
              <a:rPr lang="en-US" sz="66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660" dirty="0"/>
          </a:p>
        </p:txBody>
      </p:sp>
      <p:sp>
        <p:nvSpPr>
          <p:cNvPr id="17" name="Text 13"/>
          <p:cNvSpPr txBox="1"/>
          <p:nvPr/>
        </p:nvSpPr>
        <p:spPr>
          <a:xfrm>
            <a:off x="6035040" y="1508760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100 Mbps only</a:t>
            </a:r>
            <a:endParaRPr lang="en-US" sz="620" dirty="0"/>
          </a:p>
        </p:txBody>
      </p:sp>
      <p:sp>
        <p:nvSpPr>
          <p:cNvPr id="18" name="hv"/>
          <p:cNvSpPr/>
          <p:nvPr/>
        </p:nvSpPr>
        <p:spPr>
          <a:xfrm>
            <a:off x="6035040" y="1682496"/>
            <a:ext cx="1282556" cy="164592"/>
          </a:xfrm>
          <a:prstGeom prst="rect">
            <a:avLst/>
          </a:prstGeom>
          <a:solidFill>
            <a:srgbClr val="A50021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7363316" y="16642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Rp2.92M</a:t>
            </a:r>
            <a:endParaRPr lang="en-US" sz="660" dirty="0"/>
          </a:p>
        </p:txBody>
      </p:sp>
      <p:sp>
        <p:nvSpPr>
          <p:cNvPr id="20" name="Text 16"/>
          <p:cNvSpPr txBox="1"/>
          <p:nvPr/>
        </p:nvSpPr>
        <p:spPr>
          <a:xfrm>
            <a:off x="6035040" y="1965960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75 Mbps only</a:t>
            </a:r>
            <a:endParaRPr lang="en-US" sz="620" dirty="0"/>
          </a:p>
        </p:txBody>
      </p:sp>
      <p:sp>
        <p:nvSpPr>
          <p:cNvPr id="21" name="hv"/>
          <p:cNvSpPr/>
          <p:nvPr/>
        </p:nvSpPr>
        <p:spPr>
          <a:xfrm>
            <a:off x="6035040" y="2139696"/>
            <a:ext cx="1137609" cy="164592"/>
          </a:xfrm>
          <a:prstGeom prst="rect">
            <a:avLst/>
          </a:prstGeom>
          <a:solidFill>
            <a:srgbClr val="A50021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218369" y="21214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Rp2.59M</a:t>
            </a:r>
            <a:endParaRPr lang="en-US" sz="660" dirty="0"/>
          </a:p>
        </p:txBody>
      </p:sp>
      <p:sp>
        <p:nvSpPr>
          <p:cNvPr id="23" name="Text 19"/>
          <p:cNvSpPr txBox="1"/>
          <p:nvPr/>
        </p:nvSpPr>
        <p:spPr>
          <a:xfrm>
            <a:off x="6035040" y="2423160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 light user</a:t>
            </a:r>
            <a:endParaRPr lang="en-US" sz="620" dirty="0"/>
          </a:p>
        </p:txBody>
      </p:sp>
      <p:sp>
        <p:nvSpPr>
          <p:cNvPr id="24" name="hv"/>
          <p:cNvSpPr/>
          <p:nvPr/>
        </p:nvSpPr>
        <p:spPr>
          <a:xfrm>
            <a:off x="6035040" y="2596896"/>
            <a:ext cx="527078" cy="164592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6607838" y="25786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Rp0.79–1.20M</a:t>
            </a:r>
            <a:endParaRPr lang="en-US" sz="660" dirty="0"/>
          </a:p>
        </p:txBody>
      </p:sp>
      <p:sp>
        <p:nvSpPr>
          <p:cNvPr id="26" name="Text 22"/>
          <p:cNvSpPr txBox="1"/>
          <p:nvPr/>
        </p:nvSpPr>
        <p:spPr>
          <a:xfrm>
            <a:off x="6035040" y="2880360"/>
            <a:ext cx="28346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Inactive account</a:t>
            </a:r>
            <a:endParaRPr lang="en-US" sz="620" dirty="0"/>
          </a:p>
        </p:txBody>
      </p:sp>
      <p:sp>
        <p:nvSpPr>
          <p:cNvPr id="27" name="Text 23"/>
          <p:cNvSpPr txBox="1"/>
          <p:nvPr/>
        </p:nvSpPr>
        <p:spPr>
          <a:xfrm>
            <a:off x="6080760" y="3035808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negative</a:t>
            </a:r>
            <a:endParaRPr lang="en-US" sz="660" dirty="0"/>
          </a:p>
        </p:txBody>
      </p:sp>
      <p:sp>
        <p:nvSpPr>
          <p:cNvPr id="28" name="jtbd"/>
          <p:cNvSpPr/>
          <p:nvPr/>
        </p:nvSpPr>
        <p:spPr>
          <a:xfrm>
            <a:off x="6035040" y="3383280"/>
            <a:ext cx="2834640" cy="132588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6108192" y="3410712"/>
            <a:ext cx="2697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Jobs households describe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"Keep everyone online at once." · "Connect us now, without a contract, while we rent." · "Stop topping up phone data." · "Keep the kids safe online." · "Let me work or game without lag." · "Make the Wi-Fi reach every room."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converged family is worth </a:t>
            </a:r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≈1.6–1.8×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fiber-only home; an inactive account destroys value.</a:t>
            </a:r>
            <a:endParaRPr lang="en-US" sz="600" dirty="0"/>
          </a:p>
        </p:txBody>
      </p:sp>
      <p:sp>
        <p:nvSpPr>
          <p:cNvPr id="30" name="pain"/>
          <p:cNvSpPr/>
          <p:nvPr/>
        </p:nvSpPr>
        <p:spPr>
          <a:xfrm>
            <a:off x="274320" y="4041648"/>
            <a:ext cx="5577840" cy="694944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1" name="Text 27"/>
          <p:cNvSpPr txBox="1"/>
          <p:nvPr/>
        </p:nvSpPr>
        <p:spPr>
          <a:xfrm>
            <a:off x="347472" y="4059936"/>
            <a:ext cx="5440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Pain points along the journey:</a:t>
            </a:r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five brands with no "which one is for me" · coverage check shows IndiHome only · four VAT bases · installation Rp150k bundle vs Rp50k standalone, Orbit device Rp385k+ · below rivals on measured experience in cities · a speed cliff when a boost ends · Rp100k unlimited options within reach.</a:t>
            </a:r>
            <a:endParaRPr lang="en-US" sz="61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13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Offload: what a first home connection is worth to Telkomsel, and one household's path in rupiah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Telkom 1H26 Info Memo, data yield and payload (S04); file 02 §5.5; file 03 §8.7; model output; our estimate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41248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3–4-line Telkomsel family, Rp k a month (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274320" y="109728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Phone data today</a:t>
            </a:r>
            <a:endParaRPr lang="en-US" sz="650" dirty="0"/>
          </a:p>
        </p:txBody>
      </p:sp>
      <p:sp>
        <p:nvSpPr>
          <p:cNvPr id="12" name="wf"/>
          <p:cNvSpPr/>
          <p:nvPr/>
        </p:nvSpPr>
        <p:spPr>
          <a:xfrm>
            <a:off x="1783080" y="1188720"/>
            <a:ext cx="2011680" cy="201168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840480" y="109728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≈Rp117–156k</a:t>
            </a:r>
            <a:endParaRPr lang="en-US" sz="66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15727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Moves to home Wi-Fi (50–70%)</a:t>
            </a:r>
            <a:endParaRPr lang="en-US" sz="650" dirty="0"/>
          </a:p>
        </p:txBody>
      </p:sp>
      <p:sp>
        <p:nvSpPr>
          <p:cNvPr id="15" name="wf"/>
          <p:cNvSpPr/>
          <p:nvPr/>
        </p:nvSpPr>
        <p:spPr>
          <a:xfrm>
            <a:off x="1783080" y="1664208"/>
            <a:ext cx="1405597" cy="201168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234397" y="15727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≈Rp58–109k</a:t>
            </a:r>
            <a:endParaRPr lang="en-US" sz="660" dirty="0"/>
          </a:p>
        </p:txBody>
      </p:sp>
      <p:sp>
        <p:nvSpPr>
          <p:cNvPr id="17" name="Text 14"/>
          <p:cNvSpPr txBox="1"/>
          <p:nvPr/>
        </p:nvSpPr>
        <p:spPr>
          <a:xfrm>
            <a:off x="274320" y="204825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Stays on mobile</a:t>
            </a:r>
            <a:endParaRPr lang="en-US" sz="650" dirty="0"/>
          </a:p>
        </p:txBody>
      </p:sp>
      <p:sp>
        <p:nvSpPr>
          <p:cNvPr id="18" name="wf"/>
          <p:cNvSpPr/>
          <p:nvPr/>
        </p:nvSpPr>
        <p:spPr>
          <a:xfrm>
            <a:off x="1783080" y="2139696"/>
            <a:ext cx="760828" cy="20116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589628" y="204825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≈Rp47–59k</a:t>
            </a:r>
            <a:endParaRPr lang="en-US" sz="66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606040"/>
          <a:ext cx="4114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 connects the home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Effect on Telkomsel per family a month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rival (e.g. Rp100k Starlite)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Loses ≈Rp58–109k</a:t>
                      </a:r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of mobile data revenue, gains nothing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Telkomsel at a Rp100k price (Rp90.1k ex-VAT)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 ≈−Rp19k to +Rp32k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Telkomsel at IndiHome's entry price (Rp216.2k ex-VAT)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 ≈+Rp107k to +Rp158k</a:t>
                      </a:r>
                      <a:pPr algn="l" indent="0" marL="0">
                        <a:buNone/>
                      </a:pPr>
                      <a:r>
                        <a:rPr lang="en-US" sz="62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, if the family pays 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274320" y="379476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1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Offload happens whoever connects the home, so winning the home protects the home revenue and, by Telkomsel's account, the family's lines; it does not protect phone-data spend.</a:t>
            </a:r>
            <a:endParaRPr lang="en-US" sz="610" dirty="0"/>
          </a:p>
        </p:txBody>
      </p:sp>
      <p:sp>
        <p:nvSpPr>
          <p:cNvPr id="22" name="Text 18"/>
          <p:cNvSpPr txBox="1"/>
          <p:nvPr/>
        </p:nvSpPr>
        <p:spPr>
          <a:xfrm>
            <a:off x="4572000" y="841248"/>
            <a:ext cx="4297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household's path, contribution a month (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800" dirty="0"/>
          </a:p>
        </p:txBody>
      </p:sp>
      <p:graphicFrame>
        <p:nvGraphicFramePr>
          <p:cNvPr id="5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051560"/>
          <a:ext cx="42976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914400"/>
                <a:gridCol w="100584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4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 vs mobile-only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Contribution vs mobile-only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4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Contribution vs a rival connecting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Orbit start (Rp90.1k)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+Rp6.5k (Rp90.1k − Rp83.6k offload)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−Rp24.9k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+Rp19.4k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Moves to IndiHome (Rp216.2k)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+Rp132.6k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+Rp2.2k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+Rp46.5k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Adds one line on the household plan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+Rp19.8k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+Rp19.8k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rbit econ"/>
          <p:cNvSpPr/>
          <p:nvPr/>
        </p:nvSpPr>
        <p:spPr>
          <a:xfrm>
            <a:off x="4572000" y="2423160"/>
            <a:ext cx="4297680" cy="9144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/>
        </p:spPr>
      </p:sp>
      <p:sp>
        <p:nvSpPr>
          <p:cNvPr id="25" name="Text 20"/>
          <p:cNvSpPr txBox="1"/>
          <p:nvPr/>
        </p:nvSpPr>
        <p:spPr>
          <a:xfrm>
            <a:off x="4645152" y="2441448"/>
            <a:ext cx="416052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Orbit's own economics: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per 100k Orbit starts, </a:t>
            </a:r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≈37.9k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move to fiber within five years at the base conversion rate, each paying back its trade-in and installation through the higher fiber price. An Orbit start breaks even against a mobile-only family at a </a:t>
            </a:r>
            <a:pPr indent="0" marL="0">
              <a:buNone/>
            </a:pPr>
            <a:r>
              <a:rPr lang="en-US" sz="62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49%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margin (the model uses 21.5%).</a:t>
            </a:r>
            <a:endParaRPr lang="en-US" sz="620" dirty="0"/>
          </a:p>
        </p:txBody>
      </p:sp>
      <p:sp>
        <p:nvSpPr>
          <p:cNvPr id="26" name="so what"/>
          <p:cNvSpPr/>
          <p:nvPr/>
        </p:nvSpPr>
        <p:spPr>
          <a:xfrm>
            <a:off x="4572000" y="3429000"/>
            <a:ext cx="42976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9525">
            <a:solidFill>
              <a:srgbClr val="E4002B"/>
            </a:solidFill>
            <a:prstDash val="dash"/>
          </a:ln>
        </p:spPr>
      </p:sp>
      <p:sp>
        <p:nvSpPr>
          <p:cNvPr id="27" name="Text 22"/>
          <p:cNvSpPr txBox="1"/>
          <p:nvPr/>
        </p:nvSpPr>
        <p:spPr>
          <a:xfrm>
            <a:off x="4663440" y="3456432"/>
            <a:ext cx="41330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what for the solution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The home check targets Telkomsel families </a:t>
            </a:r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rival is about to connect</a:t>
            </a:r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they pay from month one.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Connecting a family that would stay mobile-only pays only once it reaches IndiHome and adds lines.</a:t>
            </a:r>
            <a:endParaRPr lang="en-US" sz="630" dirty="0"/>
          </a:p>
          <a:p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The value comes after the first connection: ladder steps, family lines and homes kept.</a:t>
            </a:r>
            <a:endParaRPr lang="en-US" sz="6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14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Root cause: issue tree, five whys and fishbone converge on one governing cause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02 §11: issue tree on the household value equation, five whys, fishbone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27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412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whys: three routes to one mechanism</a:t>
            </a:r>
            <a:endParaRPr lang="en-US" sz="800" dirty="0"/>
          </a:p>
        </p:txBody>
      </p:sp>
      <p:pic>
        <p:nvPicPr>
          <p:cNvPr id="11" name="Image 1" descr="bann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51560"/>
            <a:ext cx="28072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5760" y="1051560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 pricing: why did value per household fall?</a:t>
            </a:r>
            <a:endParaRPr lang="en-US" sz="660" dirty="0"/>
          </a:p>
        </p:txBody>
      </p:sp>
      <p:sp>
        <p:nvSpPr>
          <p:cNvPr id="13" name="why"/>
          <p:cNvSpPr/>
          <p:nvPr/>
        </p:nvSpPr>
        <p:spPr>
          <a:xfrm>
            <a:off x="274320" y="1399032"/>
            <a:ext cx="280720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338328" y="139903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ARPU −15.6% in two years; per paying home −3.5% in two quarters after the stock stopped growing</a:t>
            </a:r>
            <a:endParaRPr lang="en-US" sz="600" dirty="0"/>
          </a:p>
        </p:txBody>
      </p:sp>
      <p:sp>
        <p:nvSpPr>
          <p:cNvPr id="15" name="why"/>
          <p:cNvSpPr/>
          <p:nvPr/>
        </p:nvSpPr>
        <p:spPr>
          <a:xfrm>
            <a:off x="274320" y="1856232"/>
            <a:ext cx="280720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38328" y="185623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Why?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Mix moved to internet-only and entry tiers; speed and content added at the same price</a:t>
            </a:r>
            <a:endParaRPr lang="en-US" sz="600" dirty="0"/>
          </a:p>
        </p:txBody>
      </p:sp>
      <p:sp>
        <p:nvSpPr>
          <p:cNvPr id="17" name="why"/>
          <p:cNvSpPr/>
          <p:nvPr/>
        </p:nvSpPr>
        <p:spPr>
          <a:xfrm>
            <a:off x="274320" y="2313432"/>
            <a:ext cx="280720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338328" y="231343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Why?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Each product's price point defended against Rp100k by giving more (HSSP)</a:t>
            </a:r>
            <a:endParaRPr lang="en-US" sz="600" dirty="0"/>
          </a:p>
        </p:txBody>
      </p:sp>
      <p:sp>
        <p:nvSpPr>
          <p:cNvPr id="19" name="why"/>
          <p:cNvSpPr/>
          <p:nvPr/>
        </p:nvSpPr>
        <p:spPr>
          <a:xfrm>
            <a:off x="274320" y="2770632"/>
            <a:ext cx="280720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38328" y="277063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Why?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Each product judged on its own ARPU and line count</a:t>
            </a:r>
            <a:endParaRPr lang="en-US" sz="600" dirty="0"/>
          </a:p>
        </p:txBody>
      </p:sp>
      <p:sp>
        <p:nvSpPr>
          <p:cNvPr id="21" name="why"/>
          <p:cNvSpPr/>
          <p:nvPr/>
        </p:nvSpPr>
        <p:spPr>
          <a:xfrm>
            <a:off x="274320" y="3227832"/>
            <a:ext cx="2807208" cy="402336"/>
          </a:xfrm>
          <a:prstGeom prst="roundRect">
            <a:avLst>
              <a:gd name="adj" fmla="val 9091"/>
            </a:avLst>
          </a:prstGeom>
          <a:solidFill>
            <a:srgbClr val="FDECEF"/>
          </a:solidFill>
          <a:ln w="9525">
            <a:solidFill>
              <a:srgbClr val="E4002B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38328" y="322783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Why?</a:t>
            </a:r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one measured on what the household pays across products and over time</a:t>
            </a:r>
            <a:endParaRPr lang="en-US" sz="600" dirty="0"/>
          </a:p>
        </p:txBody>
      </p:sp>
      <p:pic>
        <p:nvPicPr>
          <p:cNvPr id="23" name="Image 2" descr="bann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2968" y="1051560"/>
            <a:ext cx="2807208" cy="29260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3264408" y="1051560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 targets: why did inactive accounts pile up?</a:t>
            </a:r>
            <a:endParaRPr lang="en-US" sz="660" dirty="0"/>
          </a:p>
        </p:txBody>
      </p:sp>
      <p:sp>
        <p:nvSpPr>
          <p:cNvPr id="25" name="why"/>
          <p:cNvSpPr/>
          <p:nvPr/>
        </p:nvSpPr>
        <p:spPr>
          <a:xfrm>
            <a:off x="3172968" y="1399032"/>
            <a:ext cx="280720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3236976" y="139903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0.8–1.2M accounts brought in no revenue and were removed</a:t>
            </a:r>
            <a:endParaRPr lang="en-US" sz="600" dirty="0"/>
          </a:p>
        </p:txBody>
      </p:sp>
      <p:sp>
        <p:nvSpPr>
          <p:cNvPr id="27" name="why"/>
          <p:cNvSpPr/>
          <p:nvPr/>
        </p:nvSpPr>
        <p:spPr>
          <a:xfrm>
            <a:off x="3172968" y="1856232"/>
            <a:ext cx="280720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3236976" y="185623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Why?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Acquired on activation-paid incentives, postpaid with no deposit, mostly outside the mobile relationship</a:t>
            </a:r>
            <a:endParaRPr lang="en-US" sz="600" dirty="0"/>
          </a:p>
        </p:txBody>
      </p:sp>
      <p:sp>
        <p:nvSpPr>
          <p:cNvPr id="29" name="why"/>
          <p:cNvSpPr/>
          <p:nvPr/>
        </p:nvSpPr>
        <p:spPr>
          <a:xfrm>
            <a:off x="3172968" y="2313432"/>
            <a:ext cx="280720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3236976" y="231343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Why?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Growth targets set in lines (800k–1M a year), with no paying-home test</a:t>
            </a:r>
            <a:endParaRPr lang="en-US" sz="600" dirty="0"/>
          </a:p>
        </p:txBody>
      </p:sp>
      <p:sp>
        <p:nvSpPr>
          <p:cNvPr id="31" name="why"/>
          <p:cNvSpPr/>
          <p:nvPr/>
        </p:nvSpPr>
        <p:spPr>
          <a:xfrm>
            <a:off x="3172968" y="2770632"/>
            <a:ext cx="280720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3236976" y="277063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Why?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Inherited line economics: fiber bought per line, growth reported in lines</a:t>
            </a:r>
            <a:endParaRPr lang="en-US" sz="600" dirty="0"/>
          </a:p>
        </p:txBody>
      </p:sp>
      <p:sp>
        <p:nvSpPr>
          <p:cNvPr id="33" name="why"/>
          <p:cNvSpPr/>
          <p:nvPr/>
        </p:nvSpPr>
        <p:spPr>
          <a:xfrm>
            <a:off x="3172968" y="3227832"/>
            <a:ext cx="2807208" cy="402336"/>
          </a:xfrm>
          <a:prstGeom prst="roundRect">
            <a:avLst>
              <a:gd name="adj" fmla="val 9091"/>
            </a:avLst>
          </a:prstGeom>
          <a:solidFill>
            <a:srgbClr val="FDECEF"/>
          </a:solidFill>
          <a:ln w="9525">
            <a:solidFill>
              <a:srgbClr val="E4002B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3236976" y="322783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Why?</a:t>
            </a:r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household-level measure for targets and incentives to follow</a:t>
            </a:r>
            <a:endParaRPr lang="en-US" sz="600" dirty="0"/>
          </a:p>
        </p:txBody>
      </p:sp>
      <p:pic>
        <p:nvPicPr>
          <p:cNvPr id="35" name="Image 3" descr="banne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1616" y="1051560"/>
            <a:ext cx="2807208" cy="292608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6163056" y="1051560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Through channels: why are rivals winning the new homes?</a:t>
            </a:r>
            <a:endParaRPr lang="en-US" sz="660" dirty="0"/>
          </a:p>
        </p:txBody>
      </p:sp>
      <p:sp>
        <p:nvSpPr>
          <p:cNvPr id="37" name="why"/>
          <p:cNvSpPr/>
          <p:nvPr/>
        </p:nvSpPr>
        <p:spPr>
          <a:xfrm>
            <a:off x="6071616" y="1399032"/>
            <a:ext cx="280720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6135624" y="139903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Rp100k fiber and FWA undercut on price; better-rated fiber wins in cities</a:t>
            </a:r>
            <a:endParaRPr lang="en-US" sz="600" dirty="0"/>
          </a:p>
        </p:txBody>
      </p:sp>
      <p:sp>
        <p:nvSpPr>
          <p:cNvPr id="39" name="why"/>
          <p:cNvSpPr/>
          <p:nvPr/>
        </p:nvSpPr>
        <p:spPr>
          <a:xfrm>
            <a:off x="6071616" y="1856232"/>
            <a:ext cx="280720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6135624" y="185623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Why?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IndiHome's margin is thin and urban experience trails; Orbit priced for light use</a:t>
            </a:r>
            <a:endParaRPr lang="en-US" sz="600" dirty="0"/>
          </a:p>
        </p:txBody>
      </p:sp>
      <p:sp>
        <p:nvSpPr>
          <p:cNvPr id="41" name="why"/>
          <p:cNvSpPr/>
          <p:nvPr/>
        </p:nvSpPr>
        <p:spPr>
          <a:xfrm>
            <a:off x="6071616" y="2313432"/>
            <a:ext cx="280720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6135624" y="231343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Why?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Roles follow network and tier; no offer built around a household leaving phone data</a:t>
            </a:r>
            <a:endParaRPr lang="en-US" sz="600" dirty="0"/>
          </a:p>
        </p:txBody>
      </p:sp>
      <p:sp>
        <p:nvSpPr>
          <p:cNvPr id="43" name="why"/>
          <p:cNvSpPr/>
          <p:nvPr/>
        </p:nvSpPr>
        <p:spPr>
          <a:xfrm>
            <a:off x="6071616" y="2770632"/>
            <a:ext cx="2807208" cy="402336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6135624" y="277063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Why?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mobile relationship was not the acquisition channel</a:t>
            </a:r>
            <a:endParaRPr lang="en-US" sz="600" dirty="0"/>
          </a:p>
        </p:txBody>
      </p:sp>
      <p:sp>
        <p:nvSpPr>
          <p:cNvPr id="45" name="why"/>
          <p:cNvSpPr/>
          <p:nvPr/>
        </p:nvSpPr>
        <p:spPr>
          <a:xfrm>
            <a:off x="6071616" y="3227832"/>
            <a:ext cx="2807208" cy="402336"/>
          </a:xfrm>
          <a:prstGeom prst="roundRect">
            <a:avLst>
              <a:gd name="adj" fmla="val 9091"/>
            </a:avLst>
          </a:prstGeom>
          <a:solidFill>
            <a:srgbClr val="FDECEF"/>
          </a:solidFill>
          <a:ln w="9525">
            <a:solidFill>
              <a:srgbClr val="E4002B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6135624" y="3227832"/>
            <a:ext cx="26791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Why?</a:t>
            </a:r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Fixed and mobile run and counted separately; no one owns the household with both</a:t>
            </a:r>
            <a:endParaRPr lang="en-US" sz="600" dirty="0"/>
          </a:p>
        </p:txBody>
      </p:sp>
      <p:pic>
        <p:nvPicPr>
          <p:cNvPr id="47" name="Image 4" descr="governi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0" y="3730752"/>
            <a:ext cx="8595360" cy="457200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365760" y="37307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Governing cause:</a:t>
            </a:r>
            <a:pPr indent="0" marL="0">
              <a:buNone/>
            </a:pPr>
            <a:r>
              <a:rPr lang="en-US" sz="66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Telkomsel runs households on inherited line economics (targets in lines, KPIs per product, fiber bought per line) while the market has repriced a line at Rp100k. No one is measured on what a household is worth across products and over time.</a:t>
            </a:r>
            <a:endParaRPr lang="en-US" sz="66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251960"/>
          <a:ext cx="8595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51560"/>
                <a:gridCol w="1005840"/>
                <a:gridCol w="1143000"/>
                <a:gridCol w="1143000"/>
                <a:gridCol w="1143000"/>
                <a:gridCol w="1143000"/>
                <a:gridCol w="114300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Fishbone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Place and channel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People and process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Measurement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Policy and market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Lands in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 and entry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Spend; role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Entry; role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Entry; delivery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Delivery and cost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Governing cause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Context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Gap analysis and governing cause: current against ideal, tested against Telkom's "Maximize LTV"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02 §11.1, §6.7; Telkom 1H26 Info Memo p.43, p.47 (S04); Telkomsel web (S65); Bisnis on targets (S62)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9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5669280" cy="914400"/>
        </p:xfrm>
        <a:graphic>
          <a:graphicData uri="http://schemas.openxmlformats.org/drawingml/2006/table">
            <a:tbl>
              <a:tblPr/>
              <a:tblGrid>
                <a:gridCol w="228600"/>
                <a:gridCol w="868680"/>
                <a:gridCol w="2423160"/>
                <a:gridCol w="2148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Dimension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Current condition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Ideal condition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 roles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Roles by tier and network; no routing tool on 5 pages; Orbit and EZnet Wireless sell one job two ways; Orbit counted as mobile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home routed by need and location, with a visible path between products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Entry terms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0.8–1.2M inactive accounts (59–88% of 18 months' net adds); activation-paid incentives; postpaid, no deposit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new account a paying household, on terms that surface non-payment early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Entry channel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1H25 net growth almost all in homes without a Telkomsel line; 26–36M unconnected homes are Telkomsel families </a:t>
                      </a:r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homes come mainly through the mobile relationship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 per household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Average home −2.5% to +8.4% vs the entry price; speed lent 180–360 days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Spend rises through things the family values and pays for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Convergence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59% → 65% overlap, mostly a denominator effect; bundle at best a small saving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Converging is the better deal; depth is measured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Paths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EZnet → IndiHome only in an FAQ; boost expiry not designed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Each household has a designed next step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Experience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of 50 urban award slots; 7th download, 8th upload, 4th consistent quality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At or above rivals where they compete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 to serve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Per-line wholesale fee on a ~40%-utilised network; Orbit heavy packs at average cost per GB </a:t>
                      </a:r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 and price matched to usage and spare capacity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126480" y="8412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 it an org chart or a measurement problem?</a:t>
            </a:r>
            <a:endParaRPr lang="en-US" sz="800" dirty="0"/>
          </a:p>
        </p:txBody>
      </p:sp>
      <p:sp>
        <p:nvSpPr>
          <p:cNvPr id="12" name="evidence"/>
          <p:cNvSpPr/>
          <p:nvPr/>
        </p:nvSpPr>
        <p:spPr>
          <a:xfrm>
            <a:off x="6126480" y="1051560"/>
            <a:ext cx="2743200" cy="1325880"/>
          </a:xfrm>
          <a:prstGeom prst="roundRect">
            <a:avLst>
              <a:gd name="adj" fmla="val 4138"/>
            </a:avLst>
          </a:prstGeom>
          <a:solidFill>
            <a:srgbClr val="F1F5F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6199632" y="1078992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it is measurement:</a:t>
            </a:r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Orbit counted as mobile, IndiHome as fixed, EZnet inside IndiHome · targets in lines (800k–1M a year) · convergence measured as overlap · fiber leased per line.</a:t>
            </a:r>
            <a:endParaRPr lang="en-US" sz="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against an org-chart problem:</a:t>
            </a:r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one VP for home broadband and FMC marketing already exists.</a:t>
            </a:r>
            <a:endParaRPr lang="en-US" sz="600" dirty="0"/>
          </a:p>
        </p:txBody>
      </p:sp>
      <p:sp>
        <p:nvSpPr>
          <p:cNvPr id="14" name="Text 10"/>
          <p:cNvSpPr txBox="1"/>
          <p:nvPr/>
        </p:nvSpPr>
        <p:spPr>
          <a:xfrm>
            <a:off x="612648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Falsification test: would a household-managed Telkomsel show…</a:t>
            </a:r>
            <a:endParaRPr lang="en-US" sz="8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6480" y="2761488"/>
          <a:ext cx="27432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68580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Expected sign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 the 2026 plan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 the web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Routing in its channels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bundle that rewards converging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Targets in paying homes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✔ billing-linked incentives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✖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of 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of 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ltv"/>
          <p:cNvSpPr/>
          <p:nvPr/>
        </p:nvSpPr>
        <p:spPr>
          <a:xfrm>
            <a:off x="6126480" y="4069080"/>
            <a:ext cx="274320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E4002B"/>
            </a:solidFill>
            <a:prstDash val="dash"/>
          </a:ln>
        </p:spPr>
      </p:sp>
      <p:sp>
        <p:nvSpPr>
          <p:cNvPr id="17" name="Text 12"/>
          <p:cNvSpPr txBox="1"/>
          <p:nvPr/>
        </p:nvSpPr>
        <p:spPr>
          <a:xfrm>
            <a:off x="6199632" y="4087368"/>
            <a:ext cx="2606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 already names </a:t>
            </a:r>
            <a:pPr indent="0" marL="0"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"Maximize LTV"</a:t>
            </a:r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for IndiHome; the levers and published KPIs still work product by product. If stores and 188 route consistently (Phase 0 mystery shop), the cause narrows to measurement.</a:t>
            </a:r>
            <a:endParaRPr lang="en-US" sz="59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16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Prioritisation: one value tree, scoring rules and how the ranking holds under 69 tests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02 §13: year-3 run-rate of a 5% step on each driver's own lever; scores by stated rules; sensitivity by script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29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41248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Weighted score by driver (0–5)</a:t>
            </a:r>
            <a:endParaRPr lang="en-US" sz="8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228600" y="1024128"/>
          <a:ext cx="36576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274320" y="3154680"/>
            <a:ext cx="3566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Unscored (size unknown): entry terms 3.15–4.35; cost not matched to usage 2.20–3.40.</a:t>
            </a:r>
            <a:endParaRPr lang="en-US" sz="59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383280"/>
          <a:ext cx="356616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594360"/>
                <a:gridCol w="594360"/>
                <a:gridCol w="594360"/>
                <a:gridCol w="5943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Score band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Significance (year-3 value)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≥ Rp1T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Rp0.25–1T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Rp0.1–0.25T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 Rp0.1T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Urgency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Exploited now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≤ 12 months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1–3 years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Controllability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Own levers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Mostly own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Outside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Evidence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Primary, quantified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Primary, partial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Estimated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Hypothesis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 txBox="1"/>
          <p:nvPr/>
        </p:nvSpPr>
        <p:spPr>
          <a:xfrm>
            <a:off x="4069080" y="84124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Driver values and scores (weights 40 / 25 / 20 / 15)</a:t>
            </a:r>
            <a:endParaRPr lang="en-US" sz="800" dirty="0"/>
          </a:p>
        </p:txBody>
      </p:sp>
      <p:graphicFrame>
        <p:nvGraphicFramePr>
          <p:cNvPr id="6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1051560"/>
          <a:ext cx="4800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51560"/>
                <a:gridCol w="411480"/>
                <a:gridCol w="411480"/>
                <a:gridCol w="411480"/>
                <a:gridCol w="41148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Driver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Year-3 value </a:t>
                      </a:r>
                      <a:pPr algn="ctr" indent="0" marL="0">
                        <a:buNone/>
                      </a:pPr>
                      <a:r>
                        <a:rPr lang="en-US" sz="620" dirty="0">
                          <a:solidFill>
                            <a:srgbClr val="94A3B8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Sig.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Urg.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Ctrl.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Evid.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Roles by network and tier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Rp64–235bn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4.05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Experience where contested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Rp464–696bn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3.80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designed path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Rp264bn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3.80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Acquisition outside mobile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−Rp22bn to +Rp256bn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3.65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Extras given away or lent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Rp154bn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3.60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Bundle gives little reason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Rp92bn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 txBox="1"/>
          <p:nvPr/>
        </p:nvSpPr>
        <p:spPr>
          <a:xfrm>
            <a:off x="4069080" y="283464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Does the ranking survive? 69 tests</a:t>
            </a:r>
            <a:endParaRPr lang="en-US" sz="800" dirty="0"/>
          </a:p>
        </p:txBody>
      </p:sp>
      <p:graphicFrame>
        <p:nvGraphicFramePr>
          <p:cNvPr id="9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69080" y="3044952"/>
          <a:ext cx="4800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43000"/>
                <a:gridCol w="182880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Top driver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 and entry branch first?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weight sets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Roles in 4 of 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of 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48 one-point changes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Roles alone in 41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48 of 48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 two-band significance changes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Roles in 7 of 12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 of 12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cases of acquisition value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Roles in all 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Unscored drivers at their extremes (20)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 of 20 (3 exceptions, significance-heavy)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17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SWOT with a so-what and the TOWS moves mapped to H, O and M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02 §15; Opensignal (S14); Telkom 1H26 Info Memo (S04); Surge (S48, S58, S60); MPA (S24); Komdigi (S21)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900" dirty="0"/>
          </a:p>
        </p:txBody>
      </p:sp>
      <p:sp>
        <p:nvSpPr>
          <p:cNvPr id="10" name="swot Strengths"/>
          <p:cNvSpPr/>
          <p:nvPr/>
        </p:nvSpPr>
        <p:spPr>
          <a:xfrm>
            <a:off x="274320" y="86868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A5002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1" name="swot head"/>
          <p:cNvSpPr/>
          <p:nvPr/>
        </p:nvSpPr>
        <p:spPr>
          <a:xfrm>
            <a:off x="274320" y="868680"/>
            <a:ext cx="2606040" cy="237744"/>
          </a:xfrm>
          <a:prstGeom prst="roundRect">
            <a:avLst>
              <a:gd name="adj" fmla="val 23077"/>
            </a:avLst>
          </a:prstGeom>
          <a:solidFill>
            <a:srgbClr val="A5002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74320" y="8686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Strengths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338328" y="1133856"/>
            <a:ext cx="24780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Widest reach; only scale ISP in Maluku–Papua (30 of 30) · 153.5M mobile customers; 26–36M of their families unconnected </a:t>
            </a:r>
            <a:pPr indent="0" marL="0">
              <a:buNone/>
            </a:pPr>
            <a:r>
              <a:rPr lang="en-US" sz="59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largest new 2.6 GHz block (80 MHz) · one bill and MyTelkomsel · CVM data at scale · group fiber ~40% utilised + ~1.2M released ports · EZnet Wireless proves cheap heavy wireless</a:t>
            </a:r>
            <a:endParaRPr lang="en-US" sz="590" dirty="0"/>
          </a:p>
        </p:txBody>
      </p:sp>
      <p:sp>
        <p:nvSpPr>
          <p:cNvPr id="14" name="swot Weaknesses"/>
          <p:cNvSpPr/>
          <p:nvPr/>
        </p:nvSpPr>
        <p:spPr>
          <a:xfrm>
            <a:off x="2971800" y="868680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475569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5" name="swot head"/>
          <p:cNvSpPr/>
          <p:nvPr/>
        </p:nvSpPr>
        <p:spPr>
          <a:xfrm>
            <a:off x="2971800" y="868680"/>
            <a:ext cx="2606040" cy="237744"/>
          </a:xfrm>
          <a:prstGeom prst="roundRect">
            <a:avLst>
              <a:gd name="adj" fmla="val 23077"/>
            </a:avLst>
          </a:prstGeom>
          <a:solidFill>
            <a:srgbClr val="47556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2971800" y="86868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Weaknesses</a:t>
            </a:r>
            <a:endParaRPr lang="en-US" sz="750" dirty="0"/>
          </a:p>
        </p:txBody>
      </p:sp>
      <p:sp>
        <p:nvSpPr>
          <p:cNvPr id="17" name="Text 14"/>
          <p:cNvSpPr txBox="1"/>
          <p:nvPr/>
        </p:nvSpPr>
        <p:spPr>
          <a:xfrm>
            <a:off x="3035808" y="1133856"/>
            <a:ext cx="24780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cross-product routing; nine overlapping offers · acquisition outside the mobile base; 0.8–1.2M inactive · 1 of 50 urban award slots, upload last · Orbit quota-priced, device upfront, "for everyone" · bundle saves little · thin margin, wholesale dependence </a:t>
            </a:r>
            <a:pPr indent="0" marL="0">
              <a:buNone/>
            </a:pPr>
            <a:r>
              <a:rPr lang="en-US" sz="59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four VAT bases · capital rationed</a:t>
            </a:r>
            <a:endParaRPr lang="en-US" sz="590" dirty="0"/>
          </a:p>
        </p:txBody>
      </p:sp>
      <p:sp>
        <p:nvSpPr>
          <p:cNvPr id="18" name="swot Opportunities"/>
          <p:cNvSpPr/>
          <p:nvPr/>
        </p:nvSpPr>
        <p:spPr>
          <a:xfrm>
            <a:off x="274320" y="2404872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4002B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9" name="swot head"/>
          <p:cNvSpPr/>
          <p:nvPr/>
        </p:nvSpPr>
        <p:spPr>
          <a:xfrm>
            <a:off x="274320" y="2404872"/>
            <a:ext cx="2606040" cy="237744"/>
          </a:xfrm>
          <a:prstGeom prst="roundRect">
            <a:avLst>
              <a:gd name="adj" fmla="val 23077"/>
            </a:avLst>
          </a:prstGeom>
          <a:solidFill>
            <a:srgbClr val="E4002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74320" y="24048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Opportunities</a:t>
            </a:r>
            <a:endParaRPr lang="en-US" sz="750" dirty="0"/>
          </a:p>
        </p:txBody>
      </p:sp>
      <p:sp>
        <p:nvSpPr>
          <p:cNvPr id="21" name="Text 18"/>
          <p:cNvSpPr txBox="1"/>
          <p:nvPr/>
        </p:nvSpPr>
        <p:spPr>
          <a:xfrm>
            <a:off x="338328" y="2670048"/>
            <a:ext cx="24780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≈58–60M unconnected homes; ≈36M aspiring middle </a:t>
            </a:r>
            <a:pPr indent="0" marL="0">
              <a:buNone/>
            </a:pPr>
            <a:r>
              <a:rPr lang="en-US" sz="59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policy 50% by 2029 · household outcomes (Wi-Fi, safety, gaming) · idle fiber to refill · migration paths (Globe benchmark) · 3.345M homes without a Telkomsel line · new spectrum from 2027 · the boost expiry as a designed moment</a:t>
            </a:r>
            <a:endParaRPr lang="en-US" sz="590" dirty="0"/>
          </a:p>
        </p:txBody>
      </p:sp>
      <p:sp>
        <p:nvSpPr>
          <p:cNvPr id="22" name="swot Threats"/>
          <p:cNvSpPr/>
          <p:nvPr/>
        </p:nvSpPr>
        <p:spPr>
          <a:xfrm>
            <a:off x="2971800" y="2404872"/>
            <a:ext cx="260604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3" name="swot head"/>
          <p:cNvSpPr/>
          <p:nvPr/>
        </p:nvSpPr>
        <p:spPr>
          <a:xfrm>
            <a:off x="2971800" y="2404872"/>
            <a:ext cx="2606040" cy="237744"/>
          </a:xfrm>
          <a:prstGeom prst="roundRect">
            <a:avLst>
              <a:gd name="adj" fmla="val 23077"/>
            </a:avLst>
          </a:prstGeom>
          <a:solidFill>
            <a:srgbClr val="1F2937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971800" y="240487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Threats</a:t>
            </a:r>
            <a:endParaRPr lang="en-US" sz="750" dirty="0"/>
          </a:p>
        </p:txBody>
      </p:sp>
      <p:sp>
        <p:nvSpPr>
          <p:cNvPr id="25" name="Text 22"/>
          <p:cNvSpPr txBox="1"/>
          <p:nvPr/>
        </p:nvSpPr>
        <p:spPr>
          <a:xfrm>
            <a:off x="3035808" y="2670048"/>
            <a:ext cx="2478024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Surge: 2.36M fixed customers, ~165k adds a month · HiFi Air and MyRepublic Air at ~Rp100k · quality-led fiber rivals in cities · regulatory price pressure · weaker 2026 consumer confidence · speed is a commodity · cheap fiber moving up-market · a rival connecting a Telkomsel family takes ≈Rp58–109k a month </a:t>
            </a:r>
            <a:pPr indent="0" marL="0">
              <a:buNone/>
            </a:pPr>
            <a:r>
              <a:rPr lang="en-US" sz="59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590" dirty="0"/>
          </a:p>
        </p:txBody>
      </p:sp>
      <p:pic>
        <p:nvPicPr>
          <p:cNvPr id="26" name="Image 1" descr="bann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959352"/>
            <a:ext cx="5303520" cy="749808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365760" y="3959352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what: Telkomsel's rare strengths are household assets (reach, the family's phones, spectrum, data, idle fiber); its weaknesses sit in how homes are routed, acquired, priced and rewarded; the threats are price-led. Respond fit-led and relationship-led, with what rivals need years to copy; a price move is the one response they can always undercut.</a:t>
            </a:r>
            <a:endParaRPr lang="en-US" sz="640" dirty="0"/>
          </a:p>
        </p:txBody>
      </p:sp>
      <p:sp>
        <p:nvSpPr>
          <p:cNvPr id="28" name="Text 24"/>
          <p:cNvSpPr txBox="1"/>
          <p:nvPr/>
        </p:nvSpPr>
        <p:spPr>
          <a:xfrm>
            <a:off x="5760720" y="84124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TOWS: the option space, mapped to the pillars</a:t>
            </a:r>
            <a:endParaRPr lang="en-US" sz="800" dirty="0"/>
          </a:p>
        </p:txBody>
      </p:sp>
      <p:sp>
        <p:nvSpPr>
          <p:cNvPr id="29" name="tows"/>
          <p:cNvSpPr/>
          <p:nvPr/>
        </p:nvSpPr>
        <p:spPr>
          <a:xfrm>
            <a:off x="5760720" y="1051560"/>
            <a:ext cx="3108960" cy="274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5797296" y="1051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</a:t>
            </a:r>
            <a:endParaRPr lang="en-US" sz="600" dirty="0"/>
          </a:p>
        </p:txBody>
      </p:sp>
      <p:sp>
        <p:nvSpPr>
          <p:cNvPr id="31" name="Text 27"/>
          <p:cNvSpPr txBox="1"/>
          <p:nvPr/>
        </p:nvSpPr>
        <p:spPr>
          <a:xfrm>
            <a:off x="6071616" y="1051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mobile base and data to reach families already spending on phone data</a:t>
            </a:r>
            <a:endParaRPr lang="en-US" sz="570" dirty="0"/>
          </a:p>
        </p:txBody>
      </p:sp>
      <p:sp>
        <p:nvSpPr>
          <p:cNvPr id="32" name="badge H"/>
          <p:cNvSpPr/>
          <p:nvPr/>
        </p:nvSpPr>
        <p:spPr>
          <a:xfrm>
            <a:off x="8595360" y="1088136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3" name="Text 29"/>
          <p:cNvSpPr txBox="1"/>
          <p:nvPr/>
        </p:nvSpPr>
        <p:spPr>
          <a:xfrm>
            <a:off x="8595360" y="10881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800" dirty="0"/>
          </a:p>
        </p:txBody>
      </p:sp>
      <p:sp>
        <p:nvSpPr>
          <p:cNvPr id="34" name="tows"/>
          <p:cNvSpPr/>
          <p:nvPr/>
        </p:nvSpPr>
        <p:spPr>
          <a:xfrm>
            <a:off x="5760720" y="1357884"/>
            <a:ext cx="310896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5797296" y="13578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</a:t>
            </a:r>
            <a:endParaRPr lang="en-US" sz="600" dirty="0"/>
          </a:p>
        </p:txBody>
      </p:sp>
      <p:sp>
        <p:nvSpPr>
          <p:cNvPr id="36" name="Text 32"/>
          <p:cNvSpPr txBox="1"/>
          <p:nvPr/>
        </p:nvSpPr>
        <p:spPr>
          <a:xfrm>
            <a:off x="6071616" y="13578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Reach, idle fiber and new spectrum for fiber-dark and first-time homes, with a path to fiber</a:t>
            </a:r>
            <a:endParaRPr lang="en-US" sz="570" dirty="0"/>
          </a:p>
        </p:txBody>
      </p:sp>
      <p:sp>
        <p:nvSpPr>
          <p:cNvPr id="37" name="badge H"/>
          <p:cNvSpPr/>
          <p:nvPr/>
        </p:nvSpPr>
        <p:spPr>
          <a:xfrm>
            <a:off x="8595360" y="1394460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8" name="Text 34"/>
          <p:cNvSpPr txBox="1"/>
          <p:nvPr/>
        </p:nvSpPr>
        <p:spPr>
          <a:xfrm>
            <a:off x="8595360" y="13944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800" dirty="0"/>
          </a:p>
        </p:txBody>
      </p:sp>
      <p:sp>
        <p:nvSpPr>
          <p:cNvPr id="39" name="tows"/>
          <p:cNvSpPr/>
          <p:nvPr/>
        </p:nvSpPr>
        <p:spPr>
          <a:xfrm>
            <a:off x="5760720" y="1664208"/>
            <a:ext cx="3108960" cy="274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40" name="Text 36"/>
          <p:cNvSpPr txBox="1"/>
          <p:nvPr/>
        </p:nvSpPr>
        <p:spPr>
          <a:xfrm>
            <a:off x="5797296" y="16642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</a:t>
            </a:r>
            <a:endParaRPr lang="en-US" sz="600" dirty="0"/>
          </a:p>
        </p:txBody>
      </p:sp>
      <p:sp>
        <p:nvSpPr>
          <p:cNvPr id="41" name="Text 37"/>
          <p:cNvSpPr txBox="1"/>
          <p:nvPr/>
        </p:nvSpPr>
        <p:spPr>
          <a:xfrm>
            <a:off x="6071616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Sell household outcomes on top of reach</a:t>
            </a:r>
            <a:endParaRPr lang="en-US" sz="570" dirty="0"/>
          </a:p>
        </p:txBody>
      </p:sp>
      <p:sp>
        <p:nvSpPr>
          <p:cNvPr id="42" name="badge O"/>
          <p:cNvSpPr/>
          <p:nvPr/>
        </p:nvSpPr>
        <p:spPr>
          <a:xfrm>
            <a:off x="8595360" y="1700784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3" name="Text 39"/>
          <p:cNvSpPr txBox="1"/>
          <p:nvPr/>
        </p:nvSpPr>
        <p:spPr>
          <a:xfrm>
            <a:off x="8595360" y="1700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800" dirty="0"/>
          </a:p>
        </p:txBody>
      </p:sp>
      <p:sp>
        <p:nvSpPr>
          <p:cNvPr id="44" name="tows"/>
          <p:cNvSpPr/>
          <p:nvPr/>
        </p:nvSpPr>
        <p:spPr>
          <a:xfrm>
            <a:off x="5760720" y="1970532"/>
            <a:ext cx="310896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45" name="Text 41"/>
          <p:cNvSpPr txBox="1"/>
          <p:nvPr/>
        </p:nvSpPr>
        <p:spPr>
          <a:xfrm>
            <a:off x="5797296" y="19705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</a:t>
            </a:r>
            <a:endParaRPr lang="en-US" sz="600" dirty="0"/>
          </a:p>
        </p:txBody>
      </p:sp>
      <p:sp>
        <p:nvSpPr>
          <p:cNvPr id="46" name="Text 42"/>
          <p:cNvSpPr txBox="1"/>
          <p:nvPr/>
        </p:nvSpPr>
        <p:spPr>
          <a:xfrm>
            <a:off x="6071616" y="19705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Make convergence the reward that keeps the family</a:t>
            </a:r>
            <a:endParaRPr lang="en-US" sz="570" dirty="0"/>
          </a:p>
        </p:txBody>
      </p:sp>
      <p:sp>
        <p:nvSpPr>
          <p:cNvPr id="47" name="badge O"/>
          <p:cNvSpPr/>
          <p:nvPr/>
        </p:nvSpPr>
        <p:spPr>
          <a:xfrm>
            <a:off x="8595360" y="200710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8" name="Text 44"/>
          <p:cNvSpPr txBox="1"/>
          <p:nvPr/>
        </p:nvSpPr>
        <p:spPr>
          <a:xfrm>
            <a:off x="8595360" y="20071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800" dirty="0"/>
          </a:p>
        </p:txBody>
      </p:sp>
      <p:sp>
        <p:nvSpPr>
          <p:cNvPr id="49" name="tows"/>
          <p:cNvSpPr/>
          <p:nvPr/>
        </p:nvSpPr>
        <p:spPr>
          <a:xfrm>
            <a:off x="5760720" y="2276856"/>
            <a:ext cx="3108960" cy="274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50" name="Text 46"/>
          <p:cNvSpPr txBox="1"/>
          <p:nvPr/>
        </p:nvSpPr>
        <p:spPr>
          <a:xfrm>
            <a:off x="5797296" y="2276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</a:t>
            </a:r>
            <a:endParaRPr lang="en-US" sz="600" dirty="0"/>
          </a:p>
        </p:txBody>
      </p:sp>
      <p:sp>
        <p:nvSpPr>
          <p:cNvPr id="51" name="Text 47"/>
          <p:cNvSpPr txBox="1"/>
          <p:nvPr/>
        </p:nvSpPr>
        <p:spPr>
          <a:xfrm>
            <a:off x="6071616" y="22768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Where rivals are absent, invest in quality and hold price</a:t>
            </a:r>
            <a:endParaRPr lang="en-US" sz="570" dirty="0"/>
          </a:p>
        </p:txBody>
      </p:sp>
      <p:sp>
        <p:nvSpPr>
          <p:cNvPr id="52" name="badge M"/>
          <p:cNvSpPr/>
          <p:nvPr/>
        </p:nvSpPr>
        <p:spPr>
          <a:xfrm>
            <a:off x="8595360" y="2313432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3" name="Text 49"/>
          <p:cNvSpPr txBox="1"/>
          <p:nvPr/>
        </p:nvSpPr>
        <p:spPr>
          <a:xfrm>
            <a:off x="8595360" y="231343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800" dirty="0"/>
          </a:p>
        </p:txBody>
      </p:sp>
      <p:sp>
        <p:nvSpPr>
          <p:cNvPr id="54" name="tows"/>
          <p:cNvSpPr/>
          <p:nvPr/>
        </p:nvSpPr>
        <p:spPr>
          <a:xfrm>
            <a:off x="5760720" y="2583180"/>
            <a:ext cx="310896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55" name="Text 51"/>
          <p:cNvSpPr txBox="1"/>
          <p:nvPr/>
        </p:nvSpPr>
        <p:spPr>
          <a:xfrm>
            <a:off x="5797296" y="25831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</a:t>
            </a:r>
            <a:endParaRPr lang="en-US" sz="600" dirty="0"/>
          </a:p>
        </p:txBody>
      </p:sp>
      <p:sp>
        <p:nvSpPr>
          <p:cNvPr id="56" name="Text 52"/>
          <p:cNvSpPr txBox="1"/>
          <p:nvPr/>
        </p:nvSpPr>
        <p:spPr>
          <a:xfrm>
            <a:off x="6071616" y="25831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Defend mobile families before a rival connects their home</a:t>
            </a:r>
            <a:endParaRPr lang="en-US" sz="570" dirty="0"/>
          </a:p>
        </p:txBody>
      </p:sp>
      <p:sp>
        <p:nvSpPr>
          <p:cNvPr id="57" name="badge H"/>
          <p:cNvSpPr/>
          <p:nvPr/>
        </p:nvSpPr>
        <p:spPr>
          <a:xfrm>
            <a:off x="8595360" y="2619756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8" name="Text 54"/>
          <p:cNvSpPr txBox="1"/>
          <p:nvPr/>
        </p:nvSpPr>
        <p:spPr>
          <a:xfrm>
            <a:off x="8595360" y="261975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800" dirty="0"/>
          </a:p>
        </p:txBody>
      </p:sp>
      <p:sp>
        <p:nvSpPr>
          <p:cNvPr id="59" name="tows"/>
          <p:cNvSpPr/>
          <p:nvPr/>
        </p:nvSpPr>
        <p:spPr>
          <a:xfrm>
            <a:off x="5760720" y="2889504"/>
            <a:ext cx="3108960" cy="274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60" name="Text 56"/>
          <p:cNvSpPr txBox="1"/>
          <p:nvPr/>
        </p:nvSpPr>
        <p:spPr>
          <a:xfrm>
            <a:off x="5797296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</a:t>
            </a:r>
            <a:endParaRPr lang="en-US" sz="600" dirty="0"/>
          </a:p>
        </p:txBody>
      </p:sp>
      <p:sp>
        <p:nvSpPr>
          <p:cNvPr id="61" name="Text 57"/>
          <p:cNvSpPr txBox="1"/>
          <p:nvPr/>
        </p:nvSpPr>
        <p:spPr>
          <a:xfrm>
            <a:off x="6071616" y="28895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routing logic across five products; distinct roles for Orbit and EZnet Wireless</a:t>
            </a:r>
            <a:endParaRPr lang="en-US" sz="570" dirty="0"/>
          </a:p>
        </p:txBody>
      </p:sp>
      <p:sp>
        <p:nvSpPr>
          <p:cNvPr id="62" name="badge H"/>
          <p:cNvSpPr/>
          <p:nvPr/>
        </p:nvSpPr>
        <p:spPr>
          <a:xfrm>
            <a:off x="8595360" y="2926080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63" name="Text 59"/>
          <p:cNvSpPr txBox="1"/>
          <p:nvPr/>
        </p:nvSpPr>
        <p:spPr>
          <a:xfrm>
            <a:off x="8595360" y="2926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800" dirty="0"/>
          </a:p>
        </p:txBody>
      </p:sp>
      <p:sp>
        <p:nvSpPr>
          <p:cNvPr id="64" name="tows"/>
          <p:cNvSpPr/>
          <p:nvPr/>
        </p:nvSpPr>
        <p:spPr>
          <a:xfrm>
            <a:off x="5760720" y="3195828"/>
            <a:ext cx="310896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65" name="Text 61"/>
          <p:cNvSpPr txBox="1"/>
          <p:nvPr/>
        </p:nvSpPr>
        <p:spPr>
          <a:xfrm>
            <a:off x="5797296" y="31958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</a:t>
            </a:r>
            <a:endParaRPr lang="en-US" sz="600" dirty="0"/>
          </a:p>
        </p:txBody>
      </p:sp>
      <p:sp>
        <p:nvSpPr>
          <p:cNvPr id="66" name="Text 62"/>
          <p:cNvSpPr txBox="1"/>
          <p:nvPr/>
        </p:nvSpPr>
        <p:spPr>
          <a:xfrm>
            <a:off x="6071616" y="31958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 the boost expiry into a priced upgrade moment</a:t>
            </a:r>
            <a:endParaRPr lang="en-US" sz="570" dirty="0"/>
          </a:p>
        </p:txBody>
      </p:sp>
      <p:sp>
        <p:nvSpPr>
          <p:cNvPr id="67" name="badge O"/>
          <p:cNvSpPr/>
          <p:nvPr/>
        </p:nvSpPr>
        <p:spPr>
          <a:xfrm>
            <a:off x="8595360" y="3232404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A50021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68" name="Text 64"/>
          <p:cNvSpPr txBox="1"/>
          <p:nvPr/>
        </p:nvSpPr>
        <p:spPr>
          <a:xfrm>
            <a:off x="8595360" y="32324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</a:t>
            </a:r>
            <a:endParaRPr lang="en-US" sz="800" dirty="0"/>
          </a:p>
        </p:txBody>
      </p:sp>
      <p:sp>
        <p:nvSpPr>
          <p:cNvPr id="69" name="tows"/>
          <p:cNvSpPr/>
          <p:nvPr/>
        </p:nvSpPr>
        <p:spPr>
          <a:xfrm>
            <a:off x="5760720" y="3502152"/>
            <a:ext cx="3108960" cy="274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70" name="Text 66"/>
          <p:cNvSpPr txBox="1"/>
          <p:nvPr/>
        </p:nvSpPr>
        <p:spPr>
          <a:xfrm>
            <a:off x="5797296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</a:t>
            </a:r>
            <a:endParaRPr lang="en-US" sz="600" dirty="0"/>
          </a:p>
        </p:txBody>
      </p:sp>
      <p:sp>
        <p:nvSpPr>
          <p:cNvPr id="71" name="Text 67"/>
          <p:cNvSpPr txBox="1"/>
          <p:nvPr/>
        </p:nvSpPr>
        <p:spPr>
          <a:xfrm>
            <a:off x="6071616" y="350215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Refill idle fiber through migration</a:t>
            </a:r>
            <a:endParaRPr lang="en-US" sz="570" dirty="0"/>
          </a:p>
        </p:txBody>
      </p:sp>
      <p:sp>
        <p:nvSpPr>
          <p:cNvPr id="72" name="badge M"/>
          <p:cNvSpPr/>
          <p:nvPr/>
        </p:nvSpPr>
        <p:spPr>
          <a:xfrm>
            <a:off x="8595360" y="3538728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73" name="Text 69"/>
          <p:cNvSpPr txBox="1"/>
          <p:nvPr/>
        </p:nvSpPr>
        <p:spPr>
          <a:xfrm>
            <a:off x="8595360" y="3538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800" dirty="0"/>
          </a:p>
        </p:txBody>
      </p:sp>
      <p:sp>
        <p:nvSpPr>
          <p:cNvPr id="74" name="tows"/>
          <p:cNvSpPr/>
          <p:nvPr/>
        </p:nvSpPr>
        <p:spPr>
          <a:xfrm>
            <a:off x="5760720" y="3808476"/>
            <a:ext cx="310896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75" name="Text 71"/>
          <p:cNvSpPr txBox="1"/>
          <p:nvPr/>
        </p:nvSpPr>
        <p:spPr>
          <a:xfrm>
            <a:off x="5797296" y="38084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WT</a:t>
            </a:r>
            <a:endParaRPr lang="en-US" sz="600" dirty="0"/>
          </a:p>
        </p:txBody>
      </p:sp>
      <p:sp>
        <p:nvSpPr>
          <p:cNvPr id="76" name="Text 72"/>
          <p:cNvSpPr txBox="1"/>
          <p:nvPr/>
        </p:nvSpPr>
        <p:spPr>
          <a:xfrm>
            <a:off x="6071616" y="38084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Avoid a Rp100k headline price war; acquire only paying homes</a:t>
            </a:r>
            <a:endParaRPr lang="en-US" sz="570" dirty="0"/>
          </a:p>
        </p:txBody>
      </p:sp>
      <p:sp>
        <p:nvSpPr>
          <p:cNvPr id="77" name="badge H"/>
          <p:cNvSpPr/>
          <p:nvPr/>
        </p:nvSpPr>
        <p:spPr>
          <a:xfrm>
            <a:off x="8595360" y="3845052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78" name="Text 74"/>
          <p:cNvSpPr txBox="1"/>
          <p:nvPr/>
        </p:nvSpPr>
        <p:spPr>
          <a:xfrm>
            <a:off x="8595360" y="38450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800" dirty="0"/>
          </a:p>
        </p:txBody>
      </p:sp>
      <p:sp>
        <p:nvSpPr>
          <p:cNvPr id="79" name="tows"/>
          <p:cNvSpPr/>
          <p:nvPr/>
        </p:nvSpPr>
        <p:spPr>
          <a:xfrm>
            <a:off x="5760720" y="4114800"/>
            <a:ext cx="3108960" cy="2743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</p:spPr>
      </p:sp>
      <p:sp>
        <p:nvSpPr>
          <p:cNvPr id="80" name="Text 76"/>
          <p:cNvSpPr txBox="1"/>
          <p:nvPr/>
        </p:nvSpPr>
        <p:spPr>
          <a:xfrm>
            <a:off x="5797296" y="4114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WT</a:t>
            </a:r>
            <a:endParaRPr lang="en-US" sz="600" dirty="0"/>
          </a:p>
        </p:txBody>
      </p:sp>
      <p:sp>
        <p:nvSpPr>
          <p:cNvPr id="81" name="Text 77"/>
          <p:cNvSpPr txBox="1"/>
          <p:nvPr/>
        </p:nvSpPr>
        <p:spPr>
          <a:xfrm>
            <a:off x="6071616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Close the measured gap where rivals are strongest, inside the home first</a:t>
            </a:r>
            <a:endParaRPr lang="en-US" sz="570" dirty="0"/>
          </a:p>
        </p:txBody>
      </p:sp>
      <p:sp>
        <p:nvSpPr>
          <p:cNvPr id="82" name="badge M"/>
          <p:cNvSpPr/>
          <p:nvPr/>
        </p:nvSpPr>
        <p:spPr>
          <a:xfrm>
            <a:off x="8595360" y="4151376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1F2937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83" name="Text 79"/>
          <p:cNvSpPr txBox="1"/>
          <p:nvPr/>
        </p:nvSpPr>
        <p:spPr>
          <a:xfrm>
            <a:off x="8595360" y="41513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</a:t>
            </a:r>
            <a:endParaRPr lang="en-US" sz="800" dirty="0"/>
          </a:p>
        </p:txBody>
      </p:sp>
      <p:sp>
        <p:nvSpPr>
          <p:cNvPr id="84" name="tows"/>
          <p:cNvSpPr/>
          <p:nvPr/>
        </p:nvSpPr>
        <p:spPr>
          <a:xfrm>
            <a:off x="5760720" y="4421124"/>
            <a:ext cx="3108960" cy="2743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85" name="Text 81"/>
          <p:cNvSpPr txBox="1"/>
          <p:nvPr/>
        </p:nvSpPr>
        <p:spPr>
          <a:xfrm>
            <a:off x="5797296" y="44211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WT</a:t>
            </a:r>
            <a:endParaRPr lang="en-US" sz="600" dirty="0"/>
          </a:p>
        </p:txBody>
      </p:sp>
      <p:sp>
        <p:nvSpPr>
          <p:cNvPr id="86" name="Text 82"/>
          <p:cNvSpPr txBox="1"/>
          <p:nvPr/>
        </p:nvSpPr>
        <p:spPr>
          <a:xfrm>
            <a:off x="6071616" y="44211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7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VAT-inclusive price everywhere</a:t>
            </a:r>
            <a:endParaRPr lang="en-US" sz="570" dirty="0"/>
          </a:p>
        </p:txBody>
      </p:sp>
      <p:sp>
        <p:nvSpPr>
          <p:cNvPr id="87" name="badge H"/>
          <p:cNvSpPr/>
          <p:nvPr/>
        </p:nvSpPr>
        <p:spPr>
          <a:xfrm>
            <a:off x="8595360" y="4457700"/>
            <a:ext cx="201168" cy="201168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88" name="Text 84"/>
          <p:cNvSpPr txBox="1"/>
          <p:nvPr/>
        </p:nvSpPr>
        <p:spPr>
          <a:xfrm>
            <a:off x="8595360" y="44577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18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roles and the routing tree: the job of each product and the five questions in order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03 §3–4; usage crossover (Appendix 11); Telkomsel web (S65); case book (S01)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</a:t>
            </a:r>
            <a:endParaRPr lang="en-US" sz="9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68680"/>
          <a:ext cx="859536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325880"/>
                <a:gridCol w="2011680"/>
                <a:gridCol w="1965960"/>
                <a:gridCol w="20574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Product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Its job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household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promise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it differs (not price)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Orbit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flexible start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New, moving, renting or light homes (up to ~125 GB a month)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Connected today; no installation; take it with you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Portable; no contract; credit toward fiber when the home settles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EZnet Wireless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wireless home for heavy use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Heavy-use homes with no fiber, or not staying 12 months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large allowance (350 GB) on a monthly plan, modem lent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Fixed location and a large allowance, unlike Orbit's portable packs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EZnet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settled light fiber home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Homes staying 12+ months, with fiber and light use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Unlimited fiber at entry speed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first step on the fiber path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IndiHome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family's home hub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Settled homes with heavy use, TV streaming, work or gaming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whole home connected: every room, safe for children, fixed fast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Whole-home Wi-Fi, parental controls, fix-time promise, performance tiers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Household plan</a:t>
                      </a:r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(Telkomsel One, reframed)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What ties the roles to the family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Families with 2+ Telkomsel lines on any home product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bill, shared family quota, household services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Each added line adds quota and services; standalone installation terms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274320" y="30906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check, in a fixed order</a:t>
            </a:r>
            <a:endParaRPr lang="en-US" sz="800" dirty="0"/>
          </a:p>
        </p:txBody>
      </p:sp>
      <p:graphicFrame>
        <p:nvGraphicFramePr>
          <p:cNvPr id="6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291840"/>
          <a:ext cx="42062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920240"/>
                <a:gridCol w="196596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Question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Answer → next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Stay at this address 12+ months?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→ wireless only · Yes → step 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Fiber available, with a spare port?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→ wireless · Yes → fiber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much will the home use?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From consented phone data, or a short quiz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many devices; how big is the home?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6+ devices → Wi-Fi check, mesh or FTTR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How many Telkomsel lines?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2+ → household plan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8"/>
          <p:cNvSpPr txBox="1"/>
          <p:nvPr/>
        </p:nvSpPr>
        <p:spPr>
          <a:xfrm>
            <a:off x="4663440" y="3090672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a household moves between them</a:t>
            </a:r>
            <a:endParaRPr lang="en-US" sz="800" dirty="0"/>
          </a:p>
        </p:txBody>
      </p:sp>
      <p:sp>
        <p:nvSpPr>
          <p:cNvPr id="14" name="mv"/>
          <p:cNvSpPr/>
          <p:nvPr/>
        </p:nvSpPr>
        <p:spPr>
          <a:xfrm>
            <a:off x="4663440" y="3291840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A50021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4700016" y="3291840"/>
            <a:ext cx="1435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Mobile-only family, rival nearby</a:t>
            </a:r>
            <a:endParaRPr lang="en-US" sz="560" dirty="0"/>
          </a:p>
        </p:txBody>
      </p:sp>
      <p:sp>
        <p:nvSpPr>
          <p:cNvPr id="16" name="line"/>
          <p:cNvSpPr/>
          <p:nvPr/>
        </p:nvSpPr>
        <p:spPr>
          <a:xfrm>
            <a:off x="6172200" y="3415284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Text 12"/>
          <p:cNvSpPr txBox="1"/>
          <p:nvPr/>
        </p:nvSpPr>
        <p:spPr>
          <a:xfrm>
            <a:off x="6355080" y="3291840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 start → EZnet or IndiHome when use &gt; ~125 GB or it settles</a:t>
            </a:r>
            <a:endParaRPr lang="en-US" sz="590" dirty="0"/>
          </a:p>
        </p:txBody>
      </p:sp>
      <p:sp>
        <p:nvSpPr>
          <p:cNvPr id="18" name="mv"/>
          <p:cNvSpPr/>
          <p:nvPr/>
        </p:nvSpPr>
        <p:spPr>
          <a:xfrm>
            <a:off x="4663440" y="3575304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A50021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4700016" y="3575304"/>
            <a:ext cx="1435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Renting, heavy use</a:t>
            </a:r>
            <a:endParaRPr lang="en-US" sz="560" dirty="0"/>
          </a:p>
        </p:txBody>
      </p:sp>
      <p:sp>
        <p:nvSpPr>
          <p:cNvPr id="20" name="line"/>
          <p:cNvSpPr/>
          <p:nvPr/>
        </p:nvSpPr>
        <p:spPr>
          <a:xfrm>
            <a:off x="6172200" y="3698748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1" name="Text 16"/>
          <p:cNvSpPr txBox="1"/>
          <p:nvPr/>
        </p:nvSpPr>
        <p:spPr>
          <a:xfrm>
            <a:off x="6355080" y="3575304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EZnet Wireless → IndiHome when it settles and fiber arrives</a:t>
            </a:r>
            <a:endParaRPr lang="en-US" sz="590" dirty="0"/>
          </a:p>
        </p:txBody>
      </p:sp>
      <p:sp>
        <p:nvSpPr>
          <p:cNvPr id="22" name="mv"/>
          <p:cNvSpPr/>
          <p:nvPr/>
        </p:nvSpPr>
        <p:spPr>
          <a:xfrm>
            <a:off x="4663440" y="3858768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A50021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700016" y="3858768"/>
            <a:ext cx="1435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Settled, fiber, light use</a:t>
            </a:r>
            <a:endParaRPr lang="en-US" sz="560" dirty="0"/>
          </a:p>
        </p:txBody>
      </p:sp>
      <p:sp>
        <p:nvSpPr>
          <p:cNvPr id="24" name="line"/>
          <p:cNvSpPr/>
          <p:nvPr/>
        </p:nvSpPr>
        <p:spPr>
          <a:xfrm>
            <a:off x="6172200" y="3982212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5" name="Text 20"/>
          <p:cNvSpPr txBox="1"/>
          <p:nvPr/>
        </p:nvSpPr>
        <p:spPr>
          <a:xfrm>
            <a:off x="6355080" y="3858768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EZnet → IndiHome as use and family grow</a:t>
            </a:r>
            <a:endParaRPr lang="en-US" sz="590" dirty="0"/>
          </a:p>
        </p:txBody>
      </p:sp>
      <p:sp>
        <p:nvSpPr>
          <p:cNvPr id="26" name="mv"/>
          <p:cNvSpPr/>
          <p:nvPr/>
        </p:nvSpPr>
        <p:spPr>
          <a:xfrm>
            <a:off x="4663440" y="4142232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A50021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700016" y="4142232"/>
            <a:ext cx="1435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home + 2 Telkomsel lines</a:t>
            </a:r>
            <a:endParaRPr lang="en-US" sz="560" dirty="0"/>
          </a:p>
        </p:txBody>
      </p:sp>
      <p:sp>
        <p:nvSpPr>
          <p:cNvPr id="28" name="line"/>
          <p:cNvSpPr/>
          <p:nvPr/>
        </p:nvSpPr>
        <p:spPr>
          <a:xfrm>
            <a:off x="6172200" y="4265676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9" name="Text 24"/>
          <p:cNvSpPr txBox="1"/>
          <p:nvPr/>
        </p:nvSpPr>
        <p:spPr>
          <a:xfrm>
            <a:off x="6355080" y="4142232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plan: shared quota, safety, one bill</a:t>
            </a:r>
            <a:endParaRPr lang="en-US" sz="590" dirty="0"/>
          </a:p>
        </p:txBody>
      </p:sp>
      <p:sp>
        <p:nvSpPr>
          <p:cNvPr id="30" name="mv"/>
          <p:cNvSpPr/>
          <p:nvPr/>
        </p:nvSpPr>
        <p:spPr>
          <a:xfrm>
            <a:off x="4663440" y="4425696"/>
            <a:ext cx="1508760" cy="246888"/>
          </a:xfrm>
          <a:prstGeom prst="roundRect">
            <a:avLst>
              <a:gd name="adj" fmla="val 14815"/>
            </a:avLst>
          </a:prstGeom>
          <a:solidFill>
            <a:srgbClr val="A50021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4700016" y="4425696"/>
            <a:ext cx="14356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 home about to leave</a:t>
            </a:r>
            <a:endParaRPr lang="en-US" sz="560" dirty="0"/>
          </a:p>
        </p:txBody>
      </p:sp>
      <p:sp>
        <p:nvSpPr>
          <p:cNvPr id="32" name="line"/>
          <p:cNvSpPr/>
          <p:nvPr/>
        </p:nvSpPr>
        <p:spPr>
          <a:xfrm>
            <a:off x="6172200" y="4549140"/>
            <a:ext cx="13716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Text 28"/>
          <p:cNvSpPr txBox="1"/>
          <p:nvPr/>
        </p:nvSpPr>
        <p:spPr>
          <a:xfrm>
            <a:off x="6355080" y="4425696"/>
            <a:ext cx="2514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better-fitting plan, offered only to keep it</a:t>
            </a:r>
            <a:endParaRPr lang="en-US" sz="59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19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Initiatives and owners: what each pillar changes, who delivers it and when it starts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03 §5, §7.5; VP titles as reported (S11, S30, S62); other functions generic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32</a:t>
            </a:r>
            <a:endParaRPr lang="en-US" sz="900" dirty="0"/>
          </a:p>
        </p:txBody>
      </p:sp>
      <p:pic>
        <p:nvPicPr>
          <p:cNvPr id="10" name="Image 1" descr="head 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21031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4320" y="868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 · Household fit</a:t>
            </a:r>
            <a:endParaRPr lang="en-US" sz="700" dirty="0"/>
          </a:p>
        </p:txBody>
      </p:sp>
      <p:sp>
        <p:nvSpPr>
          <p:cNvPr id="12" name="init"/>
          <p:cNvSpPr/>
          <p:nvPr/>
        </p:nvSpPr>
        <p:spPr>
          <a:xfrm>
            <a:off x="274320" y="1207008"/>
            <a:ext cx="210312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329184" y="122529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Household-fit check in every channel</a:t>
            </a:r>
            <a:endParaRPr lang="en-US" sz="590" dirty="0"/>
          </a:p>
        </p:txBody>
      </p:sp>
      <p:sp>
        <p:nvSpPr>
          <p:cNvPr id="14" name="Text 10"/>
          <p:cNvSpPr txBox="1"/>
          <p:nvPr/>
        </p:nvSpPr>
        <p:spPr>
          <a:xfrm>
            <a:off x="329184" y="153619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Nov 2026–Jan 2027; pilot 1H27</a:t>
            </a:r>
            <a:endParaRPr lang="en-US" sz="560" dirty="0"/>
          </a:p>
        </p:txBody>
      </p:sp>
      <p:sp>
        <p:nvSpPr>
          <p:cNvPr id="15" name="init"/>
          <p:cNvSpPr/>
          <p:nvPr/>
        </p:nvSpPr>
        <p:spPr>
          <a:xfrm>
            <a:off x="274320" y="1755648"/>
            <a:ext cx="210312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329184" y="17739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Stated roles; fewer overlapping offers</a:t>
            </a:r>
            <a:endParaRPr lang="en-US" sz="590" dirty="0"/>
          </a:p>
        </p:txBody>
      </p:sp>
      <p:sp>
        <p:nvSpPr>
          <p:cNvPr id="17" name="Text 13"/>
          <p:cNvSpPr txBox="1"/>
          <p:nvPr/>
        </p:nvSpPr>
        <p:spPr>
          <a:xfrm>
            <a:off x="329184" y="208483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0 quick win</a:t>
            </a:r>
            <a:endParaRPr lang="en-US" sz="560" dirty="0"/>
          </a:p>
        </p:txBody>
      </p:sp>
      <p:sp>
        <p:nvSpPr>
          <p:cNvPr id="18" name="init"/>
          <p:cNvSpPr/>
          <p:nvPr/>
        </p:nvSpPr>
        <p:spPr>
          <a:xfrm>
            <a:off x="274320" y="2304288"/>
            <a:ext cx="210312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329184" y="232257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Targeted, opt-in home check for Telkomsel families</a:t>
            </a:r>
            <a:endParaRPr lang="en-US" sz="590" dirty="0"/>
          </a:p>
        </p:txBody>
      </p:sp>
      <p:sp>
        <p:nvSpPr>
          <p:cNvPr id="20" name="Text 16"/>
          <p:cNvSpPr txBox="1"/>
          <p:nvPr/>
        </p:nvSpPr>
        <p:spPr>
          <a:xfrm>
            <a:off x="329184" y="263347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1H27</a:t>
            </a:r>
            <a:endParaRPr lang="en-US" sz="560" dirty="0"/>
          </a:p>
        </p:txBody>
      </p:sp>
      <p:sp>
        <p:nvSpPr>
          <p:cNvPr id="21" name="init"/>
          <p:cNvSpPr/>
          <p:nvPr/>
        </p:nvSpPr>
        <p:spPr>
          <a:xfrm>
            <a:off x="274320" y="2852928"/>
            <a:ext cx="210312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2" name="Text 18"/>
          <p:cNvSpPr txBox="1"/>
          <p:nvPr/>
        </p:nvSpPr>
        <p:spPr>
          <a:xfrm>
            <a:off x="329184" y="287121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 sales on homes paying at 3 and 12 months</a:t>
            </a:r>
            <a:endParaRPr lang="en-US" sz="590" dirty="0"/>
          </a:p>
        </p:txBody>
      </p:sp>
      <p:sp>
        <p:nvSpPr>
          <p:cNvPr id="23" name="Text 19"/>
          <p:cNvSpPr txBox="1"/>
          <p:nvPr/>
        </p:nvSpPr>
        <p:spPr>
          <a:xfrm>
            <a:off x="329184" y="318211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1H27</a:t>
            </a:r>
            <a:endParaRPr lang="en-US" sz="560" dirty="0"/>
          </a:p>
        </p:txBody>
      </p:sp>
      <p:pic>
        <p:nvPicPr>
          <p:cNvPr id="24" name="Image 2" descr="head 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1448" y="868680"/>
            <a:ext cx="21031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2441448" y="868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 · Offer a path up</a:t>
            </a:r>
            <a:endParaRPr lang="en-US" sz="700" dirty="0"/>
          </a:p>
        </p:txBody>
      </p:sp>
      <p:sp>
        <p:nvSpPr>
          <p:cNvPr id="26" name="init"/>
          <p:cNvSpPr/>
          <p:nvPr/>
        </p:nvSpPr>
        <p:spPr>
          <a:xfrm>
            <a:off x="2441448" y="1207008"/>
            <a:ext cx="210312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2496312" y="122529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paths: Orbit → fiber with modem trade-in, EZnet → IndiHome, single → family</a:t>
            </a:r>
            <a:endParaRPr lang="en-US" sz="590" dirty="0"/>
          </a:p>
        </p:txBody>
      </p:sp>
      <p:sp>
        <p:nvSpPr>
          <p:cNvPr id="28" name="Text 23"/>
          <p:cNvSpPr txBox="1"/>
          <p:nvPr/>
        </p:nvSpPr>
        <p:spPr>
          <a:xfrm>
            <a:off x="2496312" y="153619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2H27</a:t>
            </a:r>
            <a:endParaRPr lang="en-US" sz="560" dirty="0"/>
          </a:p>
        </p:txBody>
      </p:sp>
      <p:sp>
        <p:nvSpPr>
          <p:cNvPr id="29" name="init"/>
          <p:cNvSpPr/>
          <p:nvPr/>
        </p:nvSpPr>
        <p:spPr>
          <a:xfrm>
            <a:off x="2441448" y="1755648"/>
            <a:ext cx="210312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0" name="Text 25"/>
          <p:cNvSpPr txBox="1"/>
          <p:nvPr/>
        </p:nvSpPr>
        <p:spPr>
          <a:xfrm>
            <a:off x="2496312" y="17739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Boost-end choice: keep the speed for a fee, take an outcome pack, or return to base, with 30 days' notice</a:t>
            </a:r>
            <a:endParaRPr lang="en-US" sz="590" dirty="0"/>
          </a:p>
        </p:txBody>
      </p:sp>
      <p:sp>
        <p:nvSpPr>
          <p:cNvPr id="31" name="Text 26"/>
          <p:cNvSpPr txBox="1"/>
          <p:nvPr/>
        </p:nvSpPr>
        <p:spPr>
          <a:xfrm>
            <a:off x="2496312" y="208483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Randomised test from Jan 2027</a:t>
            </a:r>
            <a:endParaRPr lang="en-US" sz="560" dirty="0"/>
          </a:p>
        </p:txBody>
      </p:sp>
      <p:sp>
        <p:nvSpPr>
          <p:cNvPr id="32" name="init"/>
          <p:cNvSpPr/>
          <p:nvPr/>
        </p:nvSpPr>
        <p:spPr>
          <a:xfrm>
            <a:off x="2441448" y="2304288"/>
            <a:ext cx="210312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3" name="Text 28"/>
          <p:cNvSpPr txBox="1"/>
          <p:nvPr/>
        </p:nvSpPr>
        <p:spPr>
          <a:xfrm>
            <a:off x="2496312" y="232257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plan: each added line adds shared quota and services</a:t>
            </a:r>
            <a:endParaRPr lang="en-US" sz="590" dirty="0"/>
          </a:p>
        </p:txBody>
      </p:sp>
      <p:sp>
        <p:nvSpPr>
          <p:cNvPr id="34" name="Text 29"/>
          <p:cNvSpPr txBox="1"/>
          <p:nvPr/>
        </p:nvSpPr>
        <p:spPr>
          <a:xfrm>
            <a:off x="2496312" y="263347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2H27</a:t>
            </a:r>
            <a:endParaRPr lang="en-US" sz="560" dirty="0"/>
          </a:p>
        </p:txBody>
      </p:sp>
      <p:pic>
        <p:nvPicPr>
          <p:cNvPr id="35" name="Image 3" descr="head M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868680"/>
            <a:ext cx="2103120" cy="27432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4608576" y="868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 · Make staying better</a:t>
            </a:r>
            <a:endParaRPr lang="en-US" sz="700" dirty="0"/>
          </a:p>
        </p:txBody>
      </p:sp>
      <p:sp>
        <p:nvSpPr>
          <p:cNvPr id="37" name="init"/>
          <p:cNvSpPr/>
          <p:nvPr/>
        </p:nvSpPr>
        <p:spPr>
          <a:xfrm>
            <a:off x="4608576" y="1207008"/>
            <a:ext cx="210312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8" name="Text 32"/>
          <p:cNvSpPr txBox="1"/>
          <p:nvPr/>
        </p:nvSpPr>
        <p:spPr>
          <a:xfrm>
            <a:off x="4663440" y="122529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Wi-Fi promise: Wi-Fi check, mesh for 75k at-risk homes a year, fix-time promise</a:t>
            </a:r>
            <a:endParaRPr lang="en-US" sz="590" dirty="0"/>
          </a:p>
        </p:txBody>
      </p:sp>
      <p:sp>
        <p:nvSpPr>
          <p:cNvPr id="39" name="Text 33"/>
          <p:cNvSpPr txBox="1"/>
          <p:nvPr/>
        </p:nvSpPr>
        <p:spPr>
          <a:xfrm>
            <a:off x="4663440" y="153619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1H27; contested cities 2028</a:t>
            </a:r>
            <a:endParaRPr lang="en-US" sz="560" dirty="0"/>
          </a:p>
        </p:txBody>
      </p:sp>
      <p:sp>
        <p:nvSpPr>
          <p:cNvPr id="40" name="init"/>
          <p:cNvSpPr/>
          <p:nvPr/>
        </p:nvSpPr>
        <p:spPr>
          <a:xfrm>
            <a:off x="4608576" y="1755648"/>
            <a:ext cx="210312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1" name="Text 35"/>
          <p:cNvSpPr txBox="1"/>
          <p:nvPr/>
        </p:nvSpPr>
        <p:spPr>
          <a:xfrm>
            <a:off x="4663440" y="17739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Retention triggers with a 10–20% random hold-out</a:t>
            </a:r>
            <a:endParaRPr lang="en-US" sz="590" dirty="0"/>
          </a:p>
        </p:txBody>
      </p:sp>
      <p:sp>
        <p:nvSpPr>
          <p:cNvPr id="42" name="Text 36"/>
          <p:cNvSpPr txBox="1"/>
          <p:nvPr/>
        </p:nvSpPr>
        <p:spPr>
          <a:xfrm>
            <a:off x="4663440" y="208483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Pilot 1H27; national 2H27</a:t>
            </a:r>
            <a:endParaRPr lang="en-US" sz="560" dirty="0"/>
          </a:p>
        </p:txBody>
      </p:sp>
      <p:sp>
        <p:nvSpPr>
          <p:cNvPr id="43" name="init"/>
          <p:cNvSpPr/>
          <p:nvPr/>
        </p:nvSpPr>
        <p:spPr>
          <a:xfrm>
            <a:off x="4608576" y="2304288"/>
            <a:ext cx="210312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4" name="Text 38"/>
          <p:cNvSpPr txBox="1"/>
          <p:nvPr/>
        </p:nvSpPr>
        <p:spPr>
          <a:xfrm>
            <a:off x="4663440" y="232257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 fill and capacity-aware routing with the group</a:t>
            </a:r>
            <a:endParaRPr lang="en-US" sz="590" dirty="0"/>
          </a:p>
        </p:txBody>
      </p:sp>
      <p:sp>
        <p:nvSpPr>
          <p:cNvPr id="45" name="Text 39"/>
          <p:cNvSpPr txBox="1"/>
          <p:nvPr/>
        </p:nvSpPr>
        <p:spPr>
          <a:xfrm>
            <a:off x="4663440" y="263347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2028 (not in the model's value)</a:t>
            </a:r>
            <a:endParaRPr lang="en-US" sz="560" dirty="0"/>
          </a:p>
        </p:txBody>
      </p:sp>
      <p:pic>
        <p:nvPicPr>
          <p:cNvPr id="46" name="Image 4" descr="head 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5704" y="868680"/>
            <a:ext cx="2103120" cy="274320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6775704" y="868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· Evaluate household value</a:t>
            </a:r>
            <a:endParaRPr lang="en-US" sz="700" dirty="0"/>
          </a:p>
        </p:txBody>
      </p:sp>
      <p:sp>
        <p:nvSpPr>
          <p:cNvPr id="48" name="init"/>
          <p:cNvSpPr/>
          <p:nvPr/>
        </p:nvSpPr>
        <p:spPr>
          <a:xfrm>
            <a:off x="6775704" y="1207008"/>
            <a:ext cx="210312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9" name="Text 42"/>
          <p:cNvSpPr txBox="1"/>
          <p:nvPr/>
        </p:nvSpPr>
        <p:spPr>
          <a:xfrm>
            <a:off x="6830568" y="122529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household identity (consent)</a:t>
            </a:r>
            <a:endParaRPr lang="en-US" sz="590" dirty="0"/>
          </a:p>
        </p:txBody>
      </p:sp>
      <p:sp>
        <p:nvSpPr>
          <p:cNvPr id="50" name="Text 43"/>
          <p:cNvSpPr txBox="1"/>
          <p:nvPr/>
        </p:nvSpPr>
        <p:spPr>
          <a:xfrm>
            <a:off x="6830568" y="153619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1H27</a:t>
            </a:r>
            <a:endParaRPr lang="en-US" sz="560" dirty="0"/>
          </a:p>
        </p:txBody>
      </p:sp>
      <p:sp>
        <p:nvSpPr>
          <p:cNvPr id="51" name="init"/>
          <p:cNvSpPr/>
          <p:nvPr/>
        </p:nvSpPr>
        <p:spPr>
          <a:xfrm>
            <a:off x="6775704" y="1755648"/>
            <a:ext cx="210312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2" name="Text 45"/>
          <p:cNvSpPr txBox="1"/>
          <p:nvPr/>
        </p:nvSpPr>
        <p:spPr>
          <a:xfrm>
            <a:off x="6830568" y="177393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KPIs and targets; an Orbit baseline</a:t>
            </a:r>
            <a:endParaRPr lang="en-US" sz="590" dirty="0"/>
          </a:p>
        </p:txBody>
      </p:sp>
      <p:sp>
        <p:nvSpPr>
          <p:cNvPr id="53" name="Text 46"/>
          <p:cNvSpPr txBox="1"/>
          <p:nvPr/>
        </p:nvSpPr>
        <p:spPr>
          <a:xfrm>
            <a:off x="6830568" y="208483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2027 KPI contracts</a:t>
            </a:r>
            <a:endParaRPr lang="en-US" sz="560" dirty="0"/>
          </a:p>
        </p:txBody>
      </p:sp>
      <p:sp>
        <p:nvSpPr>
          <p:cNvPr id="54" name="init"/>
          <p:cNvSpPr/>
          <p:nvPr/>
        </p:nvSpPr>
        <p:spPr>
          <a:xfrm>
            <a:off x="6775704" y="2304288"/>
            <a:ext cx="2103120" cy="493776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5" name="Text 48"/>
          <p:cNvSpPr txBox="1"/>
          <p:nvPr/>
        </p:nvSpPr>
        <p:spPr>
          <a:xfrm>
            <a:off x="6830568" y="2322576"/>
            <a:ext cx="19933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owner of household value; shared bonus pool</a:t>
            </a:r>
            <a:endParaRPr lang="en-US" sz="590" dirty="0"/>
          </a:p>
        </p:txBody>
      </p:sp>
      <p:sp>
        <p:nvSpPr>
          <p:cNvPr id="56" name="Text 49"/>
          <p:cNvSpPr txBox="1"/>
          <p:nvPr/>
        </p:nvSpPr>
        <p:spPr>
          <a:xfrm>
            <a:off x="6830568" y="2633472"/>
            <a:ext cx="19933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Named in Phase 0</a:t>
            </a:r>
            <a:endParaRPr lang="en-US" sz="560" dirty="0"/>
          </a:p>
        </p:txBody>
      </p:sp>
      <p:sp>
        <p:nvSpPr>
          <p:cNvPr id="57" name="Text 50"/>
          <p:cNvSpPr txBox="1"/>
          <p:nvPr/>
        </p:nvSpPr>
        <p:spPr>
          <a:xfrm>
            <a:off x="274320" y="342900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Who does what (RACI, short form)</a:t>
            </a:r>
            <a:endParaRPr lang="en-US" sz="8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630168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2103120"/>
                <a:gridCol w="1920240"/>
              </a:tblGrid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Initiative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Accountable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Consulted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Fit check; stated roles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VP Home Broadband &amp; FMC Consumer Marketing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Digital channels; product marketing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InfraNexia (port data); legal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 check; triggers; paths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VP Household Consumer Business Strategy Management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CVM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protection officer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 on paying homes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Head of sales and channels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Sales operations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Boost-end choice; household plan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VP Home Broadband &amp; FMC Consumer Marketing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Billing and IT; product marketing (FMC)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Legal (consumer notice); mobile marketing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Wi-Fi promise; port fill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 and CPE operations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Field operations; InfraNexia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554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Household identity, KPIs, owner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Household P&amp;L owner (CEO office)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 and data; finance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Telkom reporting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20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Gates and KPIs: pass marks at 60% of plan, randomised tests and targets for 2028 and 2031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03 §7.3–7.4; model-v4 output: 55% of plan = zero life value, 60% = +Rp45bn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4124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ladder: one unit for model and gate</a:t>
            </a:r>
            <a:endParaRPr lang="en-US" sz="8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51206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1828800"/>
                <a:gridCol w="685800"/>
                <a:gridCol w="731520"/>
                <a:gridCol w="9144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KPI (model's unit)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 mark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Measured by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Gate 1 · Jun 2027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Expiring homes choosing to pay at boost end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≥ 4.8%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National randomised test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Home-check opt-in × conversion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 × 10%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≥ 0.6%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 areas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homes paying at 3 months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quality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≥ 95%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 billing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Save rate on triggered homes vs hold-out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≥ 6%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Hold-out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EZnet → IndiHome / single → family steps a 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3% / 0.5%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≥ 1.8% / 0.3%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Randomised offer vs hold-out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Lines added a year in homes without 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≥ 1.2%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Randomised offer vs hold-out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Gate 1b · Dec 2027 / Jun 2028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 in Wi-Fi-promise and triggered homes vs hold-out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−1pp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≥ −0.6pp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50k–150k homes per arm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Gate 2 · Dec 2028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Household KPIs monthly; Orbit baseline; programme EBITDA run-rate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Rp65bn (2029)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≥ 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7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Finance; cost cap in tranches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why 60"/>
          <p:cNvSpPr/>
          <p:nvPr/>
        </p:nvSpPr>
        <p:spPr>
          <a:xfrm>
            <a:off x="274320" y="3794760"/>
            <a:ext cx="5120640" cy="932688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365760" y="3813048"/>
            <a:ext cx="495604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60%:</a:t>
            </a:r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if every take-up input lands at </a:t>
            </a:r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55% of plan</a:t>
            </a:r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the life-of-homes value is zero; at 60% it is </a:t>
            </a:r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+Rp45bn</a:t>
            </a:r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The pass mark is joint (switching off any one lever still leaves the value positive). At the pass mark the 5-year NPV is −Rp197bn; it reaches zero only at </a:t>
            </a:r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112% of plan</a:t>
            </a:r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 If Gate 1 fails, national spend stops with about </a:t>
            </a:r>
            <a:pPr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Rp98bn</a:t>
            </a:r>
            <a:pPr indent="0" marL="0">
              <a:buNone/>
            </a:pPr>
            <a:r>
              <a:rPr lang="en-US" sz="61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cash spent.</a:t>
            </a:r>
            <a:endParaRPr lang="en-US" sz="610" dirty="0"/>
          </a:p>
        </p:txBody>
      </p:sp>
      <p:sp>
        <p:nvSpPr>
          <p:cNvPr id="14" name="Text 10"/>
          <p:cNvSpPr txBox="1"/>
          <p:nvPr/>
        </p:nvSpPr>
        <p:spPr>
          <a:xfrm>
            <a:off x="5577840" y="84124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 targets (net stocks after churn)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800" dirty="0"/>
          </a:p>
        </p:txBody>
      </p:sp>
      <p:graphicFrame>
        <p:nvGraphicFramePr>
          <p:cNvPr id="6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051560"/>
          <a:ext cx="3291840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548640"/>
                <a:gridCol w="502920"/>
                <a:gridCol w="54864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KPI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Today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2031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Paying homes won through fit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73k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213k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Homes kept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59k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204k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Homes paying for a chosen extra at boost end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114k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114k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Telkomsel lines added in homes without 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67k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197k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Orbit starts moved to fiber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EZnet → IndiHome and single → family steps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90k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267k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Household value per paying home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measured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Baseline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case kpis"/>
          <p:cNvSpPr/>
          <p:nvPr/>
        </p:nvSpPr>
        <p:spPr>
          <a:xfrm>
            <a:off x="5577840" y="3429000"/>
            <a:ext cx="32918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9525">
            <a:solidFill>
              <a:srgbClr val="E4002B"/>
            </a:solidFill>
            <a:prstDash val="dash"/>
          </a:ln>
        </p:spPr>
      </p:sp>
      <p:sp>
        <p:nvSpPr>
          <p:cNvPr id="17" name="Text 12"/>
          <p:cNvSpPr txBox="1"/>
          <p:nvPr/>
        </p:nvSpPr>
        <p:spPr>
          <a:xfrm>
            <a:off x="5669280" y="3456432"/>
            <a:ext cx="3154680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case's own impact terms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</a:t>
            </a:r>
            <a:pPr indent="0" marL="0">
              <a:buNone/>
            </a:pPr>
            <a:r>
              <a:rPr lang="en-US" sz="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2031)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Subscriber conversion: </a:t>
            </a:r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22k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Orbit homes on fiber; </a:t>
            </a:r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267k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ladder steps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ARPU uplift: </a:t>
            </a:r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Rp415bn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year from paths, boost-end choice and the plan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Retention: </a:t>
            </a:r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204k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homes kept; </a:t>
            </a:r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−1pp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churn in contested cities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FMC adoption: </a:t>
            </a:r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197k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lines added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Incremental revenue: </a:t>
            </a:r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Rp1,134bn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year</a:t>
            </a:r>
            <a:endParaRPr lang="en-US" sz="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21 (1/2)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model: structure, comparator and the contribution logic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03 §8.1; model-v4 (base case identical to model-v3)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900" dirty="0"/>
          </a:p>
        </p:txBody>
      </p:sp>
      <p:sp>
        <p:nvSpPr>
          <p:cNvPr id="10" name="flow"/>
          <p:cNvSpPr/>
          <p:nvPr/>
        </p:nvSpPr>
        <p:spPr>
          <a:xfrm>
            <a:off x="274320" y="896112"/>
            <a:ext cx="1463040" cy="384048"/>
          </a:xfrm>
          <a:prstGeom prst="homePlate">
            <a:avLst/>
          </a:prstGeom>
          <a:solidFill>
            <a:srgbClr val="1F293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11480" y="8961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Inputs</a:t>
            </a:r>
            <a:endParaRPr lang="en-US" sz="750" dirty="0"/>
          </a:p>
        </p:txBody>
      </p:sp>
      <p:sp>
        <p:nvSpPr>
          <p:cNvPr id="12" name="flow text"/>
          <p:cNvSpPr/>
          <p:nvPr/>
        </p:nvSpPr>
        <p:spPr>
          <a:xfrm>
            <a:off x="320040" y="1344168"/>
            <a:ext cx="1325880" cy="86868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65760" y="1371600"/>
            <a:ext cx="1234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Pools, take-up rates, prices, acquisition costs, churn 20%, programme costs</a:t>
            </a:r>
            <a:endParaRPr lang="en-US" sz="590" dirty="0"/>
          </a:p>
        </p:txBody>
      </p:sp>
      <p:sp>
        <p:nvSpPr>
          <p:cNvPr id="14" name="flow"/>
          <p:cNvSpPr/>
          <p:nvPr/>
        </p:nvSpPr>
        <p:spPr>
          <a:xfrm>
            <a:off x="1709928" y="896112"/>
            <a:ext cx="1463040" cy="384048"/>
          </a:xfrm>
          <a:prstGeom prst="chevron">
            <a:avLst/>
          </a:prstGeom>
          <a:solidFill>
            <a:srgbClr val="47556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1847088" y="8961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Stocks</a:t>
            </a:r>
            <a:endParaRPr lang="en-US" sz="750" dirty="0"/>
          </a:p>
        </p:txBody>
      </p:sp>
      <p:sp>
        <p:nvSpPr>
          <p:cNvPr id="16" name="flow text"/>
          <p:cNvSpPr/>
          <p:nvPr/>
        </p:nvSpPr>
        <p:spPr>
          <a:xfrm>
            <a:off x="1755648" y="1344168"/>
            <a:ext cx="1325880" cy="86868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801368" y="1371600"/>
            <a:ext cx="1234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Yearly cohorts of homes, payers and lines; churn 20% a year, boost payers lapse 15%</a:t>
            </a:r>
            <a:endParaRPr lang="en-US" sz="590" dirty="0"/>
          </a:p>
        </p:txBody>
      </p:sp>
      <p:sp>
        <p:nvSpPr>
          <p:cNvPr id="18" name="flow"/>
          <p:cNvSpPr/>
          <p:nvPr/>
        </p:nvSpPr>
        <p:spPr>
          <a:xfrm>
            <a:off x="3145536" y="896112"/>
            <a:ext cx="1463040" cy="384048"/>
          </a:xfrm>
          <a:prstGeom prst="chevron">
            <a:avLst/>
          </a:prstGeom>
          <a:solidFill>
            <a:srgbClr val="A5002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282696" y="8961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Revenue</a:t>
            </a:r>
            <a:endParaRPr lang="en-US" sz="750" dirty="0"/>
          </a:p>
        </p:txBody>
      </p:sp>
      <p:sp>
        <p:nvSpPr>
          <p:cNvPr id="20" name="flow text"/>
          <p:cNvSpPr/>
          <p:nvPr/>
        </p:nvSpPr>
        <p:spPr>
          <a:xfrm>
            <a:off x="3191256" y="1344168"/>
            <a:ext cx="1325880" cy="86868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3236976" y="1371600"/>
            <a:ext cx="1234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lever on its own pool; offload netted where the family would stay mobile-only</a:t>
            </a:r>
            <a:endParaRPr lang="en-US" sz="590" dirty="0"/>
          </a:p>
        </p:txBody>
      </p:sp>
      <p:sp>
        <p:nvSpPr>
          <p:cNvPr id="22" name="flow"/>
          <p:cNvSpPr/>
          <p:nvPr/>
        </p:nvSpPr>
        <p:spPr>
          <a:xfrm>
            <a:off x="4581144" y="896112"/>
            <a:ext cx="1463040" cy="384048"/>
          </a:xfrm>
          <a:prstGeom prst="chevron">
            <a:avLst/>
          </a:prstGeom>
          <a:solidFill>
            <a:srgbClr val="E4002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718304" y="8961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Contribution</a:t>
            </a:r>
            <a:endParaRPr lang="en-US" sz="750" dirty="0"/>
          </a:p>
        </p:txBody>
      </p:sp>
      <p:sp>
        <p:nvSpPr>
          <p:cNvPr id="24" name="flow text"/>
          <p:cNvSpPr/>
          <p:nvPr/>
        </p:nvSpPr>
        <p:spPr>
          <a:xfrm>
            <a:off x="4626864" y="1344168"/>
            <a:ext cx="1325880" cy="86868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672584" y="1371600"/>
            <a:ext cx="1234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revenue type earns the margin of the costs that move with it</a:t>
            </a:r>
            <a:endParaRPr lang="en-US" sz="590" dirty="0"/>
          </a:p>
        </p:txBody>
      </p:sp>
      <p:sp>
        <p:nvSpPr>
          <p:cNvPr id="26" name="flow"/>
          <p:cNvSpPr/>
          <p:nvPr/>
        </p:nvSpPr>
        <p:spPr>
          <a:xfrm>
            <a:off x="6016752" y="896112"/>
            <a:ext cx="1463040" cy="384048"/>
          </a:xfrm>
          <a:prstGeom prst="chevron">
            <a:avLst/>
          </a:prstGeom>
          <a:solidFill>
            <a:srgbClr val="A5002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153912" y="8961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Cash</a:t>
            </a:r>
            <a:endParaRPr lang="en-US" sz="750" dirty="0"/>
          </a:p>
        </p:txBody>
      </p:sp>
      <p:sp>
        <p:nvSpPr>
          <p:cNvPr id="28" name="flow text"/>
          <p:cNvSpPr/>
          <p:nvPr/>
        </p:nvSpPr>
        <p:spPr>
          <a:xfrm>
            <a:off x="6062472" y="1344168"/>
            <a:ext cx="1325880" cy="86868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108192" y="1371600"/>
            <a:ext cx="1234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EBITDA − capex − tax at 22% (capex over five years)</a:t>
            </a:r>
            <a:endParaRPr lang="en-US" sz="590" dirty="0"/>
          </a:p>
        </p:txBody>
      </p:sp>
      <p:sp>
        <p:nvSpPr>
          <p:cNvPr id="30" name="flow"/>
          <p:cNvSpPr/>
          <p:nvPr/>
        </p:nvSpPr>
        <p:spPr>
          <a:xfrm>
            <a:off x="7452360" y="896112"/>
            <a:ext cx="1463040" cy="384048"/>
          </a:xfrm>
          <a:prstGeom prst="chevron">
            <a:avLst/>
          </a:prstGeom>
          <a:solidFill>
            <a:srgbClr val="1F2937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7589520" y="89611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</a:t>
            </a:r>
            <a:endParaRPr lang="en-US" sz="750" dirty="0"/>
          </a:p>
        </p:txBody>
      </p:sp>
      <p:sp>
        <p:nvSpPr>
          <p:cNvPr id="32" name="flow text"/>
          <p:cNvSpPr/>
          <p:nvPr/>
        </p:nvSpPr>
        <p:spPr>
          <a:xfrm>
            <a:off x="7498080" y="1344168"/>
            <a:ext cx="1325880" cy="86868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543800" y="1371600"/>
            <a:ext cx="12344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5-year NPV and life-of-homes NPV at 10%</a:t>
            </a:r>
            <a:endParaRPr lang="en-US" sz="590" dirty="0"/>
          </a:p>
        </p:txBody>
      </p:sp>
      <p:sp>
        <p:nvSpPr>
          <p:cNvPr id="34" name="Text 31"/>
          <p:cNvSpPr txBox="1"/>
          <p:nvPr/>
        </p:nvSpPr>
        <p:spPr>
          <a:xfrm>
            <a:off x="274320" y="23317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Contribution margins by revenue type</a:t>
            </a:r>
            <a:endParaRPr lang="en-US" sz="8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42032"/>
          <a:ext cx="420624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005840"/>
                <a:gridCol w="178308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 type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Margin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2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fiber homes and homes kept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21.5%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Household EBITDA margin; the fiber fee is paid per line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Orbit starts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21.5%</a:t>
                      </a:r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(15–49% tested)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Conservative placeholder; no per-line fiber fee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Upgrades on an existing line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Little extra cost; network ~40% utilised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Content, TV and outcome packs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 of content revenue share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Added mobile lines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53%</a:t>
                      </a:r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less 10% for plan benefits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Mobile EBITDA margin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Text 32"/>
          <p:cNvSpPr txBox="1"/>
          <p:nvPr/>
        </p:nvSpPr>
        <p:spPr>
          <a:xfrm>
            <a:off x="4663440" y="23317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Comparator, horizon and ramps</a:t>
            </a:r>
            <a:endParaRPr lang="en-US" sz="800" dirty="0"/>
          </a:p>
        </p:txBody>
      </p:sp>
      <p:sp>
        <p:nvSpPr>
          <p:cNvPr id="37" name="comparator"/>
          <p:cNvSpPr/>
          <p:nvPr/>
        </p:nvSpPr>
        <p:spPr>
          <a:xfrm>
            <a:off x="4663440" y="2542032"/>
            <a:ext cx="4206240" cy="2176272"/>
          </a:xfrm>
          <a:prstGeom prst="roundRect">
            <a:avLst>
              <a:gd name="adj" fmla="val 2521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4"/>
          <p:cNvSpPr txBox="1"/>
          <p:nvPr/>
        </p:nvSpPr>
        <p:spPr>
          <a:xfrm>
            <a:off x="4754880" y="2569464"/>
            <a:ext cx="4041648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Do-nothing comparator:</a:t>
            </a:r>
            <a:pPr indent="0" marL="0">
              <a:spcAft>
                <a:spcPts val="20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 household base stays at today's run-rate, boosts revert silently, no price change; continued erosion would favour the plan.</a:t>
            </a:r>
            <a:endParaRPr lang="en-US" sz="59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Horizon:</a:t>
            </a:r>
            <a:pPr indent="0" marL="0">
              <a:spcAft>
                <a:spcPts val="20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programme years 2027–2031 carry new homes, take-up and all costs; run-off 2032–2041 keeps only homes already won as they churn off (no new homes, IT running cost only): a conservative alternative to a perpetual terminal value.</a:t>
            </a:r>
            <a:endParaRPr lang="en-US" sz="59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Ramps follow the plan:</a:t>
            </a:r>
            <a:pPr indent="0" marL="0">
              <a:spcAft>
                <a:spcPts val="20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fit 26.5% in 2027, 80% in 2028, 100% from 2029; paths, plan and triggers from 2H27; Wi-Fi promise 5% in 2027, 60% in 2028; the boost-end test covers 75% of the 2027 legacy cohort.</a:t>
            </a:r>
            <a:endParaRPr lang="en-US" sz="59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Money:</a:t>
            </a:r>
            <a:pPr indent="0" marL="0">
              <a:spcAft>
                <a:spcPts val="200"/>
              </a:spcAft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Rp bn ex-VAT; discount rate 10% (9–12% tested); 2027 tax credit offset against Telkomsel's profit.</a:t>
            </a:r>
            <a:endParaRPr lang="en-US" sz="59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21 (2/2)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model: inputs, the pool each applies to, test values and anchors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03 §8.2–8.3; Telkom 1H26 Info Memo (S04); Telkomsel app and web (S45, S65); MPA (S24); BRI Danareksa (S61)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</a:t>
            </a:r>
            <a:endParaRPr lang="en-US" sz="9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41248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240280"/>
                <a:gridCol w="1463040"/>
                <a:gridCol w="1463040"/>
                <a:gridCol w="1600200"/>
              </a:tblGrid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Input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Pool it applies to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 values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9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Basis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Home-check invitations a 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Telkomsel families without fixed broadband (26–36M)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6.0M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3.0–9.0M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assumption: a fifth of the pool a 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Opt-in × conversion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Invited families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 × 10%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5–15% each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assumption; measured in the pilot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Better fit with other families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Non-Telkomsel new homes (1.28M × 47.5%)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 points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1–3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assumption; market growth (MPA)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Home-check families who would stay mobile-only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Home-check homes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20–50%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assumption; targeted at rival areas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Start product and price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Fit homes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50% Orbit Rp90.1k; 50% fiber Rp190k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Orbit Rp59.5–120k; fiber Rp170–216.2k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Telkomsel prices, ex-VAT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Acquisition cost: Orbit / fiber via mobile / other channels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New homes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Rp150k / 400k / 750k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100–250 / 250–600 / 500–1,000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assumption; no public figure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Offload per affected family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Mobile-only counterfactual homes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Rp83.6k a month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Rp58.3–108.9k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estimate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Routing-down leakage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500k normal new homes a 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1–10%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assumption; price fences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Boost cohorts expiring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Legacy 2027 / recurring from 2028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20% of base / 500k a 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10–35% / 250–750k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assumption; sized in Phase 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Boost-end paid take-up / lapse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Expiring homes / payers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8% / 15% a 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4–12% / 10–25%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assumption; randomised test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Orbit → fiber a year; trade-in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Orbit starts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15%; Rp150k + Rp50k refurbishment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8–25%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assumption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EZnet → IndiHome / single → family a 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EZnet homes (15% of base) / the base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3% / 0.5%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1.5–5% / 0.25–1%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assumption; steps Rp46.2k / Rp125k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Lines added a 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3.345M homes without a Telkomsel line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1–3%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assumption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Wi-Fi promise churn effect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Contested cities, 35% of base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−1pp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−0.5 to −1.5pp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assumption; Gate 1b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Triggers: reach × would-leave × save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base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 × 40% × 10%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reach and save 5–15%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assumption; hold-out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churn; discount rate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stocks; cash flows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20%; 10%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15–25%; 9–12%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assumption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Capex 2027–2031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Fit check Rp80bn, data platform Rp80bn, mesh Rp135bn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Rp295bn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Rp60–120bn; mesh Rp500–800k a home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bottom-up estimate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57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Running costs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Marketing Rp40bn (half reallocated), IT Rp15bn, office Rp5bn a 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≈Rp60bn a 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marketing Rp25–75bn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6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bottom-up estimate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22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results: yearly cash flow, scenarios and the gate valued as an option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Model-v4 output (file 03 §8.4–8.5); every figure is an estimate on stated assumptions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36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41248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case by year (Rp bn)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8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777240"/>
                <a:gridCol w="777240"/>
                <a:gridCol w="640080"/>
                <a:gridCol w="502920"/>
                <a:gridCol w="640080"/>
                <a:gridCol w="777240"/>
                <a:gridCol w="502920"/>
                <a:gridCol w="868680"/>
                <a:gridCol w="594360"/>
                <a:gridCol w="502920"/>
                <a:gridCol w="822960"/>
                <a:gridCol w="68580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Fit homes (net)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Homes kept (net)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EBITDA: fit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Paths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Boost-end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Household plan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Keep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Programme costs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EBITDA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Capex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Free cash flow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Cumulative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−86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−75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−135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−135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73k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59k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−10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−60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−11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−96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−231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2029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131k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119k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−60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−225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2030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177k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166k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−60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−154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2031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213k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204k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−60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274320" y="2542032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1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2031 revenue </a:t>
            </a:r>
            <a:pPr indent="0" marL="0">
              <a:buNone/>
            </a:pPr>
            <a:r>
              <a:rPr lang="en-US" sz="61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Rp1,134bn</a:t>
            </a:r>
            <a:pPr indent="0" marL="0">
              <a:buNone/>
            </a:pPr>
            <a:r>
              <a:rPr lang="en-US" sz="61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fit Rp328bn less Rp49bn of offloaded mobile data · paths Rp278bn · boost-end Rp37bn · household plan Rp100bn · keep Rp441bn, about 4.4% of today's ≈Rp25.6T household revenue. Tax: −20 (2027), −10, 4, 19, 33. Components are rounded in the model output, so some rows differ from their totals by Rp1bn.</a:t>
            </a:r>
            <a:endParaRPr lang="en-US" sz="610" dirty="0"/>
          </a:p>
        </p:txBody>
      </p:sp>
      <p:sp>
        <p:nvSpPr>
          <p:cNvPr id="13" name="Text 9"/>
          <p:cNvSpPr txBox="1"/>
          <p:nvPr/>
        </p:nvSpPr>
        <p:spPr>
          <a:xfrm>
            <a:off x="274320" y="28529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Scenarios (Rp bn)</a:t>
            </a:r>
            <a:endParaRPr lang="en-US" sz="800" dirty="0"/>
          </a:p>
        </p:txBody>
      </p:sp>
      <p:graphicFrame>
        <p:nvGraphicFramePr>
          <p:cNvPr id="7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63240"/>
          <a:ext cx="45720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777240"/>
                <a:gridCol w="1325880"/>
                <a:gridCol w="1005840"/>
              </a:tblGrid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Measure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input at its worse end (ungated)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Every input at its better end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5-year NPV (2027–2031)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−46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−618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1,301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NPV over the life of the homes won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−655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3,597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Cash payback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2031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reached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2028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Lowest cumulative cash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−231</a:t>
                      </a:r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(2028)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−823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IRR / B/C, life-of-homes cash flows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35.1% / 2.95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0"/>
          <p:cNvSpPr txBox="1"/>
          <p:nvPr/>
        </p:nvSpPr>
        <p:spPr>
          <a:xfrm>
            <a:off x="5029200" y="28529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gate as an option: expected life-of-homes NPV</a:t>
            </a:r>
            <a:endParaRPr lang="en-US" sz="8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983480" y="3017520"/>
          <a:ext cx="38862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1"/>
          <p:cNvSpPr txBox="1"/>
          <p:nvPr/>
        </p:nvSpPr>
        <p:spPr>
          <a:xfrm>
            <a:off x="274320" y="4626864"/>
            <a:ext cx="4572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Gate 1 fails: Rp98bn of cash (PV −Rp69bn after tax); at most Rp133bn if all 2027 capex and training had gone first.</a:t>
            </a:r>
            <a:endParaRPr lang="en-US" sz="58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23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Sensitivity: the inputs that move NPV most, the break-evens and the known biases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Model-v4 output: tornado on the 5-year NPV (base −Rp46bn), each input alone at its worse and better test value; break-evens one input at a time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37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41248"/>
            <a:ext cx="5394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Tornado on the 5-year NPV (Rp bn), sorted by absolute swing</a:t>
            </a:r>
            <a:endParaRPr lang="en-US" sz="800" dirty="0"/>
          </a:p>
        </p:txBody>
      </p:sp>
      <p:sp>
        <p:nvSpPr>
          <p:cNvPr id="11" name="line"/>
          <p:cNvSpPr/>
          <p:nvPr/>
        </p:nvSpPr>
        <p:spPr>
          <a:xfrm>
            <a:off x="3565246" y="1051560"/>
            <a:ext cx="0" cy="356616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line"/>
          <p:cNvSpPr/>
          <p:nvPr/>
        </p:nvSpPr>
        <p:spPr>
          <a:xfrm>
            <a:off x="4343400" y="1051560"/>
            <a:ext cx="0" cy="356616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</p:sp>
      <p:sp>
        <p:nvSpPr>
          <p:cNvPr id="13" name="Text 10"/>
          <p:cNvSpPr txBox="1"/>
          <p:nvPr/>
        </p:nvSpPr>
        <p:spPr>
          <a:xfrm>
            <a:off x="3199486" y="4617720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6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−46</a:t>
            </a:r>
            <a:endParaRPr lang="en-US" sz="560" dirty="0"/>
          </a:p>
        </p:txBody>
      </p:sp>
      <p:sp>
        <p:nvSpPr>
          <p:cNvPr id="14" name="Text 11"/>
          <p:cNvSpPr txBox="1"/>
          <p:nvPr/>
        </p:nvSpPr>
        <p:spPr>
          <a:xfrm>
            <a:off x="4160520" y="4617720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6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</a:t>
            </a:r>
            <a:endParaRPr lang="en-US" sz="560" dirty="0"/>
          </a:p>
        </p:txBody>
      </p:sp>
      <p:sp>
        <p:nvSpPr>
          <p:cNvPr id="15" name="Text 12"/>
          <p:cNvSpPr txBox="1"/>
          <p:nvPr/>
        </p:nvSpPr>
        <p:spPr>
          <a:xfrm>
            <a:off x="274320" y="10698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Margin on new fiber and kept homes (12–31%)</a:t>
            </a:r>
            <a:endParaRPr lang="en-US" sz="540" dirty="0"/>
          </a:p>
        </p:txBody>
      </p:sp>
      <p:sp>
        <p:nvSpPr>
          <p:cNvPr id="16" name="worse"/>
          <p:cNvSpPr/>
          <p:nvPr/>
        </p:nvSpPr>
        <p:spPr>
          <a:xfrm>
            <a:off x="2110435" y="1106424"/>
            <a:ext cx="1454810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better"/>
          <p:cNvSpPr/>
          <p:nvPr/>
        </p:nvSpPr>
        <p:spPr>
          <a:xfrm>
            <a:off x="3565246" y="1106424"/>
            <a:ext cx="1471727" cy="1371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726387" y="10698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-132</a:t>
            </a:r>
            <a:endParaRPr lang="en-US" sz="540" dirty="0"/>
          </a:p>
        </p:txBody>
      </p:sp>
      <p:sp>
        <p:nvSpPr>
          <p:cNvPr id="19" name="Text 16"/>
          <p:cNvSpPr txBox="1"/>
          <p:nvPr/>
        </p:nvSpPr>
        <p:spPr>
          <a:xfrm>
            <a:off x="5064404" y="106984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540" dirty="0"/>
          </a:p>
        </p:txBody>
      </p:sp>
      <p:sp>
        <p:nvSpPr>
          <p:cNvPr id="20" name="Text 17"/>
          <p:cNvSpPr txBox="1"/>
          <p:nvPr/>
        </p:nvSpPr>
        <p:spPr>
          <a:xfrm>
            <a:off x="274320" y="12893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→ family steps (0.25–1%)</a:t>
            </a:r>
            <a:endParaRPr lang="en-US" sz="540" dirty="0"/>
          </a:p>
        </p:txBody>
      </p:sp>
      <p:sp>
        <p:nvSpPr>
          <p:cNvPr id="21" name="worse"/>
          <p:cNvSpPr/>
          <p:nvPr/>
        </p:nvSpPr>
        <p:spPr>
          <a:xfrm>
            <a:off x="2753258" y="1325880"/>
            <a:ext cx="811987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2" name="better"/>
          <p:cNvSpPr/>
          <p:nvPr/>
        </p:nvSpPr>
        <p:spPr>
          <a:xfrm>
            <a:off x="3565246" y="1325880"/>
            <a:ext cx="1623974" cy="1371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369210" y="12893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-94</a:t>
            </a:r>
            <a:endParaRPr lang="en-US" sz="540" dirty="0"/>
          </a:p>
        </p:txBody>
      </p:sp>
      <p:sp>
        <p:nvSpPr>
          <p:cNvPr id="24" name="Text 21"/>
          <p:cNvSpPr txBox="1"/>
          <p:nvPr/>
        </p:nvSpPr>
        <p:spPr>
          <a:xfrm>
            <a:off x="5216652" y="128930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50</a:t>
            </a:r>
            <a:endParaRPr lang="en-US" sz="540" dirty="0"/>
          </a:p>
        </p:txBody>
      </p:sp>
      <p:sp>
        <p:nvSpPr>
          <p:cNvPr id="25" name="Text 22"/>
          <p:cNvSpPr txBox="1"/>
          <p:nvPr/>
        </p:nvSpPr>
        <p:spPr>
          <a:xfrm>
            <a:off x="274320" y="15087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Incremental marketing (Rp75–25bn)</a:t>
            </a:r>
            <a:endParaRPr lang="en-US" sz="540" dirty="0"/>
          </a:p>
        </p:txBody>
      </p:sp>
      <p:sp>
        <p:nvSpPr>
          <p:cNvPr id="26" name="worse"/>
          <p:cNvSpPr/>
          <p:nvPr/>
        </p:nvSpPr>
        <p:spPr>
          <a:xfrm>
            <a:off x="2025853" y="1545336"/>
            <a:ext cx="1539392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7" name="better"/>
          <p:cNvSpPr/>
          <p:nvPr/>
        </p:nvSpPr>
        <p:spPr>
          <a:xfrm>
            <a:off x="3565246" y="1545336"/>
            <a:ext cx="659740" cy="1371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1641805" y="15087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-137</a:t>
            </a:r>
            <a:endParaRPr lang="en-US" sz="540" dirty="0"/>
          </a:p>
        </p:txBody>
      </p:sp>
      <p:sp>
        <p:nvSpPr>
          <p:cNvPr id="29" name="Text 26"/>
          <p:cNvSpPr txBox="1"/>
          <p:nvPr/>
        </p:nvSpPr>
        <p:spPr>
          <a:xfrm>
            <a:off x="4252417" y="150876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-7</a:t>
            </a:r>
            <a:endParaRPr lang="en-US" sz="540" dirty="0"/>
          </a:p>
        </p:txBody>
      </p:sp>
      <p:sp>
        <p:nvSpPr>
          <p:cNvPr id="30" name="Text 27"/>
          <p:cNvSpPr txBox="1"/>
          <p:nvPr/>
        </p:nvSpPr>
        <p:spPr>
          <a:xfrm>
            <a:off x="274320" y="17282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 deadweight (10–0%)</a:t>
            </a:r>
            <a:endParaRPr lang="en-US" sz="540" dirty="0"/>
          </a:p>
        </p:txBody>
      </p:sp>
      <p:sp>
        <p:nvSpPr>
          <p:cNvPr id="31" name="worse"/>
          <p:cNvSpPr/>
          <p:nvPr/>
        </p:nvSpPr>
        <p:spPr>
          <a:xfrm>
            <a:off x="2161184" y="1764792"/>
            <a:ext cx="1404061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777136" y="17282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-129</a:t>
            </a:r>
            <a:endParaRPr lang="en-US" sz="540" dirty="0"/>
          </a:p>
        </p:txBody>
      </p:sp>
      <p:sp>
        <p:nvSpPr>
          <p:cNvPr id="33" name="Text 30"/>
          <p:cNvSpPr txBox="1"/>
          <p:nvPr/>
        </p:nvSpPr>
        <p:spPr>
          <a:xfrm>
            <a:off x="3592678" y="17282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-46</a:t>
            </a:r>
            <a:endParaRPr lang="en-US" sz="540" dirty="0"/>
          </a:p>
        </p:txBody>
      </p:sp>
      <p:sp>
        <p:nvSpPr>
          <p:cNvPr id="34" name="Text 31"/>
          <p:cNvSpPr txBox="1"/>
          <p:nvPr/>
        </p:nvSpPr>
        <p:spPr>
          <a:xfrm>
            <a:off x="274320" y="19476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Routing-down leakage (10–1%)</a:t>
            </a:r>
            <a:endParaRPr lang="en-US" sz="540" dirty="0"/>
          </a:p>
        </p:txBody>
      </p:sp>
      <p:sp>
        <p:nvSpPr>
          <p:cNvPr id="35" name="worse"/>
          <p:cNvSpPr/>
          <p:nvPr/>
        </p:nvSpPr>
        <p:spPr>
          <a:xfrm>
            <a:off x="2584094" y="1984248"/>
            <a:ext cx="981151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6" name="better"/>
          <p:cNvSpPr/>
          <p:nvPr/>
        </p:nvSpPr>
        <p:spPr>
          <a:xfrm>
            <a:off x="3565246" y="1984248"/>
            <a:ext cx="135331" cy="1371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2200046" y="19476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-104</a:t>
            </a:r>
            <a:endParaRPr lang="en-US" sz="540" dirty="0"/>
          </a:p>
        </p:txBody>
      </p:sp>
      <p:sp>
        <p:nvSpPr>
          <p:cNvPr id="38" name="Text 35"/>
          <p:cNvSpPr txBox="1"/>
          <p:nvPr/>
        </p:nvSpPr>
        <p:spPr>
          <a:xfrm>
            <a:off x="3728009" y="19476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-38</a:t>
            </a:r>
            <a:endParaRPr lang="en-US" sz="540" dirty="0"/>
          </a:p>
        </p:txBody>
      </p:sp>
      <p:sp>
        <p:nvSpPr>
          <p:cNvPr id="39" name="Text 36"/>
          <p:cNvSpPr txBox="1"/>
          <p:nvPr/>
        </p:nvSpPr>
        <p:spPr>
          <a:xfrm>
            <a:off x="274320" y="216712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Content and pack margin (30–50%)</a:t>
            </a:r>
            <a:endParaRPr lang="en-US" sz="540" dirty="0"/>
          </a:p>
        </p:txBody>
      </p:sp>
      <p:sp>
        <p:nvSpPr>
          <p:cNvPr id="40" name="worse"/>
          <p:cNvSpPr/>
          <p:nvPr/>
        </p:nvSpPr>
        <p:spPr>
          <a:xfrm>
            <a:off x="3040837" y="2203704"/>
            <a:ext cx="524408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1" name="better"/>
          <p:cNvSpPr/>
          <p:nvPr/>
        </p:nvSpPr>
        <p:spPr>
          <a:xfrm>
            <a:off x="3565246" y="2203704"/>
            <a:ext cx="541325" cy="1371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2656789" y="21671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-77</a:t>
            </a:r>
            <a:endParaRPr lang="en-US" sz="540" dirty="0"/>
          </a:p>
        </p:txBody>
      </p:sp>
      <p:sp>
        <p:nvSpPr>
          <p:cNvPr id="43" name="Text 40"/>
          <p:cNvSpPr txBox="1"/>
          <p:nvPr/>
        </p:nvSpPr>
        <p:spPr>
          <a:xfrm>
            <a:off x="4134002" y="21671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-14</a:t>
            </a:r>
            <a:endParaRPr lang="en-US" sz="540" dirty="0"/>
          </a:p>
        </p:txBody>
      </p:sp>
      <p:sp>
        <p:nvSpPr>
          <p:cNvPr id="44" name="Text 41"/>
          <p:cNvSpPr txBox="1"/>
          <p:nvPr/>
        </p:nvSpPr>
        <p:spPr>
          <a:xfrm>
            <a:off x="274320" y="2386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EZnet → IndiHome steps (1.5–5%)</a:t>
            </a:r>
            <a:endParaRPr lang="en-US" sz="540" dirty="0"/>
          </a:p>
        </p:txBody>
      </p:sp>
      <p:sp>
        <p:nvSpPr>
          <p:cNvPr id="45" name="worse"/>
          <p:cNvSpPr/>
          <p:nvPr/>
        </p:nvSpPr>
        <p:spPr>
          <a:xfrm>
            <a:off x="3125419" y="2423160"/>
            <a:ext cx="439826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46" name="better"/>
          <p:cNvSpPr/>
          <p:nvPr/>
        </p:nvSpPr>
        <p:spPr>
          <a:xfrm>
            <a:off x="3565246" y="2423160"/>
            <a:ext cx="592074" cy="1371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2741371" y="23865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-72</a:t>
            </a:r>
            <a:endParaRPr lang="en-US" sz="540" dirty="0"/>
          </a:p>
        </p:txBody>
      </p:sp>
      <p:sp>
        <p:nvSpPr>
          <p:cNvPr id="48" name="Text 45"/>
          <p:cNvSpPr txBox="1"/>
          <p:nvPr/>
        </p:nvSpPr>
        <p:spPr>
          <a:xfrm>
            <a:off x="4184752" y="238658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-11</a:t>
            </a:r>
            <a:endParaRPr lang="en-US" sz="540" dirty="0"/>
          </a:p>
        </p:txBody>
      </p:sp>
      <p:sp>
        <p:nvSpPr>
          <p:cNvPr id="49" name="Text 46"/>
          <p:cNvSpPr txBox="1"/>
          <p:nvPr/>
        </p:nvSpPr>
        <p:spPr>
          <a:xfrm>
            <a:off x="274320" y="26060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Lines added (1–3%)</a:t>
            </a:r>
            <a:endParaRPr lang="en-US" sz="540" dirty="0"/>
          </a:p>
        </p:txBody>
      </p:sp>
      <p:sp>
        <p:nvSpPr>
          <p:cNvPr id="50" name="worse"/>
          <p:cNvSpPr/>
          <p:nvPr/>
        </p:nvSpPr>
        <p:spPr>
          <a:xfrm>
            <a:off x="3057754" y="2642616"/>
            <a:ext cx="507492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1" name="better"/>
          <p:cNvSpPr/>
          <p:nvPr/>
        </p:nvSpPr>
        <p:spPr>
          <a:xfrm>
            <a:off x="3565246" y="2642616"/>
            <a:ext cx="507492" cy="1371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2673706" y="2606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-76</a:t>
            </a:r>
            <a:endParaRPr lang="en-US" sz="540" dirty="0"/>
          </a:p>
        </p:txBody>
      </p:sp>
      <p:sp>
        <p:nvSpPr>
          <p:cNvPr id="53" name="Text 50"/>
          <p:cNvSpPr txBox="1"/>
          <p:nvPr/>
        </p:nvSpPr>
        <p:spPr>
          <a:xfrm>
            <a:off x="4100170" y="26060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-16</a:t>
            </a:r>
            <a:endParaRPr lang="en-US" sz="540" dirty="0"/>
          </a:p>
        </p:txBody>
      </p:sp>
      <p:sp>
        <p:nvSpPr>
          <p:cNvPr id="54" name="Text 51"/>
          <p:cNvSpPr txBox="1"/>
          <p:nvPr/>
        </p:nvSpPr>
        <p:spPr>
          <a:xfrm>
            <a:off x="274320" y="28254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 save rate (5–15%)</a:t>
            </a:r>
            <a:endParaRPr lang="en-US" sz="540" dirty="0"/>
          </a:p>
        </p:txBody>
      </p:sp>
      <p:sp>
        <p:nvSpPr>
          <p:cNvPr id="55" name="worse"/>
          <p:cNvSpPr/>
          <p:nvPr/>
        </p:nvSpPr>
        <p:spPr>
          <a:xfrm>
            <a:off x="3091586" y="2862072"/>
            <a:ext cx="473659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6" name="better"/>
          <p:cNvSpPr/>
          <p:nvPr/>
        </p:nvSpPr>
        <p:spPr>
          <a:xfrm>
            <a:off x="3565246" y="2862072"/>
            <a:ext cx="473659" cy="1371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57" name="Text 54"/>
          <p:cNvSpPr txBox="1"/>
          <p:nvPr/>
        </p:nvSpPr>
        <p:spPr>
          <a:xfrm>
            <a:off x="2707538" y="28254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-74</a:t>
            </a:r>
            <a:endParaRPr lang="en-US" sz="540" dirty="0"/>
          </a:p>
        </p:txBody>
      </p:sp>
      <p:sp>
        <p:nvSpPr>
          <p:cNvPr id="58" name="Text 55"/>
          <p:cNvSpPr txBox="1"/>
          <p:nvPr/>
        </p:nvSpPr>
        <p:spPr>
          <a:xfrm>
            <a:off x="4066337" y="282549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-18</a:t>
            </a:r>
            <a:endParaRPr lang="en-US" sz="540" dirty="0"/>
          </a:p>
        </p:txBody>
      </p:sp>
      <p:sp>
        <p:nvSpPr>
          <p:cNvPr id="59" name="Text 56"/>
          <p:cNvSpPr txBox="1"/>
          <p:nvPr/>
        </p:nvSpPr>
        <p:spPr>
          <a:xfrm>
            <a:off x="274320" y="3044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 reach (5–15%)</a:t>
            </a:r>
            <a:endParaRPr lang="en-US" sz="540" dirty="0"/>
          </a:p>
        </p:txBody>
      </p:sp>
      <p:sp>
        <p:nvSpPr>
          <p:cNvPr id="60" name="worse"/>
          <p:cNvSpPr/>
          <p:nvPr/>
        </p:nvSpPr>
        <p:spPr>
          <a:xfrm>
            <a:off x="3091586" y="3081528"/>
            <a:ext cx="473659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1" name="better"/>
          <p:cNvSpPr/>
          <p:nvPr/>
        </p:nvSpPr>
        <p:spPr>
          <a:xfrm>
            <a:off x="3565246" y="3081528"/>
            <a:ext cx="473659" cy="1371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62" name="Text 59"/>
          <p:cNvSpPr txBox="1"/>
          <p:nvPr/>
        </p:nvSpPr>
        <p:spPr>
          <a:xfrm>
            <a:off x="2707538" y="3044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-74</a:t>
            </a:r>
            <a:endParaRPr lang="en-US" sz="540" dirty="0"/>
          </a:p>
        </p:txBody>
      </p:sp>
      <p:sp>
        <p:nvSpPr>
          <p:cNvPr id="63" name="Text 60"/>
          <p:cNvSpPr txBox="1"/>
          <p:nvPr/>
        </p:nvSpPr>
        <p:spPr>
          <a:xfrm>
            <a:off x="4066337" y="304495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-18</a:t>
            </a:r>
            <a:endParaRPr lang="en-US" sz="540" dirty="0"/>
          </a:p>
        </p:txBody>
      </p:sp>
      <p:sp>
        <p:nvSpPr>
          <p:cNvPr id="64" name="Text 61"/>
          <p:cNvSpPr txBox="1"/>
          <p:nvPr/>
        </p:nvSpPr>
        <p:spPr>
          <a:xfrm>
            <a:off x="274320" y="326440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Wi-Fi promise effect (−0.5 to −1.5pp)</a:t>
            </a:r>
            <a:endParaRPr lang="en-US" sz="540" dirty="0"/>
          </a:p>
        </p:txBody>
      </p:sp>
      <p:sp>
        <p:nvSpPr>
          <p:cNvPr id="65" name="worse"/>
          <p:cNvSpPr/>
          <p:nvPr/>
        </p:nvSpPr>
        <p:spPr>
          <a:xfrm>
            <a:off x="3091586" y="3300984"/>
            <a:ext cx="473659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6" name="better"/>
          <p:cNvSpPr/>
          <p:nvPr/>
        </p:nvSpPr>
        <p:spPr>
          <a:xfrm>
            <a:off x="3565246" y="3300984"/>
            <a:ext cx="473659" cy="1371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67" name="Text 64"/>
          <p:cNvSpPr txBox="1"/>
          <p:nvPr/>
        </p:nvSpPr>
        <p:spPr>
          <a:xfrm>
            <a:off x="2707538" y="32644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-74</a:t>
            </a:r>
            <a:endParaRPr lang="en-US" sz="540" dirty="0"/>
          </a:p>
        </p:txBody>
      </p:sp>
      <p:sp>
        <p:nvSpPr>
          <p:cNvPr id="68" name="Text 65"/>
          <p:cNvSpPr txBox="1"/>
          <p:nvPr/>
        </p:nvSpPr>
        <p:spPr>
          <a:xfrm>
            <a:off x="4066337" y="326440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-18</a:t>
            </a:r>
            <a:endParaRPr lang="en-US" sz="540" dirty="0"/>
          </a:p>
        </p:txBody>
      </p:sp>
      <p:sp>
        <p:nvSpPr>
          <p:cNvPr id="69" name="Text 66"/>
          <p:cNvSpPr txBox="1"/>
          <p:nvPr/>
        </p:nvSpPr>
        <p:spPr>
          <a:xfrm>
            <a:off x="274320" y="3483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Boost-end take-up (4–12%)</a:t>
            </a:r>
            <a:endParaRPr lang="en-US" sz="540" dirty="0"/>
          </a:p>
        </p:txBody>
      </p:sp>
      <p:sp>
        <p:nvSpPr>
          <p:cNvPr id="70" name="worse"/>
          <p:cNvSpPr/>
          <p:nvPr/>
        </p:nvSpPr>
        <p:spPr>
          <a:xfrm>
            <a:off x="3125419" y="3520440"/>
            <a:ext cx="439826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1" name="better"/>
          <p:cNvSpPr/>
          <p:nvPr/>
        </p:nvSpPr>
        <p:spPr>
          <a:xfrm>
            <a:off x="3565246" y="3520440"/>
            <a:ext cx="456743" cy="1371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72" name="Text 69"/>
          <p:cNvSpPr txBox="1"/>
          <p:nvPr/>
        </p:nvSpPr>
        <p:spPr>
          <a:xfrm>
            <a:off x="2741371" y="34838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-72</a:t>
            </a:r>
            <a:endParaRPr lang="en-US" sz="540" dirty="0"/>
          </a:p>
        </p:txBody>
      </p:sp>
      <p:sp>
        <p:nvSpPr>
          <p:cNvPr id="73" name="Text 70"/>
          <p:cNvSpPr txBox="1"/>
          <p:nvPr/>
        </p:nvSpPr>
        <p:spPr>
          <a:xfrm>
            <a:off x="4049420" y="3483864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-19</a:t>
            </a:r>
            <a:endParaRPr lang="en-US" sz="540" dirty="0"/>
          </a:p>
        </p:txBody>
      </p:sp>
      <p:sp>
        <p:nvSpPr>
          <p:cNvPr id="74" name="Text 71"/>
          <p:cNvSpPr txBox="1"/>
          <p:nvPr/>
        </p:nvSpPr>
        <p:spPr>
          <a:xfrm>
            <a:off x="274320" y="3703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 margin (15–49%)</a:t>
            </a:r>
            <a:endParaRPr lang="en-US" sz="540" dirty="0"/>
          </a:p>
        </p:txBody>
      </p:sp>
      <p:sp>
        <p:nvSpPr>
          <p:cNvPr id="75" name="worse"/>
          <p:cNvSpPr/>
          <p:nvPr/>
        </p:nvSpPr>
        <p:spPr>
          <a:xfrm>
            <a:off x="3412998" y="3739896"/>
            <a:ext cx="152248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6" name="better"/>
          <p:cNvSpPr/>
          <p:nvPr/>
        </p:nvSpPr>
        <p:spPr>
          <a:xfrm>
            <a:off x="3565246" y="3739896"/>
            <a:ext cx="693572" cy="1371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3028950" y="3703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-55</a:t>
            </a:r>
            <a:endParaRPr lang="en-US" sz="540" dirty="0"/>
          </a:p>
        </p:txBody>
      </p:sp>
      <p:sp>
        <p:nvSpPr>
          <p:cNvPr id="78" name="Text 75"/>
          <p:cNvSpPr txBox="1"/>
          <p:nvPr/>
        </p:nvSpPr>
        <p:spPr>
          <a:xfrm>
            <a:off x="4286250" y="370332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-5</a:t>
            </a:r>
            <a:endParaRPr lang="en-US" sz="540" dirty="0"/>
          </a:p>
        </p:txBody>
      </p:sp>
      <p:sp>
        <p:nvSpPr>
          <p:cNvPr id="79" name="Text 76"/>
          <p:cNvSpPr txBox="1"/>
          <p:nvPr/>
        </p:nvSpPr>
        <p:spPr>
          <a:xfrm>
            <a:off x="274320" y="39227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Mesh cost per home (Rp800–500k)</a:t>
            </a:r>
            <a:endParaRPr lang="en-US" sz="540" dirty="0"/>
          </a:p>
        </p:txBody>
      </p:sp>
      <p:sp>
        <p:nvSpPr>
          <p:cNvPr id="80" name="worse"/>
          <p:cNvSpPr/>
          <p:nvPr/>
        </p:nvSpPr>
        <p:spPr>
          <a:xfrm>
            <a:off x="3057754" y="3959352"/>
            <a:ext cx="507492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1" name="better"/>
          <p:cNvSpPr/>
          <p:nvPr/>
        </p:nvSpPr>
        <p:spPr>
          <a:xfrm>
            <a:off x="3565246" y="3959352"/>
            <a:ext cx="253746" cy="1371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82" name="Text 79"/>
          <p:cNvSpPr txBox="1"/>
          <p:nvPr/>
        </p:nvSpPr>
        <p:spPr>
          <a:xfrm>
            <a:off x="2673706" y="39227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-76</a:t>
            </a:r>
            <a:endParaRPr lang="en-US" sz="540" dirty="0"/>
          </a:p>
        </p:txBody>
      </p:sp>
      <p:sp>
        <p:nvSpPr>
          <p:cNvPr id="83" name="Text 80"/>
          <p:cNvSpPr txBox="1"/>
          <p:nvPr/>
        </p:nvSpPr>
        <p:spPr>
          <a:xfrm>
            <a:off x="3846424" y="392277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-31</a:t>
            </a:r>
            <a:endParaRPr lang="en-US" sz="540" dirty="0"/>
          </a:p>
        </p:txBody>
      </p:sp>
      <p:sp>
        <p:nvSpPr>
          <p:cNvPr id="84" name="Text 81"/>
          <p:cNvSpPr txBox="1"/>
          <p:nvPr/>
        </p:nvSpPr>
        <p:spPr>
          <a:xfrm>
            <a:off x="274320" y="41422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platform capex (Rp120–60bn)</a:t>
            </a:r>
            <a:endParaRPr lang="en-US" sz="540" dirty="0"/>
          </a:p>
        </p:txBody>
      </p:sp>
      <p:sp>
        <p:nvSpPr>
          <p:cNvPr id="85" name="worse"/>
          <p:cNvSpPr/>
          <p:nvPr/>
        </p:nvSpPr>
        <p:spPr>
          <a:xfrm>
            <a:off x="3074670" y="4178808"/>
            <a:ext cx="490576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6" name="better"/>
          <p:cNvSpPr/>
          <p:nvPr/>
        </p:nvSpPr>
        <p:spPr>
          <a:xfrm>
            <a:off x="3565246" y="4178808"/>
            <a:ext cx="253746" cy="1371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87" name="Text 84"/>
          <p:cNvSpPr txBox="1"/>
          <p:nvPr/>
        </p:nvSpPr>
        <p:spPr>
          <a:xfrm>
            <a:off x="2690622" y="4142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-75</a:t>
            </a:r>
            <a:endParaRPr lang="en-US" sz="540" dirty="0"/>
          </a:p>
        </p:txBody>
      </p:sp>
      <p:sp>
        <p:nvSpPr>
          <p:cNvPr id="88" name="Text 85"/>
          <p:cNvSpPr txBox="1"/>
          <p:nvPr/>
        </p:nvSpPr>
        <p:spPr>
          <a:xfrm>
            <a:off x="3846424" y="414223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-31</a:t>
            </a:r>
            <a:endParaRPr lang="en-US" sz="540" dirty="0"/>
          </a:p>
        </p:txBody>
      </p:sp>
      <p:sp>
        <p:nvSpPr>
          <p:cNvPr id="89" name="Text 86"/>
          <p:cNvSpPr txBox="1"/>
          <p:nvPr/>
        </p:nvSpPr>
        <p:spPr>
          <a:xfrm>
            <a:off x="274320" y="43616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 churn (25–15%)</a:t>
            </a:r>
            <a:endParaRPr lang="en-US" sz="540" dirty="0"/>
          </a:p>
        </p:txBody>
      </p:sp>
      <p:sp>
        <p:nvSpPr>
          <p:cNvPr id="90" name="worse"/>
          <p:cNvSpPr/>
          <p:nvPr/>
        </p:nvSpPr>
        <p:spPr>
          <a:xfrm>
            <a:off x="3226918" y="4398264"/>
            <a:ext cx="338328" cy="13716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91" name="better"/>
          <p:cNvSpPr/>
          <p:nvPr/>
        </p:nvSpPr>
        <p:spPr>
          <a:xfrm>
            <a:off x="3565246" y="4398264"/>
            <a:ext cx="372161" cy="137160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92" name="Text 89"/>
          <p:cNvSpPr txBox="1"/>
          <p:nvPr/>
        </p:nvSpPr>
        <p:spPr>
          <a:xfrm>
            <a:off x="2842870" y="43616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-66</a:t>
            </a:r>
            <a:endParaRPr lang="en-US" sz="540" dirty="0"/>
          </a:p>
        </p:txBody>
      </p:sp>
      <p:sp>
        <p:nvSpPr>
          <p:cNvPr id="93" name="Text 90"/>
          <p:cNvSpPr txBox="1"/>
          <p:nvPr/>
        </p:nvSpPr>
        <p:spPr>
          <a:xfrm>
            <a:off x="3964838" y="43616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-24</a:t>
            </a:r>
            <a:endParaRPr lang="en-US" sz="540" dirty="0"/>
          </a:p>
        </p:txBody>
      </p:sp>
      <p:sp>
        <p:nvSpPr>
          <p:cNvPr id="94" name="Text 91"/>
          <p:cNvSpPr txBox="1"/>
          <p:nvPr/>
        </p:nvSpPr>
        <p:spPr>
          <a:xfrm>
            <a:off x="5852160" y="8412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Break-evens (5-year NPV = 0, one input at a time)</a:t>
            </a:r>
            <a:endParaRPr lang="en-US" sz="8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051560"/>
          <a:ext cx="301752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685800"/>
                <a:gridCol w="777240"/>
              </a:tblGrid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Input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Break-even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Boost-end take-up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14.9%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Trigger save rate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18.2%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Wi-Fi promise effect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1pp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1.82pp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Margin on new and kept homes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21.5%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25.8%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Lines added a 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3.54%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EZnet steps a 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5.62%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Single → family a 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0.5%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0.74%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Incremental marketing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Rp40bn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Rp22bn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6" name="biases"/>
          <p:cNvSpPr/>
          <p:nvPr/>
        </p:nvSpPr>
        <p:spPr>
          <a:xfrm>
            <a:off x="5852160" y="3063240"/>
            <a:ext cx="3017520" cy="1664208"/>
          </a:xfrm>
          <a:prstGeom prst="roundRect">
            <a:avLst>
              <a:gd name="adj" fmla="val 3297"/>
            </a:avLst>
          </a:prstGeom>
          <a:solidFill>
            <a:srgbClr val="F1F5F9"/>
          </a:solidFill>
          <a:ln/>
        </p:spPr>
      </p:sp>
      <p:sp>
        <p:nvSpPr>
          <p:cNvPr id="97" name="Text 93"/>
          <p:cNvSpPr txBox="1"/>
          <p:nvPr/>
        </p:nvSpPr>
        <p:spPr>
          <a:xfrm>
            <a:off x="5925312" y="3090672"/>
            <a:ext cx="2880360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Life-of-homes view and known biases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Value stays positive down to a </a:t>
            </a:r>
            <a:pPr indent="0" marL="0">
              <a:buNone/>
            </a:pPr>
            <a:r>
              <a:rPr lang="en-US" sz="5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4.2%</a:t>
            </a:r>
            <a:pPr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margin and to </a:t>
            </a:r>
            <a:pPr indent="0" marL="0">
              <a:buNone/>
            </a:pPr>
            <a:r>
              <a:rPr lang="en-US" sz="5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55% of plan</a:t>
            </a:r>
            <a:pPr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on every take-up at once.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Conservative: Orbit at the fixed-line margin (at 35%, life NPV </a:t>
            </a:r>
            <a:pPr indent="0" marL="0">
              <a:buNone/>
            </a:pPr>
            <a:r>
              <a:rPr lang="en-US" sz="5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Rp435bn</a:t>
            </a:r>
            <a:pPr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).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Optimistic: 5% deadweight and saved homes churning at 30% → </a:t>
            </a:r>
            <a:pPr indent="0" marL="0">
              <a:buNone/>
            </a:pPr>
            <a:r>
              <a:rPr lang="en-US" sz="5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Rp272bn</a:t>
            </a:r>
            <a:pPr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half of step-ups would happen anyway → </a:t>
            </a:r>
            <a:pPr indent="0" marL="0">
              <a:buNone/>
            </a:pPr>
            <a:r>
              <a:rPr lang="en-US" sz="5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Rp227bn</a:t>
            </a:r>
            <a:pPr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(Rp164bn with half the lines too). Step rates are therefore measured as lift over a hold-out.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· Leakage breaks the case only at </a:t>
            </a:r>
            <a:pPr indent="0" marL="0">
              <a:buNone/>
            </a:pPr>
            <a:r>
              <a:rPr lang="en-US" sz="58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28%</a:t>
            </a:r>
            <a:pPr indent="0" marL="0">
              <a:buNone/>
            </a:pPr>
            <a:r>
              <a:rPr lang="en-US" sz="58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</a:t>
            </a:r>
            <a:endParaRPr lang="en-US" sz="5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24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Value split: what each pillar is worth, the reconciliation, and the price-led comparator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Model-v4 output: value = life-of-homes NPV lost with the move switched off; reconciliation; price comparator (9.513M × Rp10k × 12, ex-VAT)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38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4124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the moves to the total (life-of-homes NPV, Rp bn) </a:t>
            </a:r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endParaRPr lang="en-US" sz="800" dirty="0"/>
          </a:p>
        </p:txBody>
      </p:sp>
      <p:sp>
        <p:nvSpPr>
          <p:cNvPr id="11" name="wf Fit"/>
          <p:cNvSpPr/>
          <p:nvPr/>
        </p:nvSpPr>
        <p:spPr>
          <a:xfrm>
            <a:off x="320040" y="3963101"/>
            <a:ext cx="420624" cy="197419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28600" y="3807653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+53</a:t>
            </a:r>
            <a:endParaRPr lang="en-US" sz="630" dirty="0"/>
          </a:p>
        </p:txBody>
      </p:sp>
      <p:sp>
        <p:nvSpPr>
          <p:cNvPr id="13" name="Text 10"/>
          <p:cNvSpPr txBox="1"/>
          <p:nvPr/>
        </p:nvSpPr>
        <p:spPr>
          <a:xfrm>
            <a:off x="265176" y="41879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Fit</a:t>
            </a:r>
            <a:endParaRPr lang="en-US" sz="550" dirty="0"/>
          </a:p>
        </p:txBody>
      </p:sp>
      <p:sp>
        <p:nvSpPr>
          <p:cNvPr id="14" name="wf Paths: single → family"/>
          <p:cNvSpPr/>
          <p:nvPr/>
        </p:nvSpPr>
        <p:spPr>
          <a:xfrm>
            <a:off x="850392" y="3169700"/>
            <a:ext cx="420624" cy="793401"/>
          </a:xfrm>
          <a:prstGeom prst="rect">
            <a:avLst/>
          </a:prstGeom>
          <a:solidFill>
            <a:srgbClr val="A5002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58952" y="3014252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+213</a:t>
            </a:r>
            <a:endParaRPr lang="en-US" sz="630" dirty="0"/>
          </a:p>
        </p:txBody>
      </p:sp>
      <p:sp>
        <p:nvSpPr>
          <p:cNvPr id="16" name="Text 13"/>
          <p:cNvSpPr txBox="1"/>
          <p:nvPr/>
        </p:nvSpPr>
        <p:spPr>
          <a:xfrm>
            <a:off x="795528" y="41879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Paths: single → family</a:t>
            </a:r>
            <a:endParaRPr lang="en-US" sz="550" dirty="0"/>
          </a:p>
        </p:txBody>
      </p:sp>
      <p:sp>
        <p:nvSpPr>
          <p:cNvPr id="17" name="wf Paths: EZnet → IndiHome"/>
          <p:cNvSpPr/>
          <p:nvPr/>
        </p:nvSpPr>
        <p:spPr>
          <a:xfrm>
            <a:off x="1380744" y="2718988"/>
            <a:ext cx="420624" cy="450711"/>
          </a:xfrm>
          <a:prstGeom prst="rect">
            <a:avLst/>
          </a:prstGeom>
          <a:solidFill>
            <a:srgbClr val="A5002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1289304" y="2563540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+121</a:t>
            </a:r>
            <a:endParaRPr lang="en-US" sz="63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41879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Paths: EZnet → IndiHome</a:t>
            </a:r>
            <a:endParaRPr lang="en-US" sz="550" dirty="0"/>
          </a:p>
        </p:txBody>
      </p:sp>
      <p:sp>
        <p:nvSpPr>
          <p:cNvPr id="20" name="wf Paths: Orbit → fiber"/>
          <p:cNvSpPr/>
          <p:nvPr/>
        </p:nvSpPr>
        <p:spPr>
          <a:xfrm>
            <a:off x="1911096" y="2704089"/>
            <a:ext cx="420624" cy="14900"/>
          </a:xfrm>
          <a:prstGeom prst="rect">
            <a:avLst/>
          </a:prstGeom>
          <a:solidFill>
            <a:srgbClr val="A5002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819656" y="2548641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+4</a:t>
            </a:r>
            <a:endParaRPr lang="en-US" sz="630" dirty="0"/>
          </a:p>
        </p:txBody>
      </p:sp>
      <p:sp>
        <p:nvSpPr>
          <p:cNvPr id="22" name="Text 19"/>
          <p:cNvSpPr txBox="1"/>
          <p:nvPr/>
        </p:nvSpPr>
        <p:spPr>
          <a:xfrm>
            <a:off x="1856232" y="41879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Paths: Orbit → fiber</a:t>
            </a:r>
            <a:endParaRPr lang="en-US" sz="550" dirty="0"/>
          </a:p>
        </p:txBody>
      </p:sp>
      <p:sp>
        <p:nvSpPr>
          <p:cNvPr id="23" name="wf Household plan"/>
          <p:cNvSpPr/>
          <p:nvPr/>
        </p:nvSpPr>
        <p:spPr>
          <a:xfrm>
            <a:off x="2441448" y="2238478"/>
            <a:ext cx="420624" cy="465611"/>
          </a:xfrm>
          <a:prstGeom prst="rect">
            <a:avLst/>
          </a:prstGeom>
          <a:solidFill>
            <a:srgbClr val="C2566C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2350008" y="2083030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+125</a:t>
            </a:r>
            <a:endParaRPr lang="en-US" sz="630" dirty="0"/>
          </a:p>
        </p:txBody>
      </p:sp>
      <p:sp>
        <p:nvSpPr>
          <p:cNvPr id="25" name="Text 22"/>
          <p:cNvSpPr txBox="1"/>
          <p:nvPr/>
        </p:nvSpPr>
        <p:spPr>
          <a:xfrm>
            <a:off x="2386584" y="41879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plan</a:t>
            </a:r>
            <a:endParaRPr lang="en-US" sz="550" dirty="0"/>
          </a:p>
        </p:txBody>
      </p:sp>
      <p:sp>
        <p:nvSpPr>
          <p:cNvPr id="26" name="wf Boost-end choice"/>
          <p:cNvSpPr/>
          <p:nvPr/>
        </p:nvSpPr>
        <p:spPr>
          <a:xfrm>
            <a:off x="2971800" y="1974011"/>
            <a:ext cx="420624" cy="264467"/>
          </a:xfrm>
          <a:prstGeom prst="rect">
            <a:avLst/>
          </a:prstGeom>
          <a:solidFill>
            <a:srgbClr val="E58C9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2880360" y="1818563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+71</a:t>
            </a:r>
            <a:endParaRPr lang="en-US" sz="630" dirty="0"/>
          </a:p>
        </p:txBody>
      </p:sp>
      <p:sp>
        <p:nvSpPr>
          <p:cNvPr id="28" name="Text 25"/>
          <p:cNvSpPr txBox="1"/>
          <p:nvPr/>
        </p:nvSpPr>
        <p:spPr>
          <a:xfrm>
            <a:off x="2916936" y="41879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Boost-end choice</a:t>
            </a:r>
            <a:endParaRPr lang="en-US" sz="550" dirty="0"/>
          </a:p>
        </p:txBody>
      </p:sp>
      <p:sp>
        <p:nvSpPr>
          <p:cNvPr id="29" name="wf Keep"/>
          <p:cNvSpPr/>
          <p:nvPr/>
        </p:nvSpPr>
        <p:spPr>
          <a:xfrm>
            <a:off x="3502152" y="1325880"/>
            <a:ext cx="420624" cy="648131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410712" y="1170432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+174</a:t>
            </a:r>
            <a:endParaRPr lang="en-US" sz="630" dirty="0"/>
          </a:p>
        </p:txBody>
      </p:sp>
      <p:sp>
        <p:nvSpPr>
          <p:cNvPr id="31" name="Text 28"/>
          <p:cNvSpPr txBox="1"/>
          <p:nvPr/>
        </p:nvSpPr>
        <p:spPr>
          <a:xfrm>
            <a:off x="3447288" y="41879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Keep</a:t>
            </a:r>
            <a:endParaRPr lang="en-US" sz="550" dirty="0"/>
          </a:p>
        </p:txBody>
      </p:sp>
      <p:sp>
        <p:nvSpPr>
          <p:cNvPr id="32" name="wf Costs no move owns"/>
          <p:cNvSpPr/>
          <p:nvPr/>
        </p:nvSpPr>
        <p:spPr>
          <a:xfrm>
            <a:off x="4032504" y="1325880"/>
            <a:ext cx="420624" cy="1352134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3941064" y="1170432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−363</a:t>
            </a:r>
            <a:endParaRPr lang="en-US" sz="630" dirty="0"/>
          </a:p>
        </p:txBody>
      </p:sp>
      <p:sp>
        <p:nvSpPr>
          <p:cNvPr id="34" name="Text 31"/>
          <p:cNvSpPr txBox="1"/>
          <p:nvPr/>
        </p:nvSpPr>
        <p:spPr>
          <a:xfrm>
            <a:off x="3977640" y="41879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Costs no move owns</a:t>
            </a:r>
            <a:endParaRPr lang="en-US" sz="550" dirty="0"/>
          </a:p>
        </p:txBody>
      </p:sp>
      <p:sp>
        <p:nvSpPr>
          <p:cNvPr id="35" name="wf Interaction"/>
          <p:cNvSpPr/>
          <p:nvPr/>
        </p:nvSpPr>
        <p:spPr>
          <a:xfrm>
            <a:off x="4562856" y="2678014"/>
            <a:ext cx="420624" cy="1490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4471416" y="2522566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−4</a:t>
            </a:r>
            <a:endParaRPr lang="en-US" sz="630" dirty="0"/>
          </a:p>
        </p:txBody>
      </p:sp>
      <p:sp>
        <p:nvSpPr>
          <p:cNvPr id="37" name="Text 34"/>
          <p:cNvSpPr txBox="1"/>
          <p:nvPr/>
        </p:nvSpPr>
        <p:spPr>
          <a:xfrm>
            <a:off x="4507992" y="41879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Interaction</a:t>
            </a:r>
            <a:endParaRPr lang="en-US" sz="550" dirty="0"/>
          </a:p>
        </p:txBody>
      </p:sp>
      <p:sp>
        <p:nvSpPr>
          <p:cNvPr id="38" name="wf Total"/>
          <p:cNvSpPr/>
          <p:nvPr/>
        </p:nvSpPr>
        <p:spPr>
          <a:xfrm>
            <a:off x="5093208" y="2692914"/>
            <a:ext cx="420624" cy="1467606"/>
          </a:xfrm>
          <a:prstGeom prst="rect">
            <a:avLst/>
          </a:prstGeom>
          <a:solidFill>
            <a:srgbClr val="E4002B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5001768" y="2537466"/>
            <a:ext cx="6035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394</a:t>
            </a:r>
            <a:endParaRPr lang="en-US" sz="630" dirty="0"/>
          </a:p>
        </p:txBody>
      </p:sp>
      <p:sp>
        <p:nvSpPr>
          <p:cNvPr id="40" name="Text 37"/>
          <p:cNvSpPr txBox="1"/>
          <p:nvPr/>
        </p:nvSpPr>
        <p:spPr>
          <a:xfrm>
            <a:off x="5038344" y="4187952"/>
            <a:ext cx="530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</a:t>
            </a:r>
            <a:endParaRPr lang="en-US" sz="550" dirty="0"/>
          </a:p>
        </p:txBody>
      </p:sp>
      <p:sp>
        <p:nvSpPr>
          <p:cNvPr id="41" name="line"/>
          <p:cNvSpPr/>
          <p:nvPr/>
        </p:nvSpPr>
        <p:spPr>
          <a:xfrm>
            <a:off x="274320" y="4160520"/>
            <a:ext cx="5303520" cy="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943600" y="84124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Reconciliation</a:t>
            </a:r>
            <a:endParaRPr lang="en-US" sz="8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051560"/>
          <a:ext cx="29260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73152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Item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3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 bn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Paths (ladder 334 + Orbit 4)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338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Household plan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Boost-end choice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Keep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Sum of moves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761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Costs no move owns (platforms, marketing, office)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−363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Interaction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−4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Total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600" b="1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394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4" name="Image 1" descr="comparato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3429000"/>
            <a:ext cx="2926080" cy="1298448"/>
          </a:xfrm>
          <a:prstGeom prst="rect">
            <a:avLst/>
          </a:prstGeom>
        </p:spPr>
      </p:pic>
      <p:sp>
        <p:nvSpPr>
          <p:cNvPr id="45" name="Text 40"/>
          <p:cNvSpPr txBox="1"/>
          <p:nvPr/>
        </p:nvSpPr>
        <p:spPr>
          <a:xfrm>
            <a:off x="6035040" y="3456432"/>
            <a:ext cx="276148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price-led alternative, in one line</a:t>
            </a:r>
            <a:endParaRPr lang="en-US" sz="600" dirty="0"/>
          </a:p>
          <a:p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</a:t>
            </a:r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Rp10k</a:t>
            </a:r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off IndiHome across the base costs </a:t>
            </a:r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≈Rp1,142bn a year</a:t>
            </a:r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, nearly all of it margin because a price cut saves no cost: over five times the </a:t>
            </a:r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Rp210bn</a:t>
            </a:r>
            <a:pPr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EBITDA a year this plan adds by 2031. Holding price while meeting the Rp100k front with Orbit's flexible start is the core of "without relying primarily on price competition".</a:t>
            </a:r>
            <a:endParaRPr lang="en-US" sz="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25 (1/2)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Risks: twelve risks with early warnings, triggers and the actions they set off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03 §9; NPV at stake from the model-v4 tornado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39</a:t>
            </a:r>
            <a:endParaRPr lang="en-US" sz="9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41248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1828800"/>
                <a:gridCol w="777240"/>
                <a:gridCol w="1691640"/>
                <a:gridCol w="2971800"/>
                <a:gridCol w="10515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Risk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Likelihood · impact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Early warning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Trigger → action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NPV at stake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Routing down cannibalises revenue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 · 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Revenue per paying home, pilot vs control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Leakage &gt; 5% → tighten price fences; Orbit not shown to settled heavy homes with fiber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Rp46bn life value at 5%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Boost-end backlash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 · 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Complaints, churn in the test arm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Take-up &lt; 4.8% at month 3 → outcome packs as default; never a silent cut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Rp53bn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Rival price response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 · 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 where a rival builds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Rival build detected → triggers and Wi-Fi checks there first; no headline cut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Rp56bn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 protection (PDP law)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 · 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Opt-in rate; complaints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Opt-in &lt; 5% → simplify consent; no location data without a lawful basis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Home-check volume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Wholesale cost makes budget fiber uneconomic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 · 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Incremental cost per budget home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Above ≈Rp90k → budget homes to Orbit only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modelled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Teams resist household KPIs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 · 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KPI adoption in reviews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in 2027 KPI contracts → Phase 0 does not exit; escalate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 levers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Billing or IT slips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 · 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 start date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Slip &gt; 1 month → run the test by SMS on one cohort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Rp53bn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InfraNexia port data withheld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 · 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Agreement signed in Phase 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signed → availability only; EZnet where field teams confirm ports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Fit volume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Agents ignore the fit check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 · 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 of agent sales through the check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 60% → incentives only on sales made through 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Fit volume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Offload larger than assumed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 · 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Mobile data revenue per converged family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&gt; Rp100k a month → target rival areas only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Rp48bn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Capital rationing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 · 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Gate decisions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Capex in tranches; mesh can slip a 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Rp45bn (mesh)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Reallocated marketing not released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 · 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Budget transfers signed in Phase 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signed → P&amp;L owner funds within the cap; roll-out waits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Rp130bn swing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25 (2/2)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Feasibility and trade-offs: the constraint check and how the six objectives are balanced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03 §10, §2–§9; Telkomsel AR 2025 cash flow (S03)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8412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Constraint check</a:t>
            </a:r>
            <a:endParaRPr lang="en-US" sz="8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4206240" cy="914400"/>
        </p:xfrm>
        <a:graphic>
          <a:graphicData uri="http://schemas.openxmlformats.org/drawingml/2006/table">
            <a:tbl>
              <a:tblPr/>
              <a:tblGrid>
                <a:gridCol w="960120"/>
                <a:gridCol w="731520"/>
                <a:gridCol w="25146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Constraint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Verdict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Capital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Feasible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Rp295bn capex over five years, after the gates; 2025 free cash flow Rp22.5T, financing outflows Rp22.9T, so spend is phased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Regulation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With care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Consent-based offers (PDP law); one VAT-inclusive price; notice before a boost ends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Wholesale and group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Partly ours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D3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Port-fill terms need the group; the plan works without them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Technology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Feasible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Channel logic; household linking on existing CVM analytics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Organisation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Hardest part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3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One P&amp;L owner, KPI contracts, shared bonus pool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Feasible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Quick wins in weeks; boost-end test from Jan 2027; national by 2028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Competition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Defensible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Fit, family relationship and reach are harder to copy than a price; XL SATU can copy convergence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4663440" y="841248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Trade-offs between the case's six objectives, and how the plan sets them</a:t>
            </a:r>
            <a:endParaRPr lang="en-US" sz="800" dirty="0"/>
          </a:p>
        </p:txBody>
      </p:sp>
      <p:sp>
        <p:nvSpPr>
          <p:cNvPr id="13" name="tr"/>
          <p:cNvSpPr/>
          <p:nvPr/>
        </p:nvSpPr>
        <p:spPr>
          <a:xfrm>
            <a:off x="4663440" y="1051560"/>
            <a:ext cx="4206240" cy="530352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36592" y="105156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Acquisition vs margin</a:t>
            </a:r>
            <a:endParaRPr lang="en-US" sz="640" dirty="0"/>
          </a:p>
        </p:txBody>
      </p:sp>
      <p:sp>
        <p:nvSpPr>
          <p:cNvPr id="15" name="Text 11"/>
          <p:cNvSpPr txBox="1"/>
          <p:nvPr/>
        </p:nvSpPr>
        <p:spPr>
          <a:xfrm>
            <a:off x="5989320" y="105156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Home Wi-Fi offloads phone data, so the home check targets families a rival is about to connect (they pay from month one)</a:t>
            </a:r>
            <a:endParaRPr lang="en-US" sz="600" dirty="0"/>
          </a:p>
        </p:txBody>
      </p:sp>
      <p:sp>
        <p:nvSpPr>
          <p:cNvPr id="16" name="tr"/>
          <p:cNvSpPr/>
          <p:nvPr/>
        </p:nvSpPr>
        <p:spPr>
          <a:xfrm>
            <a:off x="4663440" y="1655064"/>
            <a:ext cx="42062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736592" y="1655064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Affordability vs monetisation</a:t>
            </a:r>
            <a:endParaRPr lang="en-US" sz="640" dirty="0"/>
          </a:p>
        </p:txBody>
      </p:sp>
      <p:sp>
        <p:nvSpPr>
          <p:cNvPr id="18" name="Text 14"/>
          <p:cNvSpPr txBox="1"/>
          <p:nvPr/>
        </p:nvSpPr>
        <p:spPr>
          <a:xfrm>
            <a:off x="5989320" y="165506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 gives a no-commitment start; price fences keep routing-down leakage under 5% of new homes</a:t>
            </a:r>
            <a:endParaRPr lang="en-US" sz="600" dirty="0"/>
          </a:p>
        </p:txBody>
      </p:sp>
      <p:sp>
        <p:nvSpPr>
          <p:cNvPr id="19" name="tr"/>
          <p:cNvSpPr/>
          <p:nvPr/>
        </p:nvSpPr>
        <p:spPr>
          <a:xfrm>
            <a:off x="4663440" y="2258568"/>
            <a:ext cx="4206240" cy="530352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36592" y="2258568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Retention vs monetisation</a:t>
            </a:r>
            <a:endParaRPr lang="en-US" sz="640" dirty="0"/>
          </a:p>
        </p:txBody>
      </p:sp>
      <p:sp>
        <p:nvSpPr>
          <p:cNvPr id="21" name="Text 17"/>
          <p:cNvSpPr txBox="1"/>
          <p:nvPr/>
        </p:nvSpPr>
        <p:spPr>
          <a:xfrm>
            <a:off x="5989320" y="225856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Cheaper plans only to save a leaving home; a random hold-out measures the deadweight</a:t>
            </a:r>
            <a:endParaRPr lang="en-US" sz="600" dirty="0"/>
          </a:p>
        </p:txBody>
      </p:sp>
      <p:sp>
        <p:nvSpPr>
          <p:cNvPr id="22" name="tr"/>
          <p:cNvSpPr/>
          <p:nvPr/>
        </p:nvSpPr>
        <p:spPr>
          <a:xfrm>
            <a:off x="4663440" y="2862072"/>
            <a:ext cx="42062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4736592" y="2862072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Experience vs capital</a:t>
            </a:r>
            <a:endParaRPr lang="en-US" sz="640" dirty="0"/>
          </a:p>
        </p:txBody>
      </p:sp>
      <p:sp>
        <p:nvSpPr>
          <p:cNvPr id="24" name="Text 20"/>
          <p:cNvSpPr txBox="1"/>
          <p:nvPr/>
        </p:nvSpPr>
        <p:spPr>
          <a:xfrm>
            <a:off x="5989320" y="286207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Mesh only for 75k at-risk homes a year in contested cities, released in tranches after Gate 1b</a:t>
            </a:r>
            <a:endParaRPr lang="en-US" sz="600" dirty="0"/>
          </a:p>
        </p:txBody>
      </p:sp>
      <p:sp>
        <p:nvSpPr>
          <p:cNvPr id="25" name="tr"/>
          <p:cNvSpPr/>
          <p:nvPr/>
        </p:nvSpPr>
        <p:spPr>
          <a:xfrm>
            <a:off x="4663440" y="3465576"/>
            <a:ext cx="4206240" cy="530352"/>
          </a:xfrm>
          <a:prstGeom prst="roundRect">
            <a:avLst>
              <a:gd name="adj" fmla="val 6897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736592" y="3465576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Differentiation vs simplicity</a:t>
            </a:r>
            <a:endParaRPr lang="en-US" sz="640" dirty="0"/>
          </a:p>
        </p:txBody>
      </p:sp>
      <p:sp>
        <p:nvSpPr>
          <p:cNvPr id="27" name="Text 23"/>
          <p:cNvSpPr txBox="1"/>
          <p:nvPr/>
        </p:nvSpPr>
        <p:spPr>
          <a:xfrm>
            <a:off x="5989320" y="346557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Five products keep five distinct jobs; the nine overlapping offers are cut back</a:t>
            </a:r>
            <a:endParaRPr lang="en-US" sz="600" dirty="0"/>
          </a:p>
        </p:txBody>
      </p:sp>
      <p:sp>
        <p:nvSpPr>
          <p:cNvPr id="28" name="tr"/>
          <p:cNvSpPr/>
          <p:nvPr/>
        </p:nvSpPr>
        <p:spPr>
          <a:xfrm>
            <a:off x="4663440" y="4069080"/>
            <a:ext cx="4206240" cy="530352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4736592" y="406908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Growth vs prudence</a:t>
            </a:r>
            <a:endParaRPr lang="en-US" sz="640" dirty="0"/>
          </a:p>
        </p:txBody>
      </p:sp>
      <p:sp>
        <p:nvSpPr>
          <p:cNvPr id="30" name="Text 26"/>
          <p:cNvSpPr txBox="1"/>
          <p:nvPr/>
        </p:nvSpPr>
        <p:spPr>
          <a:xfrm>
            <a:off x="5989320" y="406908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Gates at 60% of plan: a failed pilot stops at about Rp98bn of cash</a:t>
            </a:r>
            <a:endParaRPr lang="en-US" sz="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26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Theme: how the solution creates lasting value responsibly, with a target for each commitment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03 §6.2; file 02 §19; tSurvey in Telkomsel AR 2025 p.12 (S03); modem refurbishment p.159 (S03); PDP law UU 27/2022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41</a:t>
            </a:r>
            <a:endParaRPr lang="en-US" sz="900" dirty="0"/>
          </a:p>
        </p:txBody>
      </p:sp>
      <p:sp>
        <p:nvSpPr>
          <p:cNvPr id="10" name="theme Fair terms"/>
          <p:cNvSpPr/>
          <p:nvPr/>
        </p:nvSpPr>
        <p:spPr>
          <a:xfrm>
            <a:off x="274320" y="868680"/>
            <a:ext cx="210312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1" name="head"/>
          <p:cNvSpPr/>
          <p:nvPr/>
        </p:nvSpPr>
        <p:spPr>
          <a:xfrm>
            <a:off x="274320" y="8686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74320" y="868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Fair terms</a:t>
            </a:r>
            <a:endParaRPr lang="en-US" sz="720" dirty="0"/>
          </a:p>
        </p:txBody>
      </p:sp>
      <p:sp>
        <p:nvSpPr>
          <p:cNvPr id="13" name="Text 10"/>
          <p:cNvSpPr txBox="1"/>
          <p:nvPr/>
        </p:nvSpPr>
        <p:spPr>
          <a:xfrm>
            <a:off x="347472" y="1197864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Sales paid on homes that keep paying; no silent end to a boost</a:t>
            </a:r>
            <a:endParaRPr lang="en-US" sz="600" dirty="0"/>
          </a:p>
        </p:txBody>
      </p:sp>
      <p:sp>
        <p:nvSpPr>
          <p:cNvPr id="14" name="Text 11"/>
          <p:cNvSpPr txBox="1"/>
          <p:nvPr/>
        </p:nvSpPr>
        <p:spPr>
          <a:xfrm>
            <a:off x="347472" y="178308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KPI:</a:t>
            </a:r>
            <a:pPr indent="0" marL="0">
              <a:buNone/>
            </a:pPr>
            <a:r>
              <a:rPr lang="en-US" sz="59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Share of new homes paying at 12 months</a:t>
            </a:r>
            <a:endParaRPr lang="en-US" sz="590" dirty="0"/>
          </a:p>
        </p:txBody>
      </p:sp>
      <p:sp>
        <p:nvSpPr>
          <p:cNvPr id="15" name="target"/>
          <p:cNvSpPr/>
          <p:nvPr/>
        </p:nvSpPr>
        <p:spPr>
          <a:xfrm>
            <a:off x="347472" y="2167128"/>
            <a:ext cx="1956816" cy="438912"/>
          </a:xfrm>
          <a:prstGeom prst="roundRect">
            <a:avLst>
              <a:gd name="adj" fmla="val 8333"/>
            </a:avLst>
          </a:prstGeom>
          <a:solidFill>
            <a:srgbClr val="FDEC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84048" y="216712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</a:t>
            </a:r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≥ 90% by 2028</a:t>
            </a:r>
            <a:endParaRPr lang="en-US" sz="590" dirty="0"/>
          </a:p>
        </p:txBody>
      </p:sp>
      <p:sp>
        <p:nvSpPr>
          <p:cNvPr id="17" name="theme Price transparency"/>
          <p:cNvSpPr/>
          <p:nvPr/>
        </p:nvSpPr>
        <p:spPr>
          <a:xfrm>
            <a:off x="2441448" y="868680"/>
            <a:ext cx="210312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18" name="head"/>
          <p:cNvSpPr/>
          <p:nvPr/>
        </p:nvSpPr>
        <p:spPr>
          <a:xfrm>
            <a:off x="2441448" y="8686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A5002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2441448" y="868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Price transparency</a:t>
            </a:r>
            <a:endParaRPr lang="en-US" sz="720" dirty="0"/>
          </a:p>
        </p:txBody>
      </p:sp>
      <p:sp>
        <p:nvSpPr>
          <p:cNvPr id="20" name="Text 17"/>
          <p:cNvSpPr txBox="1"/>
          <p:nvPr/>
        </p:nvSpPr>
        <p:spPr>
          <a:xfrm>
            <a:off x="2514600" y="1197864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VAT-inclusive price everywhere</a:t>
            </a:r>
            <a:endParaRPr lang="en-US" sz="600" dirty="0"/>
          </a:p>
        </p:txBody>
      </p:sp>
      <p:sp>
        <p:nvSpPr>
          <p:cNvPr id="21" name="Text 18"/>
          <p:cNvSpPr txBox="1"/>
          <p:nvPr/>
        </p:nvSpPr>
        <p:spPr>
          <a:xfrm>
            <a:off x="2514600" y="178308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KPI:</a:t>
            </a:r>
            <a:pPr indent="0" marL="0">
              <a:buNone/>
            </a:pPr>
            <a:r>
              <a:rPr lang="en-US" sz="59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Channels quoting the same price (mystery shop)</a:t>
            </a:r>
            <a:endParaRPr lang="en-US" sz="590" dirty="0"/>
          </a:p>
        </p:txBody>
      </p:sp>
      <p:sp>
        <p:nvSpPr>
          <p:cNvPr id="22" name="target"/>
          <p:cNvSpPr/>
          <p:nvPr/>
        </p:nvSpPr>
        <p:spPr>
          <a:xfrm>
            <a:off x="2514600" y="2167128"/>
            <a:ext cx="1956816" cy="438912"/>
          </a:xfrm>
          <a:prstGeom prst="roundRect">
            <a:avLst>
              <a:gd name="adj" fmla="val 8333"/>
            </a:avLst>
          </a:prstGeom>
          <a:solidFill>
            <a:srgbClr val="FDECEF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2551176" y="216712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</a:t>
            </a:r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100% by the end of Phase 0</a:t>
            </a:r>
            <a:endParaRPr lang="en-US" sz="590" dirty="0"/>
          </a:p>
        </p:txBody>
      </p:sp>
      <p:sp>
        <p:nvSpPr>
          <p:cNvPr id="24" name="theme Digital inclusion"/>
          <p:cNvSpPr/>
          <p:nvPr/>
        </p:nvSpPr>
        <p:spPr>
          <a:xfrm>
            <a:off x="4608576" y="868680"/>
            <a:ext cx="210312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25" name="head"/>
          <p:cNvSpPr/>
          <p:nvPr/>
        </p:nvSpPr>
        <p:spPr>
          <a:xfrm>
            <a:off x="4608576" y="8686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F2937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4608576" y="868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inclusion</a:t>
            </a:r>
            <a:endParaRPr lang="en-US" sz="720" dirty="0"/>
          </a:p>
        </p:txBody>
      </p:sp>
      <p:sp>
        <p:nvSpPr>
          <p:cNvPr id="27" name="Text 24"/>
          <p:cNvSpPr txBox="1"/>
          <p:nvPr/>
        </p:nvSpPr>
        <p:spPr>
          <a:xfrm>
            <a:off x="4681728" y="1197864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first connection without commitment; wireless homes where fiber is absent</a:t>
            </a:r>
            <a:endParaRPr lang="en-US" sz="600" dirty="0"/>
          </a:p>
        </p:txBody>
      </p:sp>
      <p:sp>
        <p:nvSpPr>
          <p:cNvPr id="28" name="Text 25"/>
          <p:cNvSpPr txBox="1"/>
          <p:nvPr/>
        </p:nvSpPr>
        <p:spPr>
          <a:xfrm>
            <a:off x="4681728" y="178308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KPI:</a:t>
            </a:r>
            <a:pPr indent="0" marL="0">
              <a:buNone/>
            </a:pPr>
            <a:r>
              <a:rPr lang="en-US" sz="59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Orbit starts and the first-time share</a:t>
            </a:r>
            <a:endParaRPr lang="en-US" sz="590" dirty="0"/>
          </a:p>
        </p:txBody>
      </p:sp>
      <p:sp>
        <p:nvSpPr>
          <p:cNvPr id="29" name="target"/>
          <p:cNvSpPr/>
          <p:nvPr/>
        </p:nvSpPr>
        <p:spPr>
          <a:xfrm>
            <a:off x="4681728" y="2167128"/>
            <a:ext cx="1956816" cy="438912"/>
          </a:xfrm>
          <a:prstGeom prst="roundRect">
            <a:avLst>
              <a:gd name="adj" fmla="val 8333"/>
            </a:avLst>
          </a:prstGeom>
          <a:solidFill>
            <a:srgbClr val="FDECEF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718304" y="216712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</a:t>
            </a:r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≈36k Orbit starts a year </a:t>
            </a:r>
            <a:pPr indent="0" marL="0">
              <a:buNone/>
            </a:pPr>
            <a:r>
              <a:rPr lang="en-US" sz="59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; first-time share in the fiber-dark pilot ≥ 60% of the Phase 0 estimate</a:t>
            </a:r>
            <a:endParaRPr lang="en-US" sz="590" dirty="0"/>
          </a:p>
        </p:txBody>
      </p:sp>
      <p:sp>
        <p:nvSpPr>
          <p:cNvPr id="31" name="theme Child online safety"/>
          <p:cNvSpPr/>
          <p:nvPr/>
        </p:nvSpPr>
        <p:spPr>
          <a:xfrm>
            <a:off x="6775704" y="868680"/>
            <a:ext cx="210312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2" name="head"/>
          <p:cNvSpPr/>
          <p:nvPr/>
        </p:nvSpPr>
        <p:spPr>
          <a:xfrm>
            <a:off x="6775704" y="86868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47556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6775704" y="8686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Child online safety</a:t>
            </a:r>
            <a:endParaRPr lang="en-US" sz="720" dirty="0"/>
          </a:p>
        </p:txBody>
      </p:sp>
      <p:sp>
        <p:nvSpPr>
          <p:cNvPr id="34" name="Text 31"/>
          <p:cNvSpPr txBox="1"/>
          <p:nvPr/>
        </p:nvSpPr>
        <p:spPr>
          <a:xfrm>
            <a:off x="6848856" y="1197864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Parental controls in the household plan (86% of 1,000 surveyed interested)</a:t>
            </a:r>
            <a:endParaRPr lang="en-US" sz="600" dirty="0"/>
          </a:p>
        </p:txBody>
      </p:sp>
      <p:sp>
        <p:nvSpPr>
          <p:cNvPr id="35" name="Text 32"/>
          <p:cNvSpPr txBox="1"/>
          <p:nvPr/>
        </p:nvSpPr>
        <p:spPr>
          <a:xfrm>
            <a:off x="6848856" y="178308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KPI:</a:t>
            </a:r>
            <a:pPr indent="0" marL="0">
              <a:buNone/>
            </a:pPr>
            <a:r>
              <a:rPr lang="en-US" sz="59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Homes with active parental controls</a:t>
            </a:r>
            <a:endParaRPr lang="en-US" sz="590" dirty="0"/>
          </a:p>
        </p:txBody>
      </p:sp>
      <p:sp>
        <p:nvSpPr>
          <p:cNvPr id="36" name="target"/>
          <p:cNvSpPr/>
          <p:nvPr/>
        </p:nvSpPr>
        <p:spPr>
          <a:xfrm>
            <a:off x="6848856" y="2167128"/>
            <a:ext cx="1956816" cy="438912"/>
          </a:xfrm>
          <a:prstGeom prst="roundRect">
            <a:avLst>
              <a:gd name="adj" fmla="val 8333"/>
            </a:avLst>
          </a:prstGeom>
          <a:solidFill>
            <a:srgbClr val="FDECEF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885432" y="216712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</a:t>
            </a:r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25% of household-plan homes by 2029</a:t>
            </a:r>
            <a:endParaRPr lang="en-US" sz="590" dirty="0"/>
          </a:p>
        </p:txBody>
      </p:sp>
      <p:sp>
        <p:nvSpPr>
          <p:cNvPr id="38" name="theme Circularity"/>
          <p:cNvSpPr/>
          <p:nvPr/>
        </p:nvSpPr>
        <p:spPr>
          <a:xfrm>
            <a:off x="274320" y="2788920"/>
            <a:ext cx="210312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39" name="head"/>
          <p:cNvSpPr/>
          <p:nvPr/>
        </p:nvSpPr>
        <p:spPr>
          <a:xfrm>
            <a:off x="274320" y="27889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E4002B"/>
          </a:solidFill>
          <a:ln/>
        </p:spPr>
      </p:sp>
      <p:sp>
        <p:nvSpPr>
          <p:cNvPr id="40" name="Text 37"/>
          <p:cNvSpPr txBox="1"/>
          <p:nvPr/>
        </p:nvSpPr>
        <p:spPr>
          <a:xfrm>
            <a:off x="274320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Circularity</a:t>
            </a:r>
            <a:endParaRPr lang="en-US" sz="720" dirty="0"/>
          </a:p>
        </p:txBody>
      </p:sp>
      <p:sp>
        <p:nvSpPr>
          <p:cNvPr id="41" name="Text 38"/>
          <p:cNvSpPr txBox="1"/>
          <p:nvPr/>
        </p:nvSpPr>
        <p:spPr>
          <a:xfrm>
            <a:off x="347472" y="3118104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 modems traded in and refurbished on the path to fiber, beside 83.49 t of ONTs refurbished in 2025</a:t>
            </a:r>
            <a:endParaRPr lang="en-US" sz="600" dirty="0"/>
          </a:p>
        </p:txBody>
      </p:sp>
      <p:sp>
        <p:nvSpPr>
          <p:cNvPr id="42" name="Text 39"/>
          <p:cNvSpPr txBox="1"/>
          <p:nvPr/>
        </p:nvSpPr>
        <p:spPr>
          <a:xfrm>
            <a:off x="347472" y="37033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KPI:</a:t>
            </a:r>
            <a:pPr indent="0" marL="0">
              <a:buNone/>
            </a:pPr>
            <a:r>
              <a:rPr lang="en-US" sz="59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Devices refurbished</a:t>
            </a:r>
            <a:endParaRPr lang="en-US" sz="590" dirty="0"/>
          </a:p>
        </p:txBody>
      </p:sp>
      <p:sp>
        <p:nvSpPr>
          <p:cNvPr id="43" name="target"/>
          <p:cNvSpPr/>
          <p:nvPr/>
        </p:nvSpPr>
        <p:spPr>
          <a:xfrm>
            <a:off x="347472" y="4087368"/>
            <a:ext cx="1956816" cy="438912"/>
          </a:xfrm>
          <a:prstGeom prst="roundRect">
            <a:avLst>
              <a:gd name="adj" fmla="val 8333"/>
            </a:avLst>
          </a:prstGeom>
          <a:solidFill>
            <a:srgbClr val="FDECEF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384048" y="408736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</a:t>
            </a:r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Every traded-in modem (≈22k converted homes in 2031 </a:t>
            </a:r>
            <a:pPr indent="0" marL="0">
              <a:buNone/>
            </a:pPr>
            <a:r>
              <a:rPr lang="en-US" sz="59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est.</a:t>
            </a:r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)</a:t>
            </a:r>
            <a:endParaRPr lang="en-US" sz="590" dirty="0"/>
          </a:p>
        </p:txBody>
      </p:sp>
      <p:sp>
        <p:nvSpPr>
          <p:cNvPr id="45" name="theme Data protection"/>
          <p:cNvSpPr/>
          <p:nvPr/>
        </p:nvSpPr>
        <p:spPr>
          <a:xfrm>
            <a:off x="2441448" y="2788920"/>
            <a:ext cx="210312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6" name="head"/>
          <p:cNvSpPr/>
          <p:nvPr/>
        </p:nvSpPr>
        <p:spPr>
          <a:xfrm>
            <a:off x="2441448" y="27889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A50021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2441448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protection</a:t>
            </a:r>
            <a:endParaRPr lang="en-US" sz="720" dirty="0"/>
          </a:p>
        </p:txBody>
      </p:sp>
      <p:sp>
        <p:nvSpPr>
          <p:cNvPr id="48" name="Text 45"/>
          <p:cNvSpPr txBox="1"/>
          <p:nvPr/>
        </p:nvSpPr>
        <p:spPr>
          <a:xfrm>
            <a:off x="2514600" y="3118104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Consent-based household identity and offers</a:t>
            </a:r>
            <a:endParaRPr lang="en-US" sz="600" dirty="0"/>
          </a:p>
        </p:txBody>
      </p:sp>
      <p:sp>
        <p:nvSpPr>
          <p:cNvPr id="49" name="Text 46"/>
          <p:cNvSpPr txBox="1"/>
          <p:nvPr/>
        </p:nvSpPr>
        <p:spPr>
          <a:xfrm>
            <a:off x="2514600" y="37033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KPI:</a:t>
            </a:r>
            <a:pPr indent="0" marL="0">
              <a:buNone/>
            </a:pPr>
            <a:r>
              <a:rPr lang="en-US" sz="59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Opt-in rate; data complaints</a:t>
            </a:r>
            <a:endParaRPr lang="en-US" sz="590" dirty="0"/>
          </a:p>
        </p:txBody>
      </p:sp>
      <p:sp>
        <p:nvSpPr>
          <p:cNvPr id="50" name="target"/>
          <p:cNvSpPr/>
          <p:nvPr/>
        </p:nvSpPr>
        <p:spPr>
          <a:xfrm>
            <a:off x="2514600" y="4087368"/>
            <a:ext cx="1956816" cy="438912"/>
          </a:xfrm>
          <a:prstGeom prst="roundRect">
            <a:avLst>
              <a:gd name="adj" fmla="val 8333"/>
            </a:avLst>
          </a:prstGeom>
          <a:solidFill>
            <a:srgbClr val="FDECEF"/>
          </a:solidFill>
          <a:ln/>
        </p:spPr>
      </p:sp>
      <p:sp>
        <p:nvSpPr>
          <p:cNvPr id="51" name="Text 48"/>
          <p:cNvSpPr txBox="1"/>
          <p:nvPr/>
        </p:nvSpPr>
        <p:spPr>
          <a:xfrm>
            <a:off x="2551176" y="408736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</a:t>
            </a:r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Reported quarterly; zero data findings</a:t>
            </a:r>
            <a:endParaRPr lang="en-US" sz="590" dirty="0"/>
          </a:p>
        </p:txBody>
      </p:sp>
      <p:sp>
        <p:nvSpPr>
          <p:cNvPr id="52" name="theme Lasting value"/>
          <p:cNvSpPr/>
          <p:nvPr/>
        </p:nvSpPr>
        <p:spPr>
          <a:xfrm>
            <a:off x="4608576" y="2788920"/>
            <a:ext cx="2103120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53" name="head"/>
          <p:cNvSpPr/>
          <p:nvPr/>
        </p:nvSpPr>
        <p:spPr>
          <a:xfrm>
            <a:off x="4608576" y="2788920"/>
            <a:ext cx="2103120" cy="274320"/>
          </a:xfrm>
          <a:prstGeom prst="roundRect">
            <a:avLst>
              <a:gd name="adj" fmla="val 20000"/>
            </a:avLst>
          </a:prstGeom>
          <a:solidFill>
            <a:srgbClr val="1F2937"/>
          </a:solidFill>
          <a:ln/>
        </p:spPr>
      </p:sp>
      <p:sp>
        <p:nvSpPr>
          <p:cNvPr id="54" name="Text 51"/>
          <p:cNvSpPr txBox="1"/>
          <p:nvPr/>
        </p:nvSpPr>
        <p:spPr>
          <a:xfrm>
            <a:off x="4608576" y="27889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Lasting value</a:t>
            </a:r>
            <a:endParaRPr lang="en-US" sz="720" dirty="0"/>
          </a:p>
        </p:txBody>
      </p:sp>
      <p:sp>
        <p:nvSpPr>
          <p:cNvPr id="55" name="Text 52"/>
          <p:cNvSpPr txBox="1"/>
          <p:nvPr/>
        </p:nvSpPr>
        <p:spPr>
          <a:xfrm>
            <a:off x="4681728" y="3118104"/>
            <a:ext cx="19568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Household lifetime value as the operating metric</a:t>
            </a:r>
            <a:endParaRPr lang="en-US" sz="600" dirty="0"/>
          </a:p>
        </p:txBody>
      </p:sp>
      <p:sp>
        <p:nvSpPr>
          <p:cNvPr id="56" name="Text 53"/>
          <p:cNvSpPr txBox="1"/>
          <p:nvPr/>
        </p:nvSpPr>
        <p:spPr>
          <a:xfrm>
            <a:off x="4681728" y="3703320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9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KPI:</a:t>
            </a:r>
            <a:pPr indent="0" marL="0">
              <a:buNone/>
            </a:pPr>
            <a:r>
              <a:rPr lang="en-US" sz="59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Household value per paying home</a:t>
            </a:r>
            <a:endParaRPr lang="en-US" sz="590" dirty="0"/>
          </a:p>
        </p:txBody>
      </p:sp>
      <p:sp>
        <p:nvSpPr>
          <p:cNvPr id="57" name="target"/>
          <p:cNvSpPr/>
          <p:nvPr/>
        </p:nvSpPr>
        <p:spPr>
          <a:xfrm>
            <a:off x="4681728" y="4087368"/>
            <a:ext cx="1956816" cy="438912"/>
          </a:xfrm>
          <a:prstGeom prst="roundRect">
            <a:avLst>
              <a:gd name="adj" fmla="val 8333"/>
            </a:avLst>
          </a:prstGeom>
          <a:solidFill>
            <a:srgbClr val="FDECEF"/>
          </a:solidFill>
          <a:ln/>
        </p:spPr>
      </p:sp>
      <p:sp>
        <p:nvSpPr>
          <p:cNvPr id="58" name="Text 55"/>
          <p:cNvSpPr txBox="1"/>
          <p:nvPr/>
        </p:nvSpPr>
        <p:spPr>
          <a:xfrm>
            <a:off x="4718304" y="408736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9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Target:</a:t>
            </a:r>
            <a:pPr indent="0" marL="0">
              <a:buNone/>
            </a:pPr>
            <a:r>
              <a:rPr lang="en-US" sz="59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Baseline 2027; rising every year</a:t>
            </a:r>
            <a:endParaRPr lang="en-US" sz="590" dirty="0"/>
          </a:p>
        </p:txBody>
      </p:sp>
      <p:sp>
        <p:nvSpPr>
          <p:cNvPr id="59" name="so what"/>
          <p:cNvSpPr/>
          <p:nvPr/>
        </p:nvSpPr>
        <p:spPr>
          <a:xfrm>
            <a:off x="6775704" y="2788920"/>
            <a:ext cx="2093976" cy="1810512"/>
          </a:xfrm>
          <a:prstGeom prst="roundRect">
            <a:avLst>
              <a:gd name="adj" fmla="val 3030"/>
            </a:avLst>
          </a:prstGeom>
          <a:solidFill>
            <a:srgbClr val="F1F5F9"/>
          </a:solidFill>
          <a:ln/>
        </p:spPr>
      </p:sp>
      <p:sp>
        <p:nvSpPr>
          <p:cNvPr id="60" name="Text 57"/>
          <p:cNvSpPr txBox="1"/>
          <p:nvPr/>
        </p:nvSpPr>
        <p:spPr>
          <a:xfrm>
            <a:off x="6858000" y="2816352"/>
            <a:ext cx="1938528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 well and do good point the same way.</a:t>
            </a:r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Homes on the right product, on fair terms, stay longer and step up: in the model, keeping homes and the paths up are worth </a:t>
            </a:r>
            <a:pPr indent="0" marL="0">
              <a:buNone/>
            </a:pPr>
            <a:r>
              <a:rPr lang="en-US" sz="63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Rp512bn</a:t>
            </a:r>
            <a:pPr indent="0" marL="0">
              <a:buNone/>
            </a:pPr>
            <a:r>
              <a:rPr lang="en-US" sz="63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over the life of the homes.</a:t>
            </a:r>
            <a:endParaRPr lang="en-US" sz="63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27 (1/2)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Assumptions register: every assumption, its value, rationale and how Phase 0 will measure it (1/2)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02 §21.1; file 03 §13. These are the only numbers in the deck that are not sourced or calculated from sources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42</a:t>
            </a:r>
            <a:endParaRPr lang="en-US" sz="9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41248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2926080"/>
                <a:gridCol w="1920240"/>
                <a:gridCol w="2011680"/>
                <a:gridCol w="1463040"/>
              </a:tblGrid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Assumption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 (test range)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Rationale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Measured by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Super Seru promo packs represent what a family pays for separate mobile data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GB ≈Rp60–65k; 30 GB ≈Rp90–95k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Match the Rp3.1k per GB yield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Another pack benchmark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Telkomsel's mobile EBITDA margin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50–56%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Splits household from mobile margin (12–31%)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Segment disclosure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When the inactive stock built up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Three timing scenarios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Bounds the paying-household restatement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Cohort data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Family size and Telkomsel lines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4–6 members; 3–4 lines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Usage build-up, offload, household value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0 survey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TV streaming time in a family home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hours a day, SD to HD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Usage build-up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Survey; Orbit usage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Content in Double Speed plans worth its retail price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Prime Video Rp59k, Viu Rp30–53k, Vision+ Rp20k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Content inside the plan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Included tiers; willingness to pay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People's class shares apply to households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8.6 / 24.4 / 49.3 / 17.3 / 0.5%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Class sizing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Household-level class data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EZnet fiber is unlimited at 20 Mbps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quota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Usage crossover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EZnet terms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Scoring rules and weights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/ 25 / 20 / 15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Prioritisation (tested 69 ways)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Sensitivity, Appendix 16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Share of a family's phone data that moves to home Wi-Fi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50–70%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Offload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0 survey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churn of the base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15–25% (20% base)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public benchmark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Churn disclosure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Telkomsel families' share of homes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45–60%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45% = share of mobile subscriptions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Survey; household data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Home-check invitations a 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6.0M (3–9M)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About a fifth of the 26–36M pool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0 app reach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Opt-in and conversion of invited families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 and 10% (5–15%)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benchmark; conservative for a free check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Better fit raises the win rate with other families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+2 points (1–3)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Small effect of the check alone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 vs control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Home-check homes that would stay mobile-only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 (20–50%)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Home check targets rival areas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 targeting data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27 (2/2)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Assumptions register: every assumption, its value, rationale and how Phase 0 will measure it (2/2)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02 §21.1; file 03 §13. These are the only numbers in the deck that are not sourced or calculated from sources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43</a:t>
            </a:r>
            <a:endParaRPr lang="en-US" sz="9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41248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"/>
                <a:gridCol w="2926080"/>
                <a:gridCol w="1920240"/>
                <a:gridCol w="2011680"/>
                <a:gridCol w="1463040"/>
              </a:tblGrid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Assumption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Value (test range)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Rationale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61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Measured by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50021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Acquisition cost per home by route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Rp150k / 400k / 750k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 public figure; the household buys the Orbit device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 cost per paying home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Routing-down leakage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2% (1–5%) of 500k new homes a year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tree routes down only light users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 revenue per home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19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Boost cohorts expiring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20% of base in 2027; 500k a year from 2028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HSSP began in 2026 with 180/360-day boosts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Phase 0 cohort data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Paid take-up at boost end; lapse; fee-induced churn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8% (4–12%); 15%; 0 (0–1%)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clear choice with notice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Randomised test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Orbit → fiber a year; trade-in; refurbishment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15% (8–25%); Rp150k; Rp50k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Usage-triggered offers with a modem credit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EZnet share of base; EZnet → IndiHome; single → family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15%; 3% (1.5–5%); 0.5% (0.25–1%)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Small, usage-triggered steps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Lines added in homes without a Telkomsel line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2% a year (1–3%)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 benefits, no discount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24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 do-nothing comparator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Base at run-rate; silent reverts; no price change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Static; continued erosion would favour the plan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n/a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Contested cities' share of base; churn effect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35% (25–45%); −1pp (−0.5 to −1.5)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Urban areas where IndiHome trails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Gate 1b hold-out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Triggers: reach, would-leave, save rate; offer cost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10%, 40%, 10%; Rp150k a save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 retention logic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Hold-out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27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Margins on upgrades and content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70% (60–80%); 40% (30–50%)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Spare capacity; content share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Finance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28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Discount rate (WACC)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 (9–12%)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published for Telkomsel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Telkom disclosure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29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Programme costs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Bottom-up (Appendix 21)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Channel logic, data linking, targeted mesh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Vendor quotes; budgets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Probability of passing Gate 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40–80%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Shown as a range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Gate 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Theme targets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Appendix 26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Set as commitments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Annual review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38100" marR="38100" marT="25400" marB="2540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Appendix 28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Considered and parked: five ideas kept for later, and why each waits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274320" y="48463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60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File 03 §14, §8.9; Telkom 1H26 Info Memo p.36 (S04); file 02 §4.4</a:t>
            </a:r>
            <a:endParaRPr lang="en-US" sz="600" dirty="0"/>
          </a:p>
        </p:txBody>
      </p:sp>
      <p:sp>
        <p:nvSpPr>
          <p:cNvPr id="8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44</a:t>
            </a:r>
            <a:endParaRPr lang="en-US" sz="900" dirty="0"/>
          </a:p>
        </p:txBody>
      </p:sp>
      <p:sp>
        <p:nvSpPr>
          <p:cNvPr id="10" name="idea"/>
          <p:cNvSpPr/>
          <p:nvPr/>
        </p:nvSpPr>
        <p:spPr>
          <a:xfrm>
            <a:off x="274320" y="868680"/>
            <a:ext cx="859536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1" name="pill"/>
          <p:cNvSpPr/>
          <p:nvPr/>
        </p:nvSpPr>
        <p:spPr>
          <a:xfrm>
            <a:off x="347472" y="1014984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A50021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84048" y="101498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Orbit as the household's "satellite"</a:t>
            </a:r>
            <a:endParaRPr lang="en-US" sz="630" dirty="0"/>
          </a:p>
        </p:txBody>
      </p:sp>
      <p:sp>
        <p:nvSpPr>
          <p:cNvPr id="13" name="Text 10"/>
          <p:cNvSpPr txBox="1"/>
          <p:nvPr/>
        </p:nvSpPr>
        <p:spPr>
          <a:xfrm>
            <a:off x="2468880" y="8686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promising: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 child's kos room or campus, a worker away from home, the mudik trip, a second home, on the household plan with IndiHome as the hub</a:t>
            </a:r>
            <a:endParaRPr lang="en-US" sz="600" dirty="0"/>
          </a:p>
        </p:txBody>
      </p:sp>
      <p:sp>
        <p:nvSpPr>
          <p:cNvPr id="14" name="Text 11"/>
          <p:cNvSpPr txBox="1"/>
          <p:nvPr/>
        </p:nvSpPr>
        <p:spPr>
          <a:xfrm>
            <a:off x="5394960" y="86868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parked: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data on multi-location families</a:t>
            </a:r>
            <a:endParaRPr lang="en-US" sz="600" dirty="0"/>
          </a:p>
        </p:txBody>
      </p:sp>
      <p:sp>
        <p:nvSpPr>
          <p:cNvPr id="15" name="Text 12"/>
          <p:cNvSpPr txBox="1"/>
          <p:nvPr/>
        </p:nvSpPr>
        <p:spPr>
          <a:xfrm>
            <a:off x="7086600" y="86868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step:</a:t>
            </a:r>
            <a:pPr indent="0" marL="0">
              <a:buNone/>
            </a:pPr>
            <a:r>
              <a:rPr lang="en-US" sz="600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Test with Phase 1 families; KPI: Orbit devices per IndiHome home</a:t>
            </a:r>
            <a:endParaRPr lang="en-US" sz="600" dirty="0"/>
          </a:p>
        </p:txBody>
      </p:sp>
      <p:sp>
        <p:nvSpPr>
          <p:cNvPr id="16" name="idea"/>
          <p:cNvSpPr/>
          <p:nvPr/>
        </p:nvSpPr>
        <p:spPr>
          <a:xfrm>
            <a:off x="274320" y="1600200"/>
            <a:ext cx="8595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" name="pill"/>
          <p:cNvSpPr/>
          <p:nvPr/>
        </p:nvSpPr>
        <p:spPr>
          <a:xfrm>
            <a:off x="347472" y="1746504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A5002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384048" y="174650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Win-back of removed homes on fair terms</a:t>
            </a:r>
            <a:endParaRPr lang="en-US" sz="630" dirty="0"/>
          </a:p>
        </p:txBody>
      </p:sp>
      <p:sp>
        <p:nvSpPr>
          <p:cNvPr id="19" name="Text 16"/>
          <p:cNvSpPr txBox="1"/>
          <p:nvPr/>
        </p:nvSpPr>
        <p:spPr>
          <a:xfrm>
            <a:off x="2468880" y="160020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promising: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0.8–1.2M homes already wired; Telkom names "targeted retention &amp; reactivation"</a:t>
            </a:r>
            <a:endParaRPr lang="en-US" sz="600" dirty="0"/>
          </a:p>
        </p:txBody>
      </p:sp>
      <p:sp>
        <p:nvSpPr>
          <p:cNvPr id="20" name="Text 17"/>
          <p:cNvSpPr txBox="1"/>
          <p:nvPr/>
        </p:nvSpPr>
        <p:spPr>
          <a:xfrm>
            <a:off x="5394960" y="160020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parked: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They stopped paying once; terms must change first</a:t>
            </a:r>
            <a:endParaRPr lang="en-US" sz="600" dirty="0"/>
          </a:p>
        </p:txBody>
      </p:sp>
      <p:sp>
        <p:nvSpPr>
          <p:cNvPr id="21" name="Text 18"/>
          <p:cNvSpPr txBox="1"/>
          <p:nvPr/>
        </p:nvSpPr>
        <p:spPr>
          <a:xfrm>
            <a:off x="7086600" y="160020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step:</a:t>
            </a:r>
            <a:pPr indent="0" marL="0">
              <a:buNone/>
            </a:pPr>
            <a:r>
              <a:rPr lang="en-US" sz="600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Phase 2 pilot after pay-on-paying-homes</a:t>
            </a:r>
            <a:endParaRPr lang="en-US" sz="600" dirty="0"/>
          </a:p>
        </p:txBody>
      </p:sp>
      <p:sp>
        <p:nvSpPr>
          <p:cNvPr id="22" name="idea"/>
          <p:cNvSpPr/>
          <p:nvPr/>
        </p:nvSpPr>
        <p:spPr>
          <a:xfrm>
            <a:off x="274320" y="2331720"/>
            <a:ext cx="859536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3" name="pill"/>
          <p:cNvSpPr/>
          <p:nvPr/>
        </p:nvSpPr>
        <p:spPr>
          <a:xfrm>
            <a:off x="347472" y="2478024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A50021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84048" y="247802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Paid whole-home add-ons</a:t>
            </a:r>
            <a:endParaRPr lang="en-US" sz="630" dirty="0"/>
          </a:p>
        </p:txBody>
      </p:sp>
      <p:sp>
        <p:nvSpPr>
          <p:cNvPr id="25" name="Text 22"/>
          <p:cNvSpPr txBox="1"/>
          <p:nvPr/>
        </p:nvSpPr>
        <p:spPr>
          <a:xfrm>
            <a:off x="2468880" y="23317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promising: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FTTR, mesh rental, safety packs: ≈Rp183–337bn a year per 1% FTTR attach</a:t>
            </a:r>
            <a:endParaRPr lang="en-US" sz="600" dirty="0"/>
          </a:p>
        </p:txBody>
      </p:sp>
      <p:sp>
        <p:nvSpPr>
          <p:cNvPr id="26" name="Text 23"/>
          <p:cNvSpPr txBox="1"/>
          <p:nvPr/>
        </p:nvSpPr>
        <p:spPr>
          <a:xfrm>
            <a:off x="5394960" y="233172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parked: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Device cost and take-up unknown</a:t>
            </a:r>
            <a:endParaRPr lang="en-US" sz="600" dirty="0"/>
          </a:p>
        </p:txBody>
      </p:sp>
      <p:sp>
        <p:nvSpPr>
          <p:cNvPr id="27" name="Text 24"/>
          <p:cNvSpPr txBox="1"/>
          <p:nvPr/>
        </p:nvSpPr>
        <p:spPr>
          <a:xfrm>
            <a:off x="7086600" y="23317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step:</a:t>
            </a:r>
            <a:pPr indent="0" marL="0">
              <a:buNone/>
            </a:pPr>
            <a:r>
              <a:rPr lang="en-US" sz="600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Price test in performance and premium homes</a:t>
            </a:r>
            <a:endParaRPr lang="en-US" sz="600" dirty="0"/>
          </a:p>
        </p:txBody>
      </p:sp>
      <p:sp>
        <p:nvSpPr>
          <p:cNvPr id="28" name="idea"/>
          <p:cNvSpPr/>
          <p:nvPr/>
        </p:nvSpPr>
        <p:spPr>
          <a:xfrm>
            <a:off x="274320" y="3063240"/>
            <a:ext cx="85953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29" name="pill"/>
          <p:cNvSpPr/>
          <p:nvPr/>
        </p:nvSpPr>
        <p:spPr>
          <a:xfrm>
            <a:off x="347472" y="3209544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A5002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84048" y="320954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housing programme</a:t>
            </a:r>
            <a:endParaRPr lang="en-US" sz="630" dirty="0"/>
          </a:p>
        </p:txBody>
      </p:sp>
      <p:sp>
        <p:nvSpPr>
          <p:cNvPr id="31" name="Text 28"/>
          <p:cNvSpPr txBox="1"/>
          <p:nvPr/>
        </p:nvSpPr>
        <p:spPr>
          <a:xfrm>
            <a:off x="2468880" y="30632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promising: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3 million homes: volume and inclusion</a:t>
            </a:r>
            <a:endParaRPr lang="en-US" sz="600" dirty="0"/>
          </a:p>
        </p:txBody>
      </p:sp>
      <p:sp>
        <p:nvSpPr>
          <p:cNvPr id="32" name="Text 29"/>
          <p:cNvSpPr txBox="1"/>
          <p:nvPr/>
        </p:nvSpPr>
        <p:spPr>
          <a:xfrm>
            <a:off x="5394960" y="306324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parked: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Price-capped; terms unknown</a:t>
            </a:r>
            <a:endParaRPr lang="en-US" sz="600" dirty="0"/>
          </a:p>
        </p:txBody>
      </p:sp>
      <p:sp>
        <p:nvSpPr>
          <p:cNvPr id="33" name="Text 30"/>
          <p:cNvSpPr txBox="1"/>
          <p:nvPr/>
        </p:nvSpPr>
        <p:spPr>
          <a:xfrm>
            <a:off x="7086600" y="306324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step:</a:t>
            </a:r>
            <a:pPr indent="0" marL="0">
              <a:buNone/>
            </a:pPr>
            <a:r>
              <a:rPr lang="en-US" sz="600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Watch</a:t>
            </a:r>
            <a:endParaRPr lang="en-US" sz="600" dirty="0"/>
          </a:p>
        </p:txBody>
      </p:sp>
      <p:sp>
        <p:nvSpPr>
          <p:cNvPr id="34" name="idea"/>
          <p:cNvSpPr/>
          <p:nvPr/>
        </p:nvSpPr>
        <p:spPr>
          <a:xfrm>
            <a:off x="274320" y="3794760"/>
            <a:ext cx="8595360" cy="658368"/>
          </a:xfrm>
          <a:prstGeom prst="roundRect">
            <a:avLst>
              <a:gd name="adj" fmla="val 8333"/>
            </a:avLst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35" name="pill"/>
          <p:cNvSpPr/>
          <p:nvPr/>
        </p:nvSpPr>
        <p:spPr>
          <a:xfrm>
            <a:off x="347472" y="3941064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A50021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384048" y="3941064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Lower churn on the family's mobile lines</a:t>
            </a:r>
            <a:endParaRPr lang="en-US" sz="630" dirty="0"/>
          </a:p>
        </p:txBody>
      </p:sp>
      <p:sp>
        <p:nvSpPr>
          <p:cNvPr id="37" name="Text 34"/>
          <p:cNvSpPr txBox="1"/>
          <p:nvPr/>
        </p:nvSpPr>
        <p:spPr>
          <a:xfrm>
            <a:off x="2468880" y="379476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promising: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Telkomsel reports "significantly lower churn propensity" for converged homes</a:t>
            </a:r>
            <a:endParaRPr lang="en-US" sz="600" dirty="0"/>
          </a:p>
        </p:txBody>
      </p:sp>
      <p:sp>
        <p:nvSpPr>
          <p:cNvPr id="38" name="Text 35"/>
          <p:cNvSpPr txBox="1"/>
          <p:nvPr/>
        </p:nvSpPr>
        <p:spPr>
          <a:xfrm>
            <a:off x="5394960" y="3794760"/>
            <a:ext cx="1600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parked:</a:t>
            </a:r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No number published</a:t>
            </a:r>
            <a:endParaRPr lang="en-US" sz="600" dirty="0"/>
          </a:p>
        </p:txBody>
      </p:sp>
      <p:sp>
        <p:nvSpPr>
          <p:cNvPr id="39" name="Text 36"/>
          <p:cNvSpPr txBox="1"/>
          <p:nvPr/>
        </p:nvSpPr>
        <p:spPr>
          <a:xfrm>
            <a:off x="7086600" y="379476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step:</a:t>
            </a:r>
            <a:pPr indent="0" marL="0">
              <a:buNone/>
            </a:pPr>
            <a:r>
              <a:rPr lang="en-US" sz="600" dirty="0">
                <a:solidFill>
                  <a:srgbClr val="A5002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Measure through household KPIs</a:t>
            </a:r>
            <a:endParaRPr lang="en-US" sz="600" dirty="0"/>
          </a:p>
        </p:txBody>
      </p:sp>
      <p:sp>
        <p:nvSpPr>
          <p:cNvPr id="40" name="Text 37"/>
          <p:cNvSpPr txBox="1"/>
          <p:nvPr/>
        </p:nvSpPr>
        <p:spPr>
          <a:xfrm>
            <a:off x="274320" y="4572000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20" i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None of these is counted in the model; each would add value.</a:t>
            </a:r>
            <a:endParaRPr lang="en-US" sz="62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 1 of 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References: sources behind every figure, cited as [n] on the core pages and by source code in the appendix</a:t>
            </a:r>
            <a:endParaRPr lang="en-US" sz="1100" dirty="0"/>
          </a:p>
        </p:txBody>
      </p:sp>
      <p:sp>
        <p:nvSpPr>
          <p:cNvPr id="7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45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74320" y="84124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S01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DWDG ITS Mini Case Competition 2026: Case "Telkomsel" (case book), Oct 2026</a:t>
            </a:r>
            <a:endParaRPr lang="en-US" sz="62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9921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S02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Guidebook: DWDG ITS Mini Case Competition 2026, Sep 2026</a:t>
            </a:r>
            <a:endParaRPr lang="en-US" sz="620" dirty="0"/>
          </a:p>
        </p:txBody>
      </p:sp>
      <p:sp>
        <p:nvSpPr>
          <p:cNvPr id="11" name="Text 8"/>
          <p:cNvSpPr txBox="1"/>
          <p:nvPr/>
        </p:nvSpPr>
        <p:spPr>
          <a:xfrm>
            <a:off x="274320" y="114300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S03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Telkomsel, Annual Report 2025. assets.telkomsel.com/public/pdf/annual-reports/Annual-Report-Telkomsel-2025-web-EN.pdf</a:t>
            </a:r>
            <a:endParaRPr lang="en-US" sz="620" dirty="0"/>
          </a:p>
        </p:txBody>
      </p:sp>
      <p:sp>
        <p:nvSpPr>
          <p:cNvPr id="12" name="Text 9"/>
          <p:cNvSpPr txBox="1"/>
          <p:nvPr/>
        </p:nvSpPr>
        <p:spPr>
          <a:xfrm>
            <a:off x="274320" y="129387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S04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 Indonesia, 1H26 Corporate Presentation &amp; Info Memo, 3 Aug 2026. telkom.co.id</a:t>
            </a:r>
            <a:endParaRPr lang="en-US" sz="620" dirty="0"/>
          </a:p>
        </p:txBody>
      </p:sp>
      <p:sp>
        <p:nvSpPr>
          <p:cNvPr id="13" name="Text 10"/>
          <p:cNvSpPr txBox="1"/>
          <p:nvPr/>
        </p:nvSpPr>
        <p:spPr>
          <a:xfrm>
            <a:off x="274320" y="144475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S05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 Indonesia, 1Q26 Corporate Presentation &amp; Info Memo, 2026. telkom.co.id</a:t>
            </a:r>
            <a:endParaRPr lang="en-US" sz="62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159562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S06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 Indonesia, 9M25 Info Memo, Oct 2025. telkom.co.id</a:t>
            </a:r>
            <a:endParaRPr lang="en-US" sz="620" dirty="0"/>
          </a:p>
        </p:txBody>
      </p:sp>
      <p:sp>
        <p:nvSpPr>
          <p:cNvPr id="15" name="Text 12"/>
          <p:cNvSpPr txBox="1"/>
          <p:nvPr/>
        </p:nvSpPr>
        <p:spPr>
          <a:xfrm>
            <a:off x="274320" y="174650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S07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 Indonesia, 1H25 Info Memo, Jul 2025. telkom.co.id</a:t>
            </a:r>
            <a:endParaRPr lang="en-US" sz="620" dirty="0"/>
          </a:p>
        </p:txBody>
      </p:sp>
      <p:sp>
        <p:nvSpPr>
          <p:cNvPr id="16" name="Text 13"/>
          <p:cNvSpPr txBox="1"/>
          <p:nvPr/>
        </p:nvSpPr>
        <p:spPr>
          <a:xfrm>
            <a:off x="274320" y="18973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S08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 Indonesia, FY24 Info Memo, Apr 2025. telkom.co.id</a:t>
            </a:r>
            <a:endParaRPr lang="en-US" sz="620" dirty="0"/>
          </a:p>
        </p:txBody>
      </p:sp>
      <p:sp>
        <p:nvSpPr>
          <p:cNvPr id="17" name="Text 14"/>
          <p:cNvSpPr txBox="1"/>
          <p:nvPr/>
        </p:nvSpPr>
        <p:spPr>
          <a:xfrm>
            <a:off x="274320" y="204825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S09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 Danareksa Sekuritas, "Telkom Indonesia: Capex Discipline Eases FCF Concerns", 5 Aug 2026. link.brights.id</a:t>
            </a:r>
            <a:endParaRPr lang="en-US" sz="620" dirty="0"/>
          </a:p>
        </p:txBody>
      </p:sp>
      <p:sp>
        <p:nvSpPr>
          <p:cNvPr id="18" name="Text 15"/>
          <p:cNvSpPr txBox="1"/>
          <p:nvPr/>
        </p:nvSpPr>
        <p:spPr>
          <a:xfrm>
            <a:off x="274320" y="219913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S10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Investortrust, "Dialing In: How Indonesia's Telkom Engineered a Second-Quarter Comeback", Aug 2026</a:t>
            </a:r>
            <a:endParaRPr lang="en-US" sz="620" dirty="0"/>
          </a:p>
        </p:txBody>
      </p:sp>
      <p:sp>
        <p:nvSpPr>
          <p:cNvPr id="19" name="Text 16"/>
          <p:cNvSpPr txBox="1"/>
          <p:nvPr/>
        </p:nvSpPr>
        <p:spPr>
          <a:xfrm>
            <a:off x="274320" y="235000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S11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 press release: new IndiHome and Telkomsel One packages, 5 Aug 2025. telkomsel.com</a:t>
            </a:r>
            <a:endParaRPr lang="en-US" sz="620" dirty="0"/>
          </a:p>
        </p:txBody>
      </p:sp>
      <p:sp>
        <p:nvSpPr>
          <p:cNvPr id="20" name="Text 17"/>
          <p:cNvSpPr txBox="1"/>
          <p:nvPr/>
        </p:nvSpPr>
        <p:spPr>
          <a:xfrm>
            <a:off x="274320" y="250088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S12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 Orbit product page and FAQ, read 10 Oct 2026. telkomsel.com/orbit</a:t>
            </a:r>
            <a:endParaRPr lang="en-US" sz="620" dirty="0"/>
          </a:p>
        </p:txBody>
      </p:sp>
      <p:sp>
        <p:nvSpPr>
          <p:cNvPr id="21" name="Text 18"/>
          <p:cNvSpPr txBox="1"/>
          <p:nvPr/>
        </p:nvSpPr>
        <p:spPr>
          <a:xfrm>
            <a:off x="274320" y="265176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S13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 EZnet product page, read 10 Oct 2026. telkomsel.com/eznet</a:t>
            </a:r>
            <a:endParaRPr lang="en-US" sz="620" dirty="0"/>
          </a:p>
        </p:txBody>
      </p:sp>
      <p:sp>
        <p:nvSpPr>
          <p:cNvPr id="22" name="Text 19"/>
          <p:cNvSpPr txBox="1"/>
          <p:nvPr/>
        </p:nvSpPr>
        <p:spPr>
          <a:xfrm>
            <a:off x="274320" y="28026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S14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Opensignal, Indonesia Fixed Broadband Experience (1 Jan–31 Mar 2026), Apr 2026. insights.opensignal.com</a:t>
            </a:r>
            <a:endParaRPr lang="en-US" sz="620" dirty="0"/>
          </a:p>
        </p:txBody>
      </p:sp>
      <p:sp>
        <p:nvSpPr>
          <p:cNvPr id="23" name="Text 20"/>
          <p:cNvSpPr txBox="1"/>
          <p:nvPr/>
        </p:nvSpPr>
        <p:spPr>
          <a:xfrm>
            <a:off x="274320" y="295351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S15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Opensignal, Nov 2025; Bisnis, "Laporan OpenSignal: Telkomsel Kuasai 67% Pasar Fixed Broadband RI", 25 Nov 2025</a:t>
            </a:r>
            <a:endParaRPr lang="en-US" sz="620" dirty="0"/>
          </a:p>
        </p:txBody>
      </p:sp>
      <p:sp>
        <p:nvSpPr>
          <p:cNvPr id="24" name="Text 21"/>
          <p:cNvSpPr txBox="1"/>
          <p:nvPr/>
        </p:nvSpPr>
        <p:spPr>
          <a:xfrm>
            <a:off x="274320" y="310438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S16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Bisnis, "Respons Tenang Biznet-XLSMART Hadapi Paket Internet Rp100.000-an WIFI dan DSSA", 17 Apr 2026</a:t>
            </a:r>
            <a:endParaRPr lang="en-US" sz="620" dirty="0"/>
          </a:p>
        </p:txBody>
      </p:sp>
      <p:sp>
        <p:nvSpPr>
          <p:cNvPr id="25" name="Text 22"/>
          <p:cNvSpPr txBox="1"/>
          <p:nvPr/>
        </p:nvSpPr>
        <p:spPr>
          <a:xfrm>
            <a:off x="274320" y="325526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S17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Bisnis, "Surge (WIFI) Klaim Pelanggan Internet Rakyat Tembus 209.000 Kuartal I/2026", 6 May 2026</a:t>
            </a:r>
            <a:endParaRPr lang="en-US" sz="620" dirty="0"/>
          </a:p>
        </p:txBody>
      </p:sp>
      <p:sp>
        <p:nvSpPr>
          <p:cNvPr id="26" name="Text 23"/>
          <p:cNvSpPr txBox="1"/>
          <p:nvPr/>
        </p:nvSpPr>
        <p:spPr>
          <a:xfrm>
            <a:off x="274320" y="340614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S18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IDNFinancials, Kabarbursa, Katadata on the Internet Rakyat launch, Feb–May 2026</a:t>
            </a:r>
            <a:endParaRPr lang="en-US" sz="620" dirty="0"/>
          </a:p>
        </p:txBody>
      </p:sp>
      <p:sp>
        <p:nvSpPr>
          <p:cNvPr id="27" name="Text 24"/>
          <p:cNvSpPr txBox="1"/>
          <p:nvPr/>
        </p:nvSpPr>
        <p:spPr>
          <a:xfrm>
            <a:off x="274320" y="35570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S19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Investortrust; CNBC Indonesia; Katadata on 1.4 GHz licence obligations (100 Mbps for Rp100k), 2025</a:t>
            </a:r>
            <a:endParaRPr lang="en-US" sz="620" dirty="0"/>
          </a:p>
        </p:txBody>
      </p:sp>
      <p:sp>
        <p:nvSpPr>
          <p:cNvPr id="28" name="Text 25"/>
          <p:cNvSpPr txBox="1"/>
          <p:nvPr/>
        </p:nvSpPr>
        <p:spPr>
          <a:xfrm>
            <a:off x="274320" y="370789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S20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Bisnis, "Telkomsel Sambut Baik Target Komdigi Tekan Harga Broadband 2026", 23 Jan 2026</a:t>
            </a:r>
            <a:endParaRPr lang="en-US" sz="620" dirty="0"/>
          </a:p>
        </p:txBody>
      </p:sp>
      <p:sp>
        <p:nvSpPr>
          <p:cNvPr id="29" name="Text 26"/>
          <p:cNvSpPr txBox="1"/>
          <p:nvPr/>
        </p:nvSpPr>
        <p:spPr>
          <a:xfrm>
            <a:off x="274320" y="385876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S21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Bisnis, "Komdigi Targetkan Penetrasi Fixed Broadband Naik dari 21% menjadi 50% pada 2029", 1 Oct 2025</a:t>
            </a:r>
            <a:endParaRPr lang="en-US" sz="620" dirty="0"/>
          </a:p>
        </p:txBody>
      </p:sp>
      <p:sp>
        <p:nvSpPr>
          <p:cNvPr id="30" name="Text 27"/>
          <p:cNvSpPr txBox="1"/>
          <p:nvPr/>
        </p:nvSpPr>
        <p:spPr>
          <a:xfrm>
            <a:off x="274320" y="40096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S22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Selular; Detik; Kontan; Bisnis on the 700 MHz and 2.6 GHz auction results, Jul 2026</a:t>
            </a:r>
            <a:endParaRPr lang="en-US" sz="620" dirty="0"/>
          </a:p>
        </p:txBody>
      </p:sp>
      <p:sp>
        <p:nvSpPr>
          <p:cNvPr id="31" name="Text 28"/>
          <p:cNvSpPr txBox="1"/>
          <p:nvPr/>
        </p:nvSpPr>
        <p:spPr>
          <a:xfrm>
            <a:off x="274320" y="416052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S23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Surat Edaran Menkomdigi No. 4 Tahun 2025, 9 Oct 2025</a:t>
            </a:r>
            <a:endParaRPr lang="en-US" sz="620" dirty="0"/>
          </a:p>
        </p:txBody>
      </p:sp>
      <p:sp>
        <p:nvSpPr>
          <p:cNvPr id="32" name="Text 29"/>
          <p:cNvSpPr txBox="1"/>
          <p:nvPr/>
        </p:nvSpPr>
        <p:spPr>
          <a:xfrm>
            <a:off x="274320" y="431139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S24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Media Partners Asia, Industry Overview in an HKEX draft prospectus (Indonesia), Apr 2026. hkexnews.hk</a:t>
            </a:r>
            <a:endParaRPr lang="en-US" sz="620" dirty="0"/>
          </a:p>
        </p:txBody>
      </p:sp>
      <p:sp>
        <p:nvSpPr>
          <p:cNvPr id="33" name="Text 30"/>
          <p:cNvSpPr txBox="1"/>
          <p:nvPr/>
        </p:nvSpPr>
        <p:spPr>
          <a:xfrm>
            <a:off x="274320" y="446227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S25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APJII Indonesia Internet Survey 2025 (via Gizmologi, Detik, Selular, Bisnis), Aug 2025</a:t>
            </a:r>
            <a:endParaRPr lang="en-US" sz="620" dirty="0"/>
          </a:p>
        </p:txBody>
      </p:sp>
      <p:sp>
        <p:nvSpPr>
          <p:cNvPr id="34" name="Text 31"/>
          <p:cNvSpPr txBox="1"/>
          <p:nvPr/>
        </p:nvSpPr>
        <p:spPr>
          <a:xfrm>
            <a:off x="274320" y="461314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S26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InfraNexia and SOE fiber consolidation (TechRepublic, DealStreetAsia, Bisnis, Selular), Dec 2025–May 2026</a:t>
            </a:r>
            <a:endParaRPr lang="en-US" sz="62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 2 of 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References: sources behind every figure, cited as [n] on the core pages and by source code in the appendix</a:t>
            </a:r>
            <a:endParaRPr lang="en-US" sz="1100" dirty="0"/>
          </a:p>
        </p:txBody>
      </p:sp>
      <p:sp>
        <p:nvSpPr>
          <p:cNvPr id="7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46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74320" y="84124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S27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TLKM 30 strategy (BCA Sekuritas; CNBC Indonesia; Bisnis), 2025–2026</a:t>
            </a:r>
            <a:endParaRPr lang="en-US" sz="62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9921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S28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Bisnis, "Harga Internet Rumah 2026: Internet Rakyat vs MyRepublic vs IndiHome vs XLSATU", 29 Jan 2026; Bisnis price lists 2024–2025</a:t>
            </a:r>
            <a:endParaRPr lang="en-US" sz="620" dirty="0"/>
          </a:p>
        </p:txBody>
      </p:sp>
      <p:sp>
        <p:nvSpPr>
          <p:cNvPr id="11" name="Text 8"/>
          <p:cNvSpPr txBox="1"/>
          <p:nvPr/>
        </p:nvSpPr>
        <p:spPr>
          <a:xfrm>
            <a:off x="274320" y="114300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S29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Indosat HiFi Air launch and the FWA battle (Detik; Investortrust; Bisnis 2 and 9 Mar 2026)</a:t>
            </a:r>
            <a:endParaRPr lang="en-US" sz="620" dirty="0"/>
          </a:p>
        </p:txBody>
      </p:sp>
      <p:sp>
        <p:nvSpPr>
          <p:cNvPr id="12" name="Text 9"/>
          <p:cNvSpPr txBox="1"/>
          <p:nvPr/>
        </p:nvSpPr>
        <p:spPr>
          <a:xfrm>
            <a:off x="274320" y="129387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S30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Bisnis, "Telkomsel Manfaatkan FWA 5G Jangkau Pelanggan Rumah yang Sulit Diakses Kabel FO", 7 Jul 2026</a:t>
            </a:r>
            <a:endParaRPr lang="en-US" sz="620" dirty="0"/>
          </a:p>
        </p:txBody>
      </p:sp>
      <p:sp>
        <p:nvSpPr>
          <p:cNvPr id="13" name="Text 10"/>
          <p:cNvSpPr txBox="1"/>
          <p:nvPr/>
        </p:nvSpPr>
        <p:spPr>
          <a:xfrm>
            <a:off x="274320" y="144475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S31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Telkomsel, IndiHome Fiber to the Room launch, Jun 2025; Selular; Warta Ekonomi</a:t>
            </a:r>
            <a:endParaRPr lang="en-US" sz="62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159562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S32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EZnet launch coverage (Antara Kupang; Jatimtimes), 2024; Telkom timeline</a:t>
            </a:r>
            <a:endParaRPr lang="en-US" sz="620" dirty="0"/>
          </a:p>
        </p:txBody>
      </p:sp>
      <p:sp>
        <p:nvSpPr>
          <p:cNvPr id="15" name="Text 12"/>
          <p:cNvSpPr txBox="1"/>
          <p:nvPr/>
        </p:nvSpPr>
        <p:spPr>
          <a:xfrm>
            <a:off x="274320" y="174650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S33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Bisnis, "Telkomsel Orbit Targetkan 5 Juta Pelanggan pada 2025", 19 Oct 2022</a:t>
            </a:r>
            <a:endParaRPr lang="en-US" sz="620" dirty="0"/>
          </a:p>
        </p:txBody>
      </p:sp>
      <p:sp>
        <p:nvSpPr>
          <p:cNvPr id="16" name="Text 13"/>
          <p:cNvSpPr txBox="1"/>
          <p:nvPr/>
        </p:nvSpPr>
        <p:spPr>
          <a:xfrm>
            <a:off x="274320" y="18973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S34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IndiHome spin-off coverage (DailySocial; Selular), 2023</a:t>
            </a:r>
            <a:endParaRPr lang="en-US" sz="620" dirty="0"/>
          </a:p>
        </p:txBody>
      </p:sp>
      <p:sp>
        <p:nvSpPr>
          <p:cNvPr id="17" name="Text 14"/>
          <p:cNvSpPr txBox="1"/>
          <p:nvPr/>
        </p:nvSpPr>
        <p:spPr>
          <a:xfrm>
            <a:off x="274320" y="204825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S35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YLKI complaint data via academic and press sources; IndiHome care channels (Detik), 2024–2025</a:t>
            </a:r>
            <a:endParaRPr lang="en-US" sz="620" dirty="0"/>
          </a:p>
        </p:txBody>
      </p:sp>
      <p:sp>
        <p:nvSpPr>
          <p:cNvPr id="18" name="Text 15"/>
          <p:cNvSpPr txBox="1"/>
          <p:nvPr/>
        </p:nvSpPr>
        <p:spPr>
          <a:xfrm>
            <a:off x="274320" y="219913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S36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BPS / Mandiri Institute middle-class data; household consumption 2025 (GoodStats; Bisnis), 2026</a:t>
            </a:r>
            <a:endParaRPr lang="en-US" sz="620" dirty="0"/>
          </a:p>
        </p:txBody>
      </p:sp>
      <p:sp>
        <p:nvSpPr>
          <p:cNvPr id="19" name="Text 16"/>
          <p:cNvSpPr txBox="1"/>
          <p:nvPr/>
        </p:nvSpPr>
        <p:spPr>
          <a:xfrm>
            <a:off x="274320" y="235000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S37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RT/RW Net coverage (Selular, Oct 2024; Bisnis 2024)</a:t>
            </a:r>
            <a:endParaRPr lang="en-US" sz="620" dirty="0"/>
          </a:p>
        </p:txBody>
      </p:sp>
      <p:sp>
        <p:nvSpPr>
          <p:cNvPr id="20" name="Text 17"/>
          <p:cNvSpPr txBox="1"/>
          <p:nvPr/>
        </p:nvSpPr>
        <p:spPr>
          <a:xfrm>
            <a:off x="274320" y="250088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S38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Jio AirFiber coverage (TelecomTalk; Voice&amp;Data; Outlook Business), 2025</a:t>
            </a:r>
            <a:endParaRPr lang="en-US" sz="620" dirty="0"/>
          </a:p>
        </p:txBody>
      </p:sp>
      <p:sp>
        <p:nvSpPr>
          <p:cNvPr id="21" name="Text 18"/>
          <p:cNvSpPr txBox="1"/>
          <p:nvPr/>
        </p:nvSpPr>
        <p:spPr>
          <a:xfrm>
            <a:off x="274320" y="265176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S39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T-Mobile 5G Home Internet (BusinessWire 2022; product terms)</a:t>
            </a:r>
            <a:endParaRPr lang="en-US" sz="620" dirty="0"/>
          </a:p>
        </p:txBody>
      </p:sp>
      <p:sp>
        <p:nvSpPr>
          <p:cNvPr id="22" name="Text 19"/>
          <p:cNvSpPr txBox="1"/>
          <p:nvPr/>
        </p:nvSpPr>
        <p:spPr>
          <a:xfrm>
            <a:off x="274320" y="28026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S40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Globe At Home (Globe newsroom; Context.ph, Feb 2026)</a:t>
            </a:r>
            <a:endParaRPr lang="en-US" sz="620" dirty="0"/>
          </a:p>
        </p:txBody>
      </p:sp>
      <p:sp>
        <p:nvSpPr>
          <p:cNvPr id="23" name="Text 20"/>
          <p:cNvSpPr txBox="1"/>
          <p:nvPr/>
        </p:nvSpPr>
        <p:spPr>
          <a:xfrm>
            <a:off x="274320" y="295351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S41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Convergence benchmarks (TelecomTV; FTI Consulting; CCS Insight), 2024–2026</a:t>
            </a:r>
            <a:endParaRPr lang="en-US" sz="620" dirty="0"/>
          </a:p>
        </p:txBody>
      </p:sp>
      <p:sp>
        <p:nvSpPr>
          <p:cNvPr id="24" name="Text 21"/>
          <p:cNvSpPr txBox="1"/>
          <p:nvPr/>
        </p:nvSpPr>
        <p:spPr>
          <a:xfrm>
            <a:off x="274320" y="310438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S43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Bisnis, "Telkomsel Kalibrasi Pelanggan IndiHome, Kinerja ARPU Semester I/2026 Terdampak", 4 Aug 2026</a:t>
            </a:r>
            <a:endParaRPr lang="en-US" sz="620" dirty="0"/>
          </a:p>
        </p:txBody>
      </p:sp>
      <p:sp>
        <p:nvSpPr>
          <p:cNvPr id="25" name="Text 22"/>
          <p:cNvSpPr txBox="1"/>
          <p:nvPr/>
        </p:nvSpPr>
        <p:spPr>
          <a:xfrm>
            <a:off x="274320" y="325526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S44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Selular, "Orbit hadirkan skema pascabayar Telkomsel Halo", Mar 2022</a:t>
            </a:r>
            <a:endParaRPr lang="en-US" sz="620" dirty="0"/>
          </a:p>
        </p:txBody>
      </p:sp>
      <p:sp>
        <p:nvSpPr>
          <p:cNvPr id="26" name="Text 23"/>
          <p:cNvSpPr txBox="1"/>
          <p:nvPr/>
        </p:nvSpPr>
        <p:spPr>
          <a:xfrm>
            <a:off x="274320" y="340614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S45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MyTelkomsel app screenshots: Orbit catalogue; IndiHome plans, Jakarta Selatan and Gorontalo, 10 Oct 2026</a:t>
            </a:r>
            <a:endParaRPr lang="en-US" sz="620" dirty="0"/>
          </a:p>
        </p:txBody>
      </p:sp>
      <p:sp>
        <p:nvSpPr>
          <p:cNvPr id="27" name="Text 24"/>
          <p:cNvSpPr txBox="1"/>
          <p:nvPr/>
        </p:nvSpPr>
        <p:spPr>
          <a:xfrm>
            <a:off x="274320" y="355701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S46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 One web page, Jakarta Selatan: Dynamic, Complete and Easy tabs, 10 Oct 2026</a:t>
            </a:r>
            <a:endParaRPr lang="en-US" sz="620" dirty="0"/>
          </a:p>
        </p:txBody>
      </p:sp>
      <p:sp>
        <p:nvSpPr>
          <p:cNvPr id="28" name="Text 25"/>
          <p:cNvSpPr txBox="1"/>
          <p:nvPr/>
        </p:nvSpPr>
        <p:spPr>
          <a:xfrm>
            <a:off x="274320" y="370789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S47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Team's record of Telkomsel "Super Seru" promo pack prices in MyTelkomsel, 10 Oct 2026</a:t>
            </a:r>
            <a:endParaRPr lang="en-US" sz="620" dirty="0"/>
          </a:p>
        </p:txBody>
      </p:sp>
      <p:sp>
        <p:nvSpPr>
          <p:cNvPr id="29" name="Text 26"/>
          <p:cNvSpPr txBox="1"/>
          <p:nvPr/>
        </p:nvSpPr>
        <p:spPr>
          <a:xfrm>
            <a:off x="274320" y="385876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S48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Surge 1H26 results: BCA Sekuritas; Kabarbursa; Bisnis, "Penyebab Pendapatan Surge (WIFI) Melonjak 206%", Jul–Aug 2026</a:t>
            </a:r>
            <a:endParaRPr lang="en-US" sz="620" dirty="0"/>
          </a:p>
        </p:txBody>
      </p:sp>
      <p:sp>
        <p:nvSpPr>
          <p:cNvPr id="30" name="Text 27"/>
          <p:cNvSpPr txBox="1"/>
          <p:nvPr/>
        </p:nvSpPr>
        <p:spPr>
          <a:xfrm>
            <a:off x="274320" y="400964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S49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Kontan; Emitennews; BCA Sekuritas on Internet Rakyat sites and targets, Sep–Oct 2026</a:t>
            </a:r>
            <a:endParaRPr lang="en-US" sz="620" dirty="0"/>
          </a:p>
        </p:txBody>
      </p:sp>
      <p:sp>
        <p:nvSpPr>
          <p:cNvPr id="31" name="Text 28"/>
          <p:cNvSpPr txBox="1"/>
          <p:nvPr/>
        </p:nvSpPr>
        <p:spPr>
          <a:xfrm>
            <a:off x="274320" y="416052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S50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GoodStats (BPS data) on household structure and renting; BPS housing backlog (Pasardana), 2025–2026</a:t>
            </a:r>
            <a:endParaRPr lang="en-US" sz="620" dirty="0"/>
          </a:p>
        </p:txBody>
      </p:sp>
      <p:sp>
        <p:nvSpPr>
          <p:cNvPr id="32" name="Text 29"/>
          <p:cNvSpPr txBox="1"/>
          <p:nvPr/>
        </p:nvSpPr>
        <p:spPr>
          <a:xfrm>
            <a:off x="274320" y="431139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S51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GoodStats, population by economic class 2025 (BPS-based; Mandiri Institute), 2026</a:t>
            </a:r>
            <a:endParaRPr lang="en-US" sz="620" dirty="0"/>
          </a:p>
        </p:txBody>
      </p:sp>
      <p:sp>
        <p:nvSpPr>
          <p:cNvPr id="33" name="Text 30"/>
          <p:cNvSpPr txBox="1"/>
          <p:nvPr/>
        </p:nvSpPr>
        <p:spPr>
          <a:xfrm>
            <a:off x="274320" y="446227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S52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Bisnis opinion, "Penetrasi Home Broadband di RI: Measure What Matters", Aug 2024 (weak source)</a:t>
            </a:r>
            <a:endParaRPr lang="en-US" sz="620" dirty="0"/>
          </a:p>
        </p:txBody>
      </p:sp>
      <p:sp>
        <p:nvSpPr>
          <p:cNvPr id="34" name="Text 31"/>
          <p:cNvSpPr txBox="1"/>
          <p:nvPr/>
        </p:nvSpPr>
        <p:spPr>
          <a:xfrm>
            <a:off x="274320" y="461314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S53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Telkomsel, FUP explainer (fair-usage caps), 2024–2026</a:t>
            </a:r>
            <a:endParaRPr lang="en-US" sz="62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dge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8016" y="91440"/>
            <a:ext cx="246888" cy="603504"/>
          </a:xfrm>
          <a:prstGeom prst="rect">
            <a:avLst/>
          </a:prstGeom>
        </p:spPr>
      </p:pic>
      <p:sp>
        <p:nvSpPr>
          <p:cNvPr id="3" name="wordmark tab"/>
          <p:cNvSpPr/>
          <p:nvPr/>
        </p:nvSpPr>
        <p:spPr>
          <a:xfrm>
            <a:off x="7315200" y="-109728"/>
            <a:ext cx="169164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8000"/>
              </a:srgbClr>
            </a:outerShdw>
          </a:effectLst>
        </p:spPr>
      </p:sp>
      <p:sp>
        <p:nvSpPr>
          <p:cNvPr id="4" name="Text 1"/>
          <p:cNvSpPr txBox="1"/>
          <p:nvPr/>
        </p:nvSpPr>
        <p:spPr>
          <a:xfrm>
            <a:off x="7315200" y="54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Telkomsel</a:t>
            </a:r>
            <a:pPr algn="ctr" indent="0" marL="0">
              <a:buNone/>
            </a:pPr>
            <a:r>
              <a:rPr lang="en-US" sz="75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· IndiHome · Orbit</a:t>
            </a:r>
            <a:endParaRPr lang="en-US" sz="750" dirty="0"/>
          </a:p>
        </p:txBody>
      </p:sp>
      <p:sp>
        <p:nvSpPr>
          <p:cNvPr id="5" name="Text 2"/>
          <p:cNvSpPr txBox="1"/>
          <p:nvPr/>
        </p:nvSpPr>
        <p:spPr>
          <a:xfrm>
            <a:off x="274320" y="10972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 3 of 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274320" y="301752"/>
            <a:ext cx="6903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References: sources behind every figure, cited as [n] on the core pages and by source code in the appendix</a:t>
            </a:r>
            <a:endParaRPr lang="en-US" sz="1100" dirty="0"/>
          </a:p>
        </p:txBody>
      </p:sp>
      <p:sp>
        <p:nvSpPr>
          <p:cNvPr id="7" name="page bar"/>
          <p:cNvSpPr/>
          <p:nvPr/>
        </p:nvSpPr>
        <p:spPr>
          <a:xfrm>
            <a:off x="8577072" y="4873752"/>
            <a:ext cx="0" cy="219456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13648" y="4873752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47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274320" y="84124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S54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IESPA (~68M gamers, via Kontan) and Kadin (66M MSMEs, via Okezone), 2023–2026</a:t>
            </a:r>
            <a:endParaRPr lang="en-US" sz="620" dirty="0"/>
          </a:p>
        </p:txBody>
      </p:sp>
      <p:sp>
        <p:nvSpPr>
          <p:cNvPr id="10" name="Text 7"/>
          <p:cNvSpPr txBox="1"/>
          <p:nvPr/>
        </p:nvSpPr>
        <p:spPr>
          <a:xfrm>
            <a:off x="274320" y="99212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S55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Bisnis, "Telkomsel Janjikan Koneksi Internet Tanpa Sekat di Rumah lewat IndiHome Ultra Mesh", 17 Apr 2026</a:t>
            </a:r>
            <a:endParaRPr lang="en-US" sz="620" dirty="0"/>
          </a:p>
        </p:txBody>
      </p:sp>
      <p:sp>
        <p:nvSpPr>
          <p:cNvPr id="11" name="Text 8"/>
          <p:cNvSpPr txBox="1"/>
          <p:nvPr/>
        </p:nvSpPr>
        <p:spPr>
          <a:xfrm>
            <a:off x="274320" y="114300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S56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Katadata, "Hashim Djojohadikusumo Usul Internet Rakyat Sepaket dengan Program 3 Juta Rumah", 2026</a:t>
            </a:r>
            <a:endParaRPr lang="en-US" sz="620" dirty="0"/>
          </a:p>
        </p:txBody>
      </p:sp>
      <p:sp>
        <p:nvSpPr>
          <p:cNvPr id="12" name="Text 9"/>
          <p:cNvSpPr txBox="1"/>
          <p:nvPr/>
        </p:nvSpPr>
        <p:spPr>
          <a:xfrm>
            <a:off x="274320" y="129387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S57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Bisnis, "FMC Telkomsel (TLKM), ISAT, dan EXCL Berpotensi Dongkrak Tingkat Churn ISP", 30 Jun 2023</a:t>
            </a:r>
            <a:endParaRPr lang="en-US" sz="620" dirty="0"/>
          </a:p>
        </p:txBody>
      </p:sp>
      <p:sp>
        <p:nvSpPr>
          <p:cNvPr id="13" name="Text 10"/>
          <p:cNvSpPr txBox="1"/>
          <p:nvPr/>
        </p:nvSpPr>
        <p:spPr>
          <a:xfrm>
            <a:off x="274320" y="144475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S58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Samuel Sekuritas, "Solusi Sinergi Digital (WIFI IJ): Better Times Ahead", 12 Aug 2026. samuel.co.id</a:t>
            </a:r>
            <a:endParaRPr lang="en-US" sz="620" dirty="0"/>
          </a:p>
        </p:txBody>
      </p:sp>
      <p:sp>
        <p:nvSpPr>
          <p:cNvPr id="14" name="Text 11"/>
          <p:cNvSpPr txBox="1"/>
          <p:nvPr/>
        </p:nvSpPr>
        <p:spPr>
          <a:xfrm>
            <a:off x="274320" y="159562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S59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 Help Center, "How to control how much data Netflix uses", read 10 Oct 2026</a:t>
            </a:r>
            <a:endParaRPr lang="en-US" sz="620" dirty="0"/>
          </a:p>
        </p:txBody>
      </p:sp>
      <p:sp>
        <p:nvSpPr>
          <p:cNvPr id="15" name="Text 12"/>
          <p:cNvSpPr txBox="1"/>
          <p:nvPr/>
        </p:nvSpPr>
        <p:spPr>
          <a:xfrm>
            <a:off x="274320" y="174650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S60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Starlite pricing: Bisnis, 16 Jul 2026 and 20 Nov 2025; Kontan, Jul 2026</a:t>
            </a:r>
            <a:endParaRPr lang="en-US" sz="620" dirty="0"/>
          </a:p>
        </p:txBody>
      </p:sp>
      <p:sp>
        <p:nvSpPr>
          <p:cNvPr id="16" name="Text 13"/>
          <p:cNvSpPr txBox="1"/>
          <p:nvPr/>
        </p:nvSpPr>
        <p:spPr>
          <a:xfrm>
            <a:off x="274320" y="189738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S61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BRI Danareksa Sekuritas, "Telkom Indonesia: Mobile and Fixed Broadband to Turn the Corner", 13 Aug 2025</a:t>
            </a:r>
            <a:endParaRPr lang="en-US" sz="620" dirty="0"/>
          </a:p>
        </p:txBody>
      </p:sp>
      <p:sp>
        <p:nvSpPr>
          <p:cNvPr id="17" name="Text 14"/>
          <p:cNvSpPr txBox="1"/>
          <p:nvPr/>
        </p:nvSpPr>
        <p:spPr>
          <a:xfrm>
            <a:off x="274320" y="204825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S62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Bisnis (13 and 17 Sep 2025) and Kontan (Oct 2025) on Telkomsel's 800k–1M new home customers a year</a:t>
            </a:r>
            <a:endParaRPr lang="en-US" sz="620" dirty="0"/>
          </a:p>
        </p:txBody>
      </p:sp>
      <p:sp>
        <p:nvSpPr>
          <p:cNvPr id="18" name="Text 15"/>
          <p:cNvSpPr txBox="1"/>
          <p:nvPr/>
        </p:nvSpPr>
        <p:spPr>
          <a:xfrm>
            <a:off x="274320" y="219913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S63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Bisnis, "Strategi Telkomsel Hadapi Persaingan Internet Murah Rp100.000", 22 Apr 2026; Selular, Aug 2025</a:t>
            </a:r>
            <a:endParaRPr lang="en-US" sz="620" dirty="0"/>
          </a:p>
        </p:txBody>
      </p:sp>
      <p:sp>
        <p:nvSpPr>
          <p:cNvPr id="19" name="Text 16"/>
          <p:cNvSpPr txBox="1"/>
          <p:nvPr/>
        </p:nvSpPr>
        <p:spPr>
          <a:xfrm>
            <a:off x="274320" y="235000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S64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Kontan, "YLKI catat 106 pengaduan konsumen telekomunikasi sepanjang 2025", Jan 2026</a:t>
            </a:r>
            <a:endParaRPr lang="en-US" sz="620" dirty="0"/>
          </a:p>
        </p:txBody>
      </p:sp>
      <p:sp>
        <p:nvSpPr>
          <p:cNvPr id="20" name="Text 17"/>
          <p:cNvSpPr txBox="1"/>
          <p:nvPr/>
        </p:nvSpPr>
        <p:spPr>
          <a:xfrm>
            <a:off x="274320" y="250088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S65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mystery shop of Telkomsel web pages (/indihome, /orbit, /eznet, /eznet-wireless, /one), read 10 Oct 2026</a:t>
            </a:r>
            <a:endParaRPr lang="en-US" sz="620" dirty="0"/>
          </a:p>
        </p:txBody>
      </p:sp>
      <p:sp>
        <p:nvSpPr>
          <p:cNvPr id="21" name="Text 18"/>
          <p:cNvSpPr txBox="1"/>
          <p:nvPr/>
        </p:nvSpPr>
        <p:spPr>
          <a:xfrm>
            <a:off x="274320" y="265176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S66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PMK 131/2024 on VAT (effective 11%), via Antara and DJP, Jan 2025</a:t>
            </a:r>
            <a:endParaRPr lang="en-US" sz="620" dirty="0"/>
          </a:p>
        </p:txBody>
      </p:sp>
      <p:sp>
        <p:nvSpPr>
          <p:cNvPr id="22" name="Text 19"/>
          <p:cNvSpPr txBox="1"/>
          <p:nvPr/>
        </p:nvSpPr>
        <p:spPr>
          <a:xfrm>
            <a:off x="274320" y="2802636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S67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OTT retail prices: Gizmologi; IDX Channel; Momsmoney; Lapakgaming, 2024–2026 (weak sources)</a:t>
            </a:r>
            <a:endParaRPr lang="en-US" sz="620" dirty="0"/>
          </a:p>
        </p:txBody>
      </p:sp>
      <p:sp>
        <p:nvSpPr>
          <p:cNvPr id="23" name="Text 20"/>
          <p:cNvSpPr txBox="1"/>
          <p:nvPr/>
        </p:nvSpPr>
        <p:spPr>
          <a:xfrm>
            <a:off x="274320" y="2953512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S68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TelecomReviewAsia, "Indosat ends 2025 strong…", Feb 2026</a:t>
            </a:r>
            <a:endParaRPr lang="en-US" sz="620" dirty="0"/>
          </a:p>
        </p:txBody>
      </p:sp>
      <p:sp>
        <p:nvSpPr>
          <p:cNvPr id="24" name="Text 21"/>
          <p:cNvSpPr txBox="1"/>
          <p:nvPr/>
        </p:nvSpPr>
        <p:spPr>
          <a:xfrm>
            <a:off x="274320" y="3104388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S69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Bisnis (May 2025) and Indotelko (Nov 2025) on XLSmart fixed broadband customers</a:t>
            </a:r>
            <a:endParaRPr lang="en-US" sz="620" dirty="0"/>
          </a:p>
        </p:txBody>
      </p:sp>
      <p:sp>
        <p:nvSpPr>
          <p:cNvPr id="25" name="Text 22"/>
          <p:cNvSpPr txBox="1"/>
          <p:nvPr/>
        </p:nvSpPr>
        <p:spPr>
          <a:xfrm>
            <a:off x="274320" y="3255264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" b="1" dirty="0">
                <a:solidFill>
                  <a:srgbClr val="E4002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S70  </a:t>
            </a: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Bisnis, "Surge (WIFI) Perluas Internet Rakyat (IRA) 5G ke 10 Kota", 24 Sep 2026</a:t>
            </a:r>
            <a:endParaRPr lang="en-US" sz="620" dirty="0"/>
          </a:p>
        </p:txBody>
      </p:sp>
      <p:sp>
        <p:nvSpPr>
          <p:cNvPr id="26" name="Text 23"/>
          <p:cNvSpPr txBox="1"/>
          <p:nvPr/>
        </p:nvSpPr>
        <p:spPr>
          <a:xfrm>
            <a:off x="274320" y="3406140"/>
            <a:ext cx="8595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Method note: figures tagged in the team's working files as primary, secondary, calculated, estimate or assumption; estimates are marked "est." on every page; assumptions are listed in Appendix 27.</a:t>
            </a:r>
            <a:endParaRPr lang="en-US" sz="6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H.O.M.E.: Telkomsel household connectivity portfolio</dc:title>
  <dc:subject>PptxGenJS Presentation</dc:subject>
  <dc:creator>Team [name]</dc:creator>
  <cp:lastModifiedBy>Team [name]</cp:lastModifiedBy>
  <cp:revision>1</cp:revision>
  <dcterms:created xsi:type="dcterms:W3CDTF">2026-10-12T03:21:28Z</dcterms:created>
  <dcterms:modified xsi:type="dcterms:W3CDTF">2026-10-12T03:21:28Z</dcterms:modified>
</cp:coreProperties>
</file>