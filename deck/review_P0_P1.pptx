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bbon top"/>
          <p:cNvSpPr/>
          <p:nvPr/>
        </p:nvSpPr>
        <p:spPr>
          <a:xfrm>
            <a:off x="-2011680" y="-4206240"/>
            <a:ext cx="10515600" cy="5120640"/>
          </a:xfrm>
          <a:prstGeom prst="blockArc">
            <a:avLst>
              <a:gd name="adj1" fmla="val 900000"/>
              <a:gd name="adj2" fmla="val 9900000"/>
              <a:gd name="adj3" fmla="val 1750"/>
            </a:avLst>
          </a:prstGeom>
          <a:solidFill>
            <a:srgbClr val="475569"/>
          </a:solidFill>
          <a:ln/>
        </p:spPr>
      </p:sp>
      <p:sp>
        <p:nvSpPr>
          <p:cNvPr id="3" name="ribbon right"/>
          <p:cNvSpPr/>
          <p:nvPr/>
        </p:nvSpPr>
        <p:spPr>
          <a:xfrm>
            <a:off x="4480560" y="182880"/>
            <a:ext cx="6035040" cy="6035040"/>
          </a:xfrm>
          <a:prstGeom prst="blockArc">
            <a:avLst>
              <a:gd name="adj1" fmla="val 13320000"/>
              <a:gd name="adj2" fmla="val 19800000"/>
              <a:gd name="adj3" fmla="val 3000"/>
            </a:avLst>
          </a:prstGeom>
          <a:solidFill>
            <a:srgbClr val="A50021"/>
          </a:solidFill>
          <a:ln/>
        </p:spPr>
      </p:sp>
      <p:sp>
        <p:nvSpPr>
          <p:cNvPr id="4" name="ribbon left"/>
          <p:cNvSpPr/>
          <p:nvPr/>
        </p:nvSpPr>
        <p:spPr>
          <a:xfrm>
            <a:off x="-1737360" y="2834640"/>
            <a:ext cx="3840480" cy="3840480"/>
          </a:xfrm>
          <a:prstGeom prst="blockArc">
            <a:avLst>
              <a:gd name="adj1" fmla="val 15000000"/>
              <a:gd name="adj2" fmla="val 1200000"/>
              <a:gd name="adj3" fmla="val 4500"/>
            </a:avLst>
          </a:prstGeom>
          <a:solidFill>
            <a:srgbClr val="E4002B"/>
          </a:solidFill>
          <a:ln/>
        </p:spPr>
      </p:sp>
      <p:sp>
        <p:nvSpPr>
          <p:cNvPr id="5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pic>
        <p:nvPicPr>
          <p:cNvPr id="7" name="Image 0" descr="titl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868680"/>
            <a:ext cx="82296" cy="1965960"/>
          </a:xfrm>
          <a:prstGeom prst="rect">
            <a:avLst/>
          </a:prstGeom>
        </p:spPr>
      </p:pic>
      <p:sp>
        <p:nvSpPr>
          <p:cNvPr id="8" name="badge H"/>
          <p:cNvSpPr/>
          <p:nvPr/>
        </p:nvSpPr>
        <p:spPr>
          <a:xfrm>
            <a:off x="658368" y="868680"/>
            <a:ext cx="676656" cy="676656"/>
          </a:xfrm>
          <a:prstGeom prst="roundRect">
            <a:avLst>
              <a:gd name="adj" fmla="val 20000"/>
            </a:avLst>
          </a:prstGeom>
          <a:solidFill>
            <a:srgbClr val="E4002B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58368" y="86868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</a:t>
            </a:r>
            <a:endParaRPr lang="en-US" sz="3000" dirty="0"/>
          </a:p>
        </p:txBody>
      </p:sp>
      <p:sp>
        <p:nvSpPr>
          <p:cNvPr id="10" name="dot 0"/>
          <p:cNvSpPr/>
          <p:nvPr/>
        </p:nvSpPr>
        <p:spPr>
          <a:xfrm>
            <a:off x="1490472" y="1426464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30352" y="1618488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 fit</a:t>
            </a:r>
            <a:endParaRPr lang="en-US" sz="750" dirty="0"/>
          </a:p>
        </p:txBody>
      </p:sp>
      <p:sp>
        <p:nvSpPr>
          <p:cNvPr id="12" name="badge O"/>
          <p:cNvSpPr/>
          <p:nvPr/>
        </p:nvSpPr>
        <p:spPr>
          <a:xfrm>
            <a:off x="1755648" y="868680"/>
            <a:ext cx="676656" cy="676656"/>
          </a:xfrm>
          <a:prstGeom prst="roundRect">
            <a:avLst>
              <a:gd name="adj" fmla="val 20000"/>
            </a:avLst>
          </a:prstGeom>
          <a:solidFill>
            <a:srgbClr val="E4002B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1755648" y="86868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</a:t>
            </a:r>
            <a:endParaRPr lang="en-US" sz="3000" dirty="0"/>
          </a:p>
        </p:txBody>
      </p:sp>
      <p:sp>
        <p:nvSpPr>
          <p:cNvPr id="14" name="dot 1"/>
          <p:cNvSpPr/>
          <p:nvPr/>
        </p:nvSpPr>
        <p:spPr>
          <a:xfrm>
            <a:off x="2587752" y="1426464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627632" y="1618488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Offer a path up</a:t>
            </a:r>
            <a:endParaRPr lang="en-US" sz="750" dirty="0"/>
          </a:p>
        </p:txBody>
      </p:sp>
      <p:sp>
        <p:nvSpPr>
          <p:cNvPr id="16" name="badge M"/>
          <p:cNvSpPr/>
          <p:nvPr/>
        </p:nvSpPr>
        <p:spPr>
          <a:xfrm>
            <a:off x="2852928" y="868680"/>
            <a:ext cx="676656" cy="676656"/>
          </a:xfrm>
          <a:prstGeom prst="roundRect">
            <a:avLst>
              <a:gd name="adj" fmla="val 20000"/>
            </a:avLst>
          </a:prstGeom>
          <a:solidFill>
            <a:srgbClr val="E4002B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2852928" y="86868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</a:t>
            </a:r>
            <a:endParaRPr lang="en-US" sz="3000" dirty="0"/>
          </a:p>
        </p:txBody>
      </p:sp>
      <p:sp>
        <p:nvSpPr>
          <p:cNvPr id="18" name="dot 2"/>
          <p:cNvSpPr/>
          <p:nvPr/>
        </p:nvSpPr>
        <p:spPr>
          <a:xfrm>
            <a:off x="3685032" y="1426464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724912" y="1618488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 staying better</a:t>
            </a:r>
            <a:endParaRPr lang="en-US" sz="750" dirty="0"/>
          </a:p>
        </p:txBody>
      </p:sp>
      <p:sp>
        <p:nvSpPr>
          <p:cNvPr id="20" name="badge E"/>
          <p:cNvSpPr/>
          <p:nvPr/>
        </p:nvSpPr>
        <p:spPr>
          <a:xfrm>
            <a:off x="3950208" y="868680"/>
            <a:ext cx="676656" cy="676656"/>
          </a:xfrm>
          <a:prstGeom prst="roundRect">
            <a:avLst>
              <a:gd name="adj" fmla="val 20000"/>
            </a:avLst>
          </a:prstGeom>
          <a:solidFill>
            <a:srgbClr val="E4002B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3950208" y="86868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3822192" y="1618488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Evaluate household value</a:t>
            </a:r>
            <a:endParaRPr lang="en-US" sz="750" dirty="0"/>
          </a:p>
        </p:txBody>
      </p:sp>
      <p:sp>
        <p:nvSpPr>
          <p:cNvPr id="23" name="Text 20"/>
          <p:cNvSpPr txBox="1"/>
          <p:nvPr/>
        </p:nvSpPr>
        <p:spPr>
          <a:xfrm>
            <a:off x="658368" y="202996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Managing the home, not the line: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positioning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IndiHome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by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 need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grow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long-term household value</a:t>
            </a:r>
            <a:endParaRPr lang="en-US" sz="1450" dirty="0"/>
          </a:p>
        </p:txBody>
      </p:sp>
      <p:sp>
        <p:nvSpPr>
          <p:cNvPr id="24" name="house roof"/>
          <p:cNvSpPr/>
          <p:nvPr/>
        </p:nvSpPr>
        <p:spPr>
          <a:xfrm>
            <a:off x="5989320" y="566928"/>
            <a:ext cx="2514600" cy="777240"/>
          </a:xfrm>
          <a:prstGeom prst="triangle">
            <a:avLst/>
          </a:prstGeom>
          <a:solidFill>
            <a:srgbClr val="1F2937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25" name="house body"/>
          <p:cNvSpPr/>
          <p:nvPr/>
        </p:nvSpPr>
        <p:spPr>
          <a:xfrm>
            <a:off x="6245352" y="1344168"/>
            <a:ext cx="2002536" cy="1783080"/>
          </a:xfrm>
          <a:prstGeom prst="rect">
            <a:avLst/>
          </a:prstGeom>
          <a:solidFill>
            <a:srgbClr val="273244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26" name="spoke 0"/>
          <p:cNvSpPr/>
          <p:nvPr/>
        </p:nvSpPr>
        <p:spPr>
          <a:xfrm>
            <a:off x="6588252" y="1682496"/>
            <a:ext cx="658368" cy="45720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7" name="spoke 1"/>
          <p:cNvSpPr/>
          <p:nvPr/>
        </p:nvSpPr>
        <p:spPr>
          <a:xfrm flipH="1">
            <a:off x="7246620" y="1682496"/>
            <a:ext cx="658368" cy="45720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8" name="spoke 2"/>
          <p:cNvSpPr/>
          <p:nvPr/>
        </p:nvSpPr>
        <p:spPr>
          <a:xfrm>
            <a:off x="7246620" y="2139696"/>
            <a:ext cx="914" cy="603504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9" name="spoke 3"/>
          <p:cNvSpPr/>
          <p:nvPr/>
        </p:nvSpPr>
        <p:spPr>
          <a:xfrm flipH="1">
            <a:off x="5920740" y="2139696"/>
            <a:ext cx="132588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30" name="spoke 4"/>
          <p:cNvSpPr/>
          <p:nvPr/>
        </p:nvSpPr>
        <p:spPr>
          <a:xfrm>
            <a:off x="7246620" y="2139696"/>
            <a:ext cx="132588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31" name="hub IndiHome"/>
          <p:cNvSpPr/>
          <p:nvPr/>
        </p:nvSpPr>
        <p:spPr>
          <a:xfrm>
            <a:off x="6825996" y="1719072"/>
            <a:ext cx="841248" cy="841248"/>
          </a:xfrm>
          <a:prstGeom prst="ellipse">
            <a:avLst/>
          </a:prstGeom>
          <a:solidFill>
            <a:srgbClr val="E4002B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6825996" y="1719072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IndiHome</a:t>
            </a:r>
            <a:endParaRPr lang="en-US" sz="850" dirty="0"/>
          </a:p>
        </p:txBody>
      </p:sp>
      <p:sp>
        <p:nvSpPr>
          <p:cNvPr id="33" name="satellite Orbit 0"/>
          <p:cNvSpPr/>
          <p:nvPr/>
        </p:nvSpPr>
        <p:spPr>
          <a:xfrm>
            <a:off x="6359652" y="1453896"/>
            <a:ext cx="457200" cy="457200"/>
          </a:xfrm>
          <a:prstGeom prst="ellipse">
            <a:avLst/>
          </a:prstGeom>
          <a:solidFill>
            <a:srgbClr val="1F2937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359652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</a:t>
            </a:r>
            <a:endParaRPr lang="en-US" sz="650" dirty="0"/>
          </a:p>
        </p:txBody>
      </p:sp>
      <p:sp>
        <p:nvSpPr>
          <p:cNvPr id="35" name="satellite Orbit 1"/>
          <p:cNvSpPr/>
          <p:nvPr/>
        </p:nvSpPr>
        <p:spPr>
          <a:xfrm>
            <a:off x="7676388" y="1453896"/>
            <a:ext cx="457200" cy="457200"/>
          </a:xfrm>
          <a:prstGeom prst="ellipse">
            <a:avLst/>
          </a:prstGeom>
          <a:solidFill>
            <a:srgbClr val="1F2937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676388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</a:t>
            </a:r>
            <a:endParaRPr lang="en-US" sz="650" dirty="0"/>
          </a:p>
        </p:txBody>
      </p:sp>
      <p:sp>
        <p:nvSpPr>
          <p:cNvPr id="37" name="satellite Orbit 2"/>
          <p:cNvSpPr/>
          <p:nvPr/>
        </p:nvSpPr>
        <p:spPr>
          <a:xfrm>
            <a:off x="7018020" y="2514600"/>
            <a:ext cx="457200" cy="457200"/>
          </a:xfrm>
          <a:prstGeom prst="ellipse">
            <a:avLst/>
          </a:prstGeom>
          <a:solidFill>
            <a:srgbClr val="1F2937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01802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</a:t>
            </a:r>
            <a:endParaRPr lang="en-US" sz="650" dirty="0"/>
          </a:p>
        </p:txBody>
      </p:sp>
      <p:sp>
        <p:nvSpPr>
          <p:cNvPr id="39" name="satellite Orbit 3"/>
          <p:cNvSpPr/>
          <p:nvPr/>
        </p:nvSpPr>
        <p:spPr>
          <a:xfrm>
            <a:off x="5692140" y="2185416"/>
            <a:ext cx="457200" cy="457200"/>
          </a:xfrm>
          <a:prstGeom prst="ellipse">
            <a:avLst/>
          </a:prstGeom>
          <a:solidFill>
            <a:srgbClr val="1F2937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692140" y="2185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</a:t>
            </a:r>
            <a:endParaRPr lang="en-US" sz="650" dirty="0"/>
          </a:p>
        </p:txBody>
      </p:sp>
      <p:sp>
        <p:nvSpPr>
          <p:cNvPr id="41" name="satellite Orbit 4"/>
          <p:cNvSpPr/>
          <p:nvPr/>
        </p:nvSpPr>
        <p:spPr>
          <a:xfrm>
            <a:off x="8343900" y="2185416"/>
            <a:ext cx="457200" cy="457200"/>
          </a:xfrm>
          <a:prstGeom prst="ellipse">
            <a:avLst/>
          </a:prstGeom>
          <a:solidFill>
            <a:srgbClr val="1F2937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343900" y="2185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</a:t>
            </a:r>
            <a:endParaRPr lang="en-US" sz="650" dirty="0"/>
          </a:p>
        </p:txBody>
      </p:sp>
      <p:sp>
        <p:nvSpPr>
          <p:cNvPr id="43" name="Text 40"/>
          <p:cNvSpPr txBox="1"/>
          <p:nvPr/>
        </p:nvSpPr>
        <p:spPr>
          <a:xfrm>
            <a:off x="5897880" y="32004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IndiHome as the family's home hub; Orbit as the flexible start, in and beyond the home</a:t>
            </a:r>
            <a:endParaRPr lang="en-US" sz="650" dirty="0"/>
          </a:p>
        </p:txBody>
      </p:sp>
      <p:sp>
        <p:nvSpPr>
          <p:cNvPr id="44" name="bottom band"/>
          <p:cNvSpPr/>
          <p:nvPr/>
        </p:nvSpPr>
        <p:spPr>
          <a:xfrm>
            <a:off x="274320" y="3931920"/>
            <a:ext cx="8595360" cy="9601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5" name="Text 42"/>
          <p:cNvSpPr txBox="1"/>
          <p:nvPr/>
        </p:nvSpPr>
        <p:spPr>
          <a:xfrm>
            <a:off x="594360" y="404164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by:</a:t>
            </a:r>
            <a:endParaRPr lang="en-US" sz="750" dirty="0"/>
          </a:p>
        </p:txBody>
      </p:sp>
      <p:sp>
        <p:nvSpPr>
          <p:cNvPr id="46" name="Text 43"/>
          <p:cNvSpPr txBox="1"/>
          <p:nvPr/>
        </p:nvSpPr>
        <p:spPr>
          <a:xfrm>
            <a:off x="59436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[name]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594360" y="449884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Connecting Every Home: Optimizing Telkomsel's Household Connectivity Portfolio · DWDG ITS Mini Case Competition 2026</a:t>
            </a:r>
            <a:endParaRPr lang="en-US" sz="750" dirty="0"/>
          </a:p>
        </p:txBody>
      </p:sp>
      <p:sp>
        <p:nvSpPr>
          <p:cNvPr id="48" name="member photo 0"/>
          <p:cNvSpPr/>
          <p:nvPr/>
        </p:nvSpPr>
        <p:spPr>
          <a:xfrm>
            <a:off x="5989320" y="3639312"/>
            <a:ext cx="603504" cy="603504"/>
          </a:xfrm>
          <a:prstGeom prst="ellipse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9" name="Text 46"/>
          <p:cNvSpPr txBox="1"/>
          <p:nvPr/>
        </p:nvSpPr>
        <p:spPr>
          <a:xfrm>
            <a:off x="5989320" y="363931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[photo]</a:t>
            </a:r>
            <a:endParaRPr lang="en-US" sz="600" dirty="0"/>
          </a:p>
        </p:txBody>
      </p:sp>
      <p:sp>
        <p:nvSpPr>
          <p:cNvPr id="50" name="Text 47"/>
          <p:cNvSpPr txBox="1"/>
          <p:nvPr/>
        </p:nvSpPr>
        <p:spPr>
          <a:xfrm>
            <a:off x="5806440" y="4315968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[member 1]</a:t>
            </a:r>
            <a:endParaRPr lang="en-US" sz="650" dirty="0"/>
          </a:p>
        </p:txBody>
      </p:sp>
      <p:sp>
        <p:nvSpPr>
          <p:cNvPr id="51" name="member photo 1"/>
          <p:cNvSpPr/>
          <p:nvPr/>
        </p:nvSpPr>
        <p:spPr>
          <a:xfrm>
            <a:off x="6949440" y="3639312"/>
            <a:ext cx="603504" cy="603504"/>
          </a:xfrm>
          <a:prstGeom prst="ellipse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52" name="Text 49"/>
          <p:cNvSpPr txBox="1"/>
          <p:nvPr/>
        </p:nvSpPr>
        <p:spPr>
          <a:xfrm>
            <a:off x="6949440" y="363931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[photo]</a:t>
            </a:r>
            <a:endParaRPr lang="en-US" sz="600" dirty="0"/>
          </a:p>
        </p:txBody>
      </p:sp>
      <p:sp>
        <p:nvSpPr>
          <p:cNvPr id="53" name="Text 50"/>
          <p:cNvSpPr txBox="1"/>
          <p:nvPr/>
        </p:nvSpPr>
        <p:spPr>
          <a:xfrm>
            <a:off x="6766560" y="4315968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[member 2]</a:t>
            </a:r>
            <a:endParaRPr lang="en-US" sz="650" dirty="0"/>
          </a:p>
        </p:txBody>
      </p:sp>
      <p:sp>
        <p:nvSpPr>
          <p:cNvPr id="54" name="member photo 2"/>
          <p:cNvSpPr/>
          <p:nvPr/>
        </p:nvSpPr>
        <p:spPr>
          <a:xfrm>
            <a:off x="7909560" y="3639312"/>
            <a:ext cx="603504" cy="603504"/>
          </a:xfrm>
          <a:prstGeom prst="ellipse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55" name="Text 52"/>
          <p:cNvSpPr txBox="1"/>
          <p:nvPr/>
        </p:nvSpPr>
        <p:spPr>
          <a:xfrm>
            <a:off x="7909560" y="363931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[photo]</a:t>
            </a:r>
            <a:endParaRPr lang="en-US" sz="600" dirty="0"/>
          </a:p>
        </p:txBody>
      </p:sp>
      <p:sp>
        <p:nvSpPr>
          <p:cNvPr id="56" name="Text 53"/>
          <p:cNvSpPr txBox="1"/>
          <p:nvPr/>
        </p:nvSpPr>
        <p:spPr>
          <a:xfrm>
            <a:off x="7726680" y="4315968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[member 3]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bbon left"/>
          <p:cNvSpPr/>
          <p:nvPr/>
        </p:nvSpPr>
        <p:spPr>
          <a:xfrm>
            <a:off x="-1463040" y="3108960"/>
            <a:ext cx="3291840" cy="3291840"/>
          </a:xfrm>
          <a:prstGeom prst="blockArc">
            <a:avLst>
              <a:gd name="adj1" fmla="val 15000000"/>
              <a:gd name="adj2" fmla="val 1200000"/>
              <a:gd name="adj3" fmla="val 4500"/>
            </a:avLst>
          </a:prstGeom>
          <a:solidFill>
            <a:srgbClr val="E4002B"/>
          </a:solidFill>
          <a:ln/>
        </p:spPr>
      </p:sp>
      <p:pic>
        <p:nvPicPr>
          <p:cNvPr id="3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4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301752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summary: fitting each home to the right product, then growing and keeping it, is worth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Rp394bn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over the life of the homes won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274320" y="481888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</a:t>
            </a:r>
            <a:pPr indent="0" marL="0">
              <a:buNone/>
            </a:pPr>
            <a:r>
              <a:rPr lang="en-US" sz="600" i="1" baseline="30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</a:t>
            </a:r>
            <a:pPr indent="0" marL="0">
              <a:buNone/>
            </a:pPr>
            <a:r>
              <a:rPr lang="en-US" sz="6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Telkom 1H26 Info Memo · </a:t>
            </a:r>
            <a:pPr indent="0" marL="0">
              <a:buNone/>
            </a:pPr>
            <a:r>
              <a:rPr lang="en-US" sz="600" i="1" baseline="30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[2]</a:t>
            </a:r>
            <a:pPr indent="0" marL="0">
              <a:buNone/>
            </a:pPr>
            <a:r>
              <a:rPr lang="en-US" sz="6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Appendix 6 · </a:t>
            </a:r>
            <a:pPr indent="0" marL="0">
              <a:buNone/>
            </a:pPr>
            <a:r>
              <a:rPr lang="en-US" sz="600" i="1" baseline="30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[3]</a:t>
            </a:r>
            <a:pPr indent="0" marL="0">
              <a:buNone/>
            </a:pPr>
            <a:r>
              <a:rPr lang="en-US" sz="6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Surge disclosures, Appendix 7 · </a:t>
            </a:r>
            <a:pPr indent="0" marL="0">
              <a:buNone/>
            </a:pPr>
            <a:r>
              <a:rPr lang="en-US" sz="600" i="1" baseline="30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[4]</a:t>
            </a:r>
            <a:pPr indent="0" marL="0">
              <a:buNone/>
            </a:pPr>
            <a:r>
              <a:rPr lang="en-US" sz="6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Telkomsel website (10 Oct 2026), Appendix 9 · </a:t>
            </a:r>
            <a:pPr indent="0" marL="0">
              <a:buNone/>
            </a:pPr>
            <a:r>
              <a:rPr lang="en-US" sz="600" i="1" baseline="30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[5]</a:t>
            </a:r>
            <a:pPr indent="0" marL="0">
              <a:buNone/>
            </a:pPr>
            <a:r>
              <a:rPr lang="en-US" sz="6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Appendix 10 · </a:t>
            </a:r>
            <a:pPr indent="0" marL="0">
              <a:buNone/>
            </a:pPr>
            <a:r>
              <a:rPr lang="en-US" sz="600" i="1" baseline="30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[6]</a:t>
            </a:r>
            <a:pPr indent="0" marL="0">
              <a:buNone/>
            </a:pPr>
            <a:r>
              <a:rPr lang="en-US" sz="6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Opensignal, Appendix 8 · model: Appendix 21–24</a:t>
            </a:r>
            <a:endParaRPr lang="en-US" sz="600" dirty="0"/>
          </a:p>
        </p:txBody>
      </p:sp>
      <p:sp>
        <p:nvSpPr>
          <p:cNvPr id="9" name="Text 6"/>
          <p:cNvSpPr txBox="1"/>
          <p:nvPr/>
        </p:nvSpPr>
        <p:spPr>
          <a:xfrm>
            <a:off x="5440680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6053328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</a:t>
            </a:r>
            <a:endParaRPr lang="en-US" sz="650" dirty="0"/>
          </a:p>
        </p:txBody>
      </p:sp>
      <p:sp>
        <p:nvSpPr>
          <p:cNvPr id="11" name="Text 8"/>
          <p:cNvSpPr txBox="1"/>
          <p:nvPr/>
        </p:nvSpPr>
        <p:spPr>
          <a:xfrm>
            <a:off x="6665976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7278624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</a:t>
            </a:r>
            <a:endParaRPr lang="en-US" sz="650" dirty="0"/>
          </a:p>
        </p:txBody>
      </p:sp>
      <p:sp>
        <p:nvSpPr>
          <p:cNvPr id="13" name="Text 10"/>
          <p:cNvSpPr txBox="1"/>
          <p:nvPr/>
        </p:nvSpPr>
        <p:spPr>
          <a:xfrm>
            <a:off x="7891272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Projection</a:t>
            </a:r>
            <a:endParaRPr lang="en-US" sz="650" dirty="0"/>
          </a:p>
        </p:txBody>
      </p:sp>
      <p:sp>
        <p:nvSpPr>
          <p:cNvPr id="14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panel"/>
          <p:cNvSpPr/>
          <p:nvPr/>
        </p:nvSpPr>
        <p:spPr>
          <a:xfrm>
            <a:off x="1024128" y="841248"/>
            <a:ext cx="7918704" cy="3913632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109728" y="923544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Situation</a:t>
            </a:r>
            <a:endParaRPr lang="en-US" sz="950" dirty="0"/>
          </a:p>
        </p:txBody>
      </p:sp>
      <p:sp>
        <p:nvSpPr>
          <p:cNvPr id="18" name="situation"/>
          <p:cNvSpPr/>
          <p:nvPr/>
        </p:nvSpPr>
        <p:spPr>
          <a:xfrm>
            <a:off x="1115568" y="923544"/>
            <a:ext cx="7735824" cy="36576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207008" y="923544"/>
            <a:ext cx="7552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 revenue fell </a:t>
            </a:r>
            <a:pPr algn="ctr" indent="0" marL="0">
              <a:buNone/>
            </a:pPr>
            <a:r>
              <a:rPr lang="en-US" sz="7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1.6%</a:t>
            </a:r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2025 and </a:t>
            </a:r>
            <a:pPr algn="ctr" indent="0" marL="0">
              <a:buNone/>
            </a:pPr>
            <a:r>
              <a:rPr lang="en-US" sz="7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3.8%</a:t>
            </a:r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1H26 </a:t>
            </a:r>
            <a:pPr algn="ctr" indent="0" marL="0">
              <a:buNone/>
            </a:pPr>
            <a:r>
              <a:rPr lang="en-US" sz="78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</a:t>
            </a:r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while </a:t>
            </a:r>
            <a:pPr algn="ctr" indent="0" marL="0">
              <a:buNone/>
            </a:pPr>
            <a:r>
              <a:rPr lang="en-US" sz="7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≈58–60M</a:t>
            </a:r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homes are still unconnected </a:t>
            </a:r>
            <a:pPr algn="ctr" indent="0" marL="0">
              <a:buNone/>
            </a:pPr>
            <a:r>
              <a:rPr lang="en-US" sz="78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[2]</a:t>
            </a:r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</a:t>
            </a:r>
            <a:pPr algn="ctr" indent="0" marL="0">
              <a:buNone/>
            </a:pPr>
            <a:r>
              <a:rPr lang="en-US" sz="7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Rp100k fiber</a:t>
            </a:r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took the growth: </a:t>
            </a:r>
            <a:pPr algn="ctr" indent="0" marL="0">
              <a:buNone/>
            </a:pPr>
            <a:r>
              <a:rPr lang="en-US" sz="7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Surge added 1.98M homes</a:t>
            </a:r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12 months </a:t>
            </a:r>
            <a:pPr algn="ctr" indent="0" marL="0">
              <a:buNone/>
            </a:pPr>
            <a:r>
              <a:rPr lang="en-US" sz="78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[3]</a:t>
            </a:r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780" dirty="0"/>
          </a:p>
        </p:txBody>
      </p:sp>
      <p:sp>
        <p:nvSpPr>
          <p:cNvPr id="20" name="tab H"/>
          <p:cNvSpPr/>
          <p:nvPr/>
        </p:nvSpPr>
        <p:spPr>
          <a:xfrm>
            <a:off x="1115568" y="1344168"/>
            <a:ext cx="2529840" cy="201168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15568" y="1344168"/>
            <a:ext cx="252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 · Household fit</a:t>
            </a:r>
            <a:endParaRPr lang="en-US" sz="750" dirty="0"/>
          </a:p>
        </p:txBody>
      </p:sp>
      <p:sp>
        <p:nvSpPr>
          <p:cNvPr id="22" name="tab O"/>
          <p:cNvSpPr/>
          <p:nvPr/>
        </p:nvSpPr>
        <p:spPr>
          <a:xfrm>
            <a:off x="3718560" y="1344168"/>
            <a:ext cx="2529840" cy="201168"/>
          </a:xfrm>
          <a:prstGeom prst="rect">
            <a:avLst/>
          </a:prstGeom>
          <a:solidFill>
            <a:srgbClr val="A5002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3718560" y="1344168"/>
            <a:ext cx="252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· Offer a path up</a:t>
            </a:r>
            <a:endParaRPr lang="en-US" sz="750" dirty="0"/>
          </a:p>
        </p:txBody>
      </p:sp>
      <p:sp>
        <p:nvSpPr>
          <p:cNvPr id="24" name="tab M"/>
          <p:cNvSpPr/>
          <p:nvPr/>
        </p:nvSpPr>
        <p:spPr>
          <a:xfrm>
            <a:off x="6321552" y="1344168"/>
            <a:ext cx="2529840" cy="201168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321552" y="1344168"/>
            <a:ext cx="252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 · Make staying better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9728" y="1581912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Complication</a:t>
            </a:r>
            <a:endParaRPr lang="en-US" sz="950" dirty="0"/>
          </a:p>
        </p:txBody>
      </p:sp>
      <p:sp>
        <p:nvSpPr>
          <p:cNvPr id="27" name="comp 0"/>
          <p:cNvSpPr/>
          <p:nvPr/>
        </p:nvSpPr>
        <p:spPr>
          <a:xfrm>
            <a:off x="1115568" y="1581912"/>
            <a:ext cx="252984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1188720" y="1618488"/>
            <a:ext cx="2383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Products placed by network and price tier: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none of </a:t>
            </a:r>
            <a:pPr algn="ctr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product pages routes a household across products </a:t>
            </a:r>
            <a:pPr algn="ctr" indent="0" marL="0">
              <a:buNone/>
            </a:pPr>
            <a:r>
              <a:rPr lang="en-US" sz="72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[4]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</a:t>
            </a:r>
            <a:pPr algn="ctr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0.8–1.2M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inactive accounts came in on loose terms </a:t>
            </a:r>
            <a:pPr algn="ctr" indent="0" marL="0">
              <a:buNone/>
            </a:pPr>
            <a:r>
              <a:rPr lang="en-US" sz="72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</a:t>
            </a:r>
            <a:endParaRPr lang="en-US" sz="720" dirty="0"/>
          </a:p>
        </p:txBody>
      </p:sp>
      <p:sp>
        <p:nvSpPr>
          <p:cNvPr id="29" name="comp 1"/>
          <p:cNvSpPr/>
          <p:nvPr/>
        </p:nvSpPr>
        <p:spPr>
          <a:xfrm>
            <a:off x="3718560" y="1581912"/>
            <a:ext cx="252984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3791712" y="1618488"/>
            <a:ext cx="2383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Extras are lent: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Double Speed lasts </a:t>
            </a:r>
            <a:pPr algn="ctr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180 or 360 days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ctr" indent="0" marL="0">
              <a:buNone/>
            </a:pPr>
            <a:r>
              <a:rPr lang="en-US" sz="72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[4]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the average home pays </a:t>
            </a:r>
            <a:pPr algn="ctr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2.5% below to 8.4% above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entry price </a:t>
            </a:r>
            <a:pPr algn="ctr" indent="0" marL="0">
              <a:buNone/>
            </a:pPr>
            <a:r>
              <a:rPr lang="en-US" sz="72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[5]</a:t>
            </a:r>
            <a:endParaRPr lang="en-US" sz="720" dirty="0"/>
          </a:p>
        </p:txBody>
      </p:sp>
      <p:sp>
        <p:nvSpPr>
          <p:cNvPr id="31" name="comp 2"/>
          <p:cNvSpPr/>
          <p:nvPr/>
        </p:nvSpPr>
        <p:spPr>
          <a:xfrm>
            <a:off x="6321552" y="1581912"/>
            <a:ext cx="252984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6394704" y="1618488"/>
            <a:ext cx="2383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cities IndiHome wins </a:t>
            </a:r>
            <a:pPr algn="ctr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of 50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award slots and is </a:t>
            </a:r>
            <a:pPr algn="ctr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last of 8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 upload </a:t>
            </a:r>
            <a:pPr algn="ctr" indent="0" marL="0">
              <a:buNone/>
            </a:pPr>
            <a:r>
              <a:rPr lang="en-US" sz="72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[6]</a:t>
            </a:r>
            <a:endParaRPr lang="en-US" sz="720" dirty="0"/>
          </a:p>
        </p:txBody>
      </p:sp>
      <p:sp>
        <p:nvSpPr>
          <p:cNvPr id="33" name="Text 30"/>
          <p:cNvSpPr txBox="1"/>
          <p:nvPr/>
        </p:nvSpPr>
        <p:spPr>
          <a:xfrm>
            <a:off x="109728" y="2203704"/>
            <a:ext cx="877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</a:t>
            </a:r>
            <a:endParaRPr lang="en-US" sz="950" dirty="0"/>
          </a:p>
        </p:txBody>
      </p:sp>
      <p:pic>
        <p:nvPicPr>
          <p:cNvPr id="34" name="Image 1" descr="solution tile 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03704"/>
            <a:ext cx="2529840" cy="914400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1207008" y="2240280"/>
            <a:ext cx="234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ousehold fit</a:t>
            </a:r>
            <a:endParaRPr lang="en-US" sz="1300" dirty="0"/>
          </a:p>
        </p:txBody>
      </p:sp>
      <p:sp>
        <p:nvSpPr>
          <p:cNvPr id="36" name="Text 32"/>
          <p:cNvSpPr txBox="1"/>
          <p:nvPr/>
        </p:nvSpPr>
        <p:spPr>
          <a:xfrm>
            <a:off x="1207008" y="2468880"/>
            <a:ext cx="2346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</a:t>
            </a:r>
            <a:pPr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five-question check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app, web, GraPARI, 188 and agents; </a:t>
            </a:r>
            <a:pPr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 = flexible start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IndiHome = family hub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opt-in </a:t>
            </a:r>
            <a:pPr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 check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Telkomsel families a rival is about to connect; sales paid on homes </a:t>
            </a:r>
            <a:pPr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still paying at 3 and 12 months</a:t>
            </a:r>
            <a:endParaRPr lang="en-US" sz="690" dirty="0"/>
          </a:p>
        </p:txBody>
      </p:sp>
      <p:pic>
        <p:nvPicPr>
          <p:cNvPr id="37" name="Image 2" descr="solution tile 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560" y="2203704"/>
            <a:ext cx="2529840" cy="914400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3810000" y="2240280"/>
            <a:ext cx="234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ffer a path up</a:t>
            </a:r>
            <a:endParaRPr lang="en-US" sz="1300" dirty="0"/>
          </a:p>
        </p:txBody>
      </p:sp>
      <p:sp>
        <p:nvSpPr>
          <p:cNvPr id="39" name="Text 34"/>
          <p:cNvSpPr txBox="1"/>
          <p:nvPr/>
        </p:nvSpPr>
        <p:spPr>
          <a:xfrm>
            <a:off x="3810000" y="2468880"/>
            <a:ext cx="2346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IndiHome ladder steps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(single → family, EZnet → IndiHome); a </a:t>
            </a:r>
            <a:pPr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chosen option before each boost ends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the </a:t>
            </a:r>
            <a:pPr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 plan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rewards each added line with quota and services, not a discount</a:t>
            </a:r>
            <a:endParaRPr lang="en-US" sz="690" dirty="0"/>
          </a:p>
        </p:txBody>
      </p:sp>
      <p:pic>
        <p:nvPicPr>
          <p:cNvPr id="40" name="Image 3" descr="solution tile 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1552" y="2203704"/>
            <a:ext cx="2529840" cy="914400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6412992" y="2240280"/>
            <a:ext cx="234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ake staying better</a:t>
            </a:r>
            <a:endParaRPr lang="en-US" sz="1300" dirty="0"/>
          </a:p>
        </p:txBody>
      </p:sp>
      <p:sp>
        <p:nvSpPr>
          <p:cNvPr id="42" name="Text 36"/>
          <p:cNvSpPr txBox="1"/>
          <p:nvPr/>
        </p:nvSpPr>
        <p:spPr>
          <a:xfrm>
            <a:off x="6412992" y="2468880"/>
            <a:ext cx="2346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 Wi-Fi promise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contested cities; </a:t>
            </a:r>
            <a:pPr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retention triggers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a random hold-out; cheaper plans offered </a:t>
            </a:r>
            <a:pPr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to save a home</a:t>
            </a:r>
            <a:endParaRPr lang="en-US" sz="690" dirty="0"/>
          </a:p>
        </p:txBody>
      </p:sp>
      <p:sp>
        <p:nvSpPr>
          <p:cNvPr id="43" name="Text 37"/>
          <p:cNvSpPr txBox="1"/>
          <p:nvPr/>
        </p:nvSpPr>
        <p:spPr>
          <a:xfrm>
            <a:off x="109728" y="3191256"/>
            <a:ext cx="87782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(est.)</a:t>
            </a:r>
            <a:endParaRPr lang="en-US" sz="950" dirty="0"/>
          </a:p>
        </p:txBody>
      </p:sp>
      <p:sp>
        <p:nvSpPr>
          <p:cNvPr id="44" name="impact 0"/>
          <p:cNvSpPr/>
          <p:nvPr/>
        </p:nvSpPr>
        <p:spPr>
          <a:xfrm>
            <a:off x="1115568" y="3191256"/>
            <a:ext cx="252984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002B"/>
            </a:solidFill>
            <a:prstDash val="dash"/>
          </a:ln>
        </p:spPr>
      </p:sp>
      <p:sp>
        <p:nvSpPr>
          <p:cNvPr id="45" name="Text 39"/>
          <p:cNvSpPr txBox="1"/>
          <p:nvPr/>
        </p:nvSpPr>
        <p:spPr>
          <a:xfrm>
            <a:off x="1179576" y="3191256"/>
            <a:ext cx="2401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213k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paying homes by 2031 </a:t>
            </a:r>
            <a:pPr algn="ctr"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endParaRPr lang="en-US" sz="720" dirty="0"/>
          </a:p>
        </p:txBody>
      </p:sp>
      <p:sp>
        <p:nvSpPr>
          <p:cNvPr id="46" name="impact 1"/>
          <p:cNvSpPr/>
          <p:nvPr/>
        </p:nvSpPr>
        <p:spPr>
          <a:xfrm>
            <a:off x="3718560" y="3191256"/>
            <a:ext cx="252984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A50021"/>
            </a:solidFill>
            <a:prstDash val="dash"/>
          </a:ln>
        </p:spPr>
      </p:sp>
      <p:sp>
        <p:nvSpPr>
          <p:cNvPr id="47" name="Text 41"/>
          <p:cNvSpPr txBox="1"/>
          <p:nvPr/>
        </p:nvSpPr>
        <p:spPr>
          <a:xfrm>
            <a:off x="3782568" y="3191256"/>
            <a:ext cx="2401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Rp534bn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over the life of the homes; </a:t>
            </a:r>
            <a:pPr algn="ctr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Rp415bn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revenue a year by 2031 </a:t>
            </a:r>
            <a:pPr algn="ctr"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endParaRPr lang="en-US" sz="720" dirty="0"/>
          </a:p>
        </p:txBody>
      </p:sp>
      <p:sp>
        <p:nvSpPr>
          <p:cNvPr id="48" name="impact 2"/>
          <p:cNvSpPr/>
          <p:nvPr/>
        </p:nvSpPr>
        <p:spPr>
          <a:xfrm>
            <a:off x="6321552" y="3191256"/>
            <a:ext cx="252984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dash"/>
          </a:ln>
        </p:spPr>
      </p:sp>
      <p:sp>
        <p:nvSpPr>
          <p:cNvPr id="49" name="Text 43"/>
          <p:cNvSpPr txBox="1"/>
          <p:nvPr/>
        </p:nvSpPr>
        <p:spPr>
          <a:xfrm>
            <a:off x="6385560" y="3191256"/>
            <a:ext cx="2401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204k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homes kept by 2031; </a:t>
            </a:r>
            <a:pPr algn="ctr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Rp174bn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over the life of the homes </a:t>
            </a:r>
            <a:pPr algn="ctr"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endParaRPr lang="en-US" sz="720" dirty="0"/>
          </a:p>
        </p:txBody>
      </p:sp>
      <p:pic>
        <p:nvPicPr>
          <p:cNvPr id="50" name="Image 4" descr="E foundati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3584448"/>
            <a:ext cx="7735824" cy="329184"/>
          </a:xfrm>
          <a:prstGeom prst="rect">
            <a:avLst/>
          </a:prstGeom>
        </p:spPr>
      </p:pic>
      <p:sp>
        <p:nvSpPr>
          <p:cNvPr id="51" name="badge E"/>
          <p:cNvSpPr/>
          <p:nvPr/>
        </p:nvSpPr>
        <p:spPr>
          <a:xfrm>
            <a:off x="1179576" y="3630168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52" name="Text 45"/>
          <p:cNvSpPr txBox="1"/>
          <p:nvPr/>
        </p:nvSpPr>
        <p:spPr>
          <a:xfrm>
            <a:off x="1179576" y="36301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1100" dirty="0"/>
          </a:p>
        </p:txBody>
      </p:sp>
      <p:sp>
        <p:nvSpPr>
          <p:cNvPr id="53" name="Text 46"/>
          <p:cNvSpPr txBox="1"/>
          <p:nvPr/>
        </p:nvSpPr>
        <p:spPr>
          <a:xfrm>
            <a:off x="1499616" y="3584448"/>
            <a:ext cx="7278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 · Evaluate household value: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one </a:t>
            </a:r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 identity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(opt-in), </a:t>
            </a:r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 KPIs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the 2027 KPI contracts, </a:t>
            </a:r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owner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of household value. Telkom already states 'Maximize LTV' for IndiHome </a:t>
            </a:r>
            <a:pPr indent="0" marL="0">
              <a:buNone/>
            </a:pPr>
            <a:r>
              <a:rPr lang="en-US" sz="700" baseline="30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E extends it across </a:t>
            </a:r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 and mobile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700" dirty="0"/>
          </a:p>
        </p:txBody>
      </p:sp>
      <p:sp>
        <p:nvSpPr>
          <p:cNvPr id="54" name="num NPV over the life of the homes won"/>
          <p:cNvSpPr/>
          <p:nvPr/>
        </p:nvSpPr>
        <p:spPr>
          <a:xfrm>
            <a:off x="1115568" y="3986784"/>
            <a:ext cx="1058091" cy="676656"/>
          </a:xfrm>
          <a:prstGeom prst="roundRect">
            <a:avLst>
              <a:gd name="adj" fmla="val 4054"/>
            </a:avLst>
          </a:prstGeom>
          <a:solidFill>
            <a:srgbClr val="FDECEF"/>
          </a:solidFill>
          <a:ln w="12700">
            <a:solidFill>
              <a:srgbClr val="E4002B"/>
            </a:solidFill>
            <a:prstDash val="dash"/>
          </a:ln>
        </p:spPr>
      </p:sp>
      <p:sp>
        <p:nvSpPr>
          <p:cNvPr id="55" name="Text 48"/>
          <p:cNvSpPr txBox="1"/>
          <p:nvPr/>
        </p:nvSpPr>
        <p:spPr>
          <a:xfrm>
            <a:off x="1143000" y="4050792"/>
            <a:ext cx="10032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Rp394bn</a:t>
            </a:r>
            <a:endParaRPr lang="en-US" sz="1200" dirty="0"/>
          </a:p>
        </p:txBody>
      </p:sp>
      <p:sp>
        <p:nvSpPr>
          <p:cNvPr id="56" name="Text 49"/>
          <p:cNvSpPr txBox="1"/>
          <p:nvPr/>
        </p:nvSpPr>
        <p:spPr>
          <a:xfrm>
            <a:off x="1152144" y="4334256"/>
            <a:ext cx="984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NPV over the life of the homes won </a:t>
            </a:r>
            <a:pPr algn="ctr" indent="0" marL="0">
              <a:buNone/>
            </a:pPr>
            <a:r>
              <a:rPr lang="en-US" sz="63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endParaRPr lang="en-US" sz="630" dirty="0"/>
          </a:p>
        </p:txBody>
      </p:sp>
      <p:sp>
        <p:nvSpPr>
          <p:cNvPr id="57" name="num IRR"/>
          <p:cNvSpPr/>
          <p:nvPr/>
        </p:nvSpPr>
        <p:spPr>
          <a:xfrm>
            <a:off x="2228523" y="3986784"/>
            <a:ext cx="1058091" cy="676656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dash"/>
          </a:ln>
        </p:spPr>
      </p:sp>
      <p:sp>
        <p:nvSpPr>
          <p:cNvPr id="58" name="Text 51"/>
          <p:cNvSpPr txBox="1"/>
          <p:nvPr/>
        </p:nvSpPr>
        <p:spPr>
          <a:xfrm>
            <a:off x="2255955" y="4050792"/>
            <a:ext cx="10032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35.1%</a:t>
            </a:r>
            <a:endParaRPr lang="en-US" sz="1200" dirty="0"/>
          </a:p>
        </p:txBody>
      </p:sp>
      <p:sp>
        <p:nvSpPr>
          <p:cNvPr id="59" name="Text 52"/>
          <p:cNvSpPr txBox="1"/>
          <p:nvPr/>
        </p:nvSpPr>
        <p:spPr>
          <a:xfrm>
            <a:off x="2265099" y="4334256"/>
            <a:ext cx="984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IRR </a:t>
            </a:r>
            <a:pPr algn="ctr" indent="0" marL="0">
              <a:buNone/>
            </a:pPr>
            <a:r>
              <a:rPr lang="en-US" sz="63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endParaRPr lang="en-US" sz="630" dirty="0"/>
          </a:p>
        </p:txBody>
      </p:sp>
      <p:sp>
        <p:nvSpPr>
          <p:cNvPr id="60" name="num B/C"/>
          <p:cNvSpPr/>
          <p:nvPr/>
        </p:nvSpPr>
        <p:spPr>
          <a:xfrm>
            <a:off x="3341479" y="3986784"/>
            <a:ext cx="1058091" cy="676656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dash"/>
          </a:ln>
        </p:spPr>
      </p:sp>
      <p:sp>
        <p:nvSpPr>
          <p:cNvPr id="61" name="Text 54"/>
          <p:cNvSpPr txBox="1"/>
          <p:nvPr/>
        </p:nvSpPr>
        <p:spPr>
          <a:xfrm>
            <a:off x="3368911" y="4050792"/>
            <a:ext cx="10032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2.95</a:t>
            </a:r>
            <a:endParaRPr lang="en-US" sz="1200" dirty="0"/>
          </a:p>
        </p:txBody>
      </p:sp>
      <p:sp>
        <p:nvSpPr>
          <p:cNvPr id="62" name="Text 55"/>
          <p:cNvSpPr txBox="1"/>
          <p:nvPr/>
        </p:nvSpPr>
        <p:spPr>
          <a:xfrm>
            <a:off x="3378055" y="4334256"/>
            <a:ext cx="984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B/C </a:t>
            </a:r>
            <a:pPr algn="ctr" indent="0" marL="0">
              <a:buNone/>
            </a:pPr>
            <a:r>
              <a:rPr lang="en-US" sz="63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endParaRPr lang="en-US" sz="630" dirty="0"/>
          </a:p>
        </p:txBody>
      </p:sp>
      <p:sp>
        <p:nvSpPr>
          <p:cNvPr id="63" name="num Cash payback"/>
          <p:cNvSpPr/>
          <p:nvPr/>
        </p:nvSpPr>
        <p:spPr>
          <a:xfrm>
            <a:off x="4454434" y="3986784"/>
            <a:ext cx="1058091" cy="676656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dash"/>
          </a:ln>
        </p:spPr>
      </p:sp>
      <p:sp>
        <p:nvSpPr>
          <p:cNvPr id="64" name="Text 57"/>
          <p:cNvSpPr txBox="1"/>
          <p:nvPr/>
        </p:nvSpPr>
        <p:spPr>
          <a:xfrm>
            <a:off x="4481866" y="4050792"/>
            <a:ext cx="10032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2031</a:t>
            </a:r>
            <a:endParaRPr lang="en-US" sz="1200" dirty="0"/>
          </a:p>
        </p:txBody>
      </p:sp>
      <p:sp>
        <p:nvSpPr>
          <p:cNvPr id="65" name="Text 58"/>
          <p:cNvSpPr txBox="1"/>
          <p:nvPr/>
        </p:nvSpPr>
        <p:spPr>
          <a:xfrm>
            <a:off x="4491010" y="4334256"/>
            <a:ext cx="984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 payback </a:t>
            </a:r>
            <a:pPr algn="ctr" indent="0" marL="0">
              <a:buNone/>
            </a:pPr>
            <a:r>
              <a:rPr lang="en-US" sz="63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endParaRPr lang="en-US" sz="630" dirty="0"/>
          </a:p>
        </p:txBody>
      </p:sp>
      <p:sp>
        <p:nvSpPr>
          <p:cNvPr id="66" name="num 5-year NPV"/>
          <p:cNvSpPr/>
          <p:nvPr/>
        </p:nvSpPr>
        <p:spPr>
          <a:xfrm>
            <a:off x="5567390" y="3986784"/>
            <a:ext cx="1058091" cy="676656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dash"/>
          </a:ln>
        </p:spPr>
      </p:sp>
      <p:sp>
        <p:nvSpPr>
          <p:cNvPr id="67" name="Text 60"/>
          <p:cNvSpPr txBox="1"/>
          <p:nvPr/>
        </p:nvSpPr>
        <p:spPr>
          <a:xfrm>
            <a:off x="5594822" y="4050792"/>
            <a:ext cx="10032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−Rp46bn</a:t>
            </a:r>
            <a:endParaRPr lang="en-US" sz="1200" dirty="0"/>
          </a:p>
        </p:txBody>
      </p:sp>
      <p:sp>
        <p:nvSpPr>
          <p:cNvPr id="68" name="Text 61"/>
          <p:cNvSpPr txBox="1"/>
          <p:nvPr/>
        </p:nvSpPr>
        <p:spPr>
          <a:xfrm>
            <a:off x="5603966" y="4334256"/>
            <a:ext cx="984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5-year NPV </a:t>
            </a:r>
            <a:pPr algn="ctr" indent="0" marL="0">
              <a:buNone/>
            </a:pPr>
            <a:r>
              <a:rPr lang="en-US" sz="63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endParaRPr lang="en-US" sz="630" dirty="0"/>
          </a:p>
        </p:txBody>
      </p:sp>
      <p:sp>
        <p:nvSpPr>
          <p:cNvPr id="69" name="num Capex"/>
          <p:cNvSpPr/>
          <p:nvPr/>
        </p:nvSpPr>
        <p:spPr>
          <a:xfrm>
            <a:off x="6680345" y="3986784"/>
            <a:ext cx="1058091" cy="676656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dash"/>
          </a:ln>
        </p:spPr>
      </p:sp>
      <p:sp>
        <p:nvSpPr>
          <p:cNvPr id="70" name="Text 63"/>
          <p:cNvSpPr txBox="1"/>
          <p:nvPr/>
        </p:nvSpPr>
        <p:spPr>
          <a:xfrm>
            <a:off x="6707777" y="4050792"/>
            <a:ext cx="10032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Rp295bn</a:t>
            </a:r>
            <a:endParaRPr lang="en-US" sz="1200" dirty="0"/>
          </a:p>
        </p:txBody>
      </p:sp>
      <p:sp>
        <p:nvSpPr>
          <p:cNvPr id="71" name="Text 64"/>
          <p:cNvSpPr txBox="1"/>
          <p:nvPr/>
        </p:nvSpPr>
        <p:spPr>
          <a:xfrm>
            <a:off x="6716921" y="4334256"/>
            <a:ext cx="984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Capex </a:t>
            </a:r>
            <a:pPr algn="ctr" indent="0" marL="0">
              <a:buNone/>
            </a:pPr>
            <a:r>
              <a:rPr lang="en-US" sz="63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endParaRPr lang="en-US" sz="630" dirty="0"/>
          </a:p>
        </p:txBody>
      </p:sp>
      <p:sp>
        <p:nvSpPr>
          <p:cNvPr id="72" name="num Failed-pilot cash"/>
          <p:cNvSpPr/>
          <p:nvPr/>
        </p:nvSpPr>
        <p:spPr>
          <a:xfrm>
            <a:off x="7793301" y="3986784"/>
            <a:ext cx="1058091" cy="676656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dash"/>
          </a:ln>
        </p:spPr>
      </p:sp>
      <p:sp>
        <p:nvSpPr>
          <p:cNvPr id="73" name="Text 66"/>
          <p:cNvSpPr txBox="1"/>
          <p:nvPr/>
        </p:nvSpPr>
        <p:spPr>
          <a:xfrm>
            <a:off x="7820733" y="4050792"/>
            <a:ext cx="10032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Rp98bn</a:t>
            </a:r>
            <a:endParaRPr lang="en-US" sz="1200" dirty="0"/>
          </a:p>
        </p:txBody>
      </p:sp>
      <p:sp>
        <p:nvSpPr>
          <p:cNvPr id="74" name="Text 67"/>
          <p:cNvSpPr txBox="1"/>
          <p:nvPr/>
        </p:nvSpPr>
        <p:spPr>
          <a:xfrm>
            <a:off x="7829877" y="4334256"/>
            <a:ext cx="984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Failed-pilot cash </a:t>
            </a:r>
            <a:pPr algn="ctr" indent="0" marL="0">
              <a:buNone/>
            </a:pPr>
            <a:r>
              <a:rPr lang="en-US" sz="63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endParaRPr lang="en-US" sz="6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H.O.M.E.: Telkomsel household connectivity portfolio</dc:title>
  <dc:subject>PptxGenJS Presentation</dc:subject>
  <dc:creator>Team [name]</dc:creator>
  <cp:lastModifiedBy>Team [name]</cp:lastModifiedBy>
  <cp:revision>1</cp:revision>
  <dcterms:created xsi:type="dcterms:W3CDTF">2026-10-12T02:50:27Z</dcterms:created>
  <dcterms:modified xsi:type="dcterms:W3CDTF">2026-10-12T02:50:27Z</dcterms:modified>
</cp:coreProperties>
</file>