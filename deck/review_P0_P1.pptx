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109728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Telkomsel · IndiHome · Orbit</a:t>
            </a:r>
            <a:endParaRPr lang="en-US" sz="700" dirty="0"/>
          </a:p>
        </p:txBody>
      </p:sp>
      <p:sp>
        <p:nvSpPr>
          <p:cNvPr id="3" name="badge H"/>
          <p:cNvSpPr/>
          <p:nvPr/>
        </p:nvSpPr>
        <p:spPr>
          <a:xfrm>
            <a:off x="502920" y="114300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1430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</a:t>
            </a:r>
            <a:endParaRPr lang="en-US" sz="3000" dirty="0"/>
          </a:p>
        </p:txBody>
      </p:sp>
      <p:sp>
        <p:nvSpPr>
          <p:cNvPr id="5" name="dot 0"/>
          <p:cNvSpPr/>
          <p:nvPr/>
        </p:nvSpPr>
        <p:spPr>
          <a:xfrm>
            <a:off x="1399032" y="1728216"/>
            <a:ext cx="109728" cy="109728"/>
          </a:xfrm>
          <a:prstGeom prst="ellipse">
            <a:avLst/>
          </a:prstGeom>
          <a:solidFill>
            <a:srgbClr val="A500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93192" y="194767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fit</a:t>
            </a:r>
            <a:endParaRPr lang="en-US" sz="800" dirty="0"/>
          </a:p>
        </p:txBody>
      </p:sp>
      <p:sp>
        <p:nvSpPr>
          <p:cNvPr id="7" name="badge O"/>
          <p:cNvSpPr/>
          <p:nvPr/>
        </p:nvSpPr>
        <p:spPr>
          <a:xfrm>
            <a:off x="1709928" y="114300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09928" y="11430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3000" dirty="0"/>
          </a:p>
        </p:txBody>
      </p:sp>
      <p:sp>
        <p:nvSpPr>
          <p:cNvPr id="9" name="dot 1"/>
          <p:cNvSpPr/>
          <p:nvPr/>
        </p:nvSpPr>
        <p:spPr>
          <a:xfrm>
            <a:off x="2606040" y="1728216"/>
            <a:ext cx="109728" cy="109728"/>
          </a:xfrm>
          <a:prstGeom prst="ellipse">
            <a:avLst/>
          </a:prstGeom>
          <a:solidFill>
            <a:srgbClr val="A500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00200" y="194767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 a path up</a:t>
            </a:r>
            <a:endParaRPr lang="en-US" sz="800" dirty="0"/>
          </a:p>
        </p:txBody>
      </p:sp>
      <p:sp>
        <p:nvSpPr>
          <p:cNvPr id="11" name="badge M"/>
          <p:cNvSpPr/>
          <p:nvPr/>
        </p:nvSpPr>
        <p:spPr>
          <a:xfrm>
            <a:off x="2916936" y="114300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1430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3000" dirty="0"/>
          </a:p>
        </p:txBody>
      </p:sp>
      <p:sp>
        <p:nvSpPr>
          <p:cNvPr id="13" name="dot 2"/>
          <p:cNvSpPr/>
          <p:nvPr/>
        </p:nvSpPr>
        <p:spPr>
          <a:xfrm>
            <a:off x="3813048" y="1728216"/>
            <a:ext cx="109728" cy="109728"/>
          </a:xfrm>
          <a:prstGeom prst="ellipse">
            <a:avLst/>
          </a:prstGeom>
          <a:solidFill>
            <a:srgbClr val="A500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807208" y="194767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staying better</a:t>
            </a:r>
            <a:endParaRPr lang="en-US" sz="800" dirty="0"/>
          </a:p>
        </p:txBody>
      </p:sp>
      <p:sp>
        <p:nvSpPr>
          <p:cNvPr id="15" name="badge E"/>
          <p:cNvSpPr/>
          <p:nvPr/>
        </p:nvSpPr>
        <p:spPr>
          <a:xfrm>
            <a:off x="4123944" y="114300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23944" y="11430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014216" y="1947672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household value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2514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the home, not the line: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positioning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IndiHome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by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need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grow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long-term household value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Connecting Every Home: Optimizing Telkomsel's Household Connectivity Portfolio · DWDG ITS Mini Case Competition 2026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1148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[name]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[members]</a:t>
            </a:r>
            <a:endParaRPr lang="en-US" sz="900" dirty="0"/>
          </a:p>
        </p:txBody>
      </p:sp>
      <p:sp>
        <p:nvSpPr>
          <p:cNvPr id="21" name="house roof"/>
          <p:cNvSpPr/>
          <p:nvPr/>
        </p:nvSpPr>
        <p:spPr>
          <a:xfrm>
            <a:off x="5806440" y="1051560"/>
            <a:ext cx="2743200" cy="96012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E4002B"/>
            </a:solidFill>
            <a:prstDash val="solid"/>
          </a:ln>
        </p:spPr>
      </p:sp>
      <p:sp>
        <p:nvSpPr>
          <p:cNvPr id="22" name="house body"/>
          <p:cNvSpPr/>
          <p:nvPr/>
        </p:nvSpPr>
        <p:spPr>
          <a:xfrm>
            <a:off x="6080760" y="2011680"/>
            <a:ext cx="2194560" cy="1965960"/>
          </a:xfrm>
          <a:prstGeom prst="rect">
            <a:avLst/>
          </a:prstGeom>
          <a:solidFill>
            <a:srgbClr val="F1F5F9"/>
          </a:solidFill>
          <a:ln w="25400">
            <a:solidFill>
              <a:srgbClr val="E4002B"/>
            </a:solidFill>
            <a:prstDash val="solid"/>
          </a:ln>
        </p:spPr>
      </p:sp>
      <p:sp>
        <p:nvSpPr>
          <p:cNvPr id="23" name="spoke 0"/>
          <p:cNvSpPr/>
          <p:nvPr/>
        </p:nvSpPr>
        <p:spPr>
          <a:xfrm>
            <a:off x="6464808" y="2331720"/>
            <a:ext cx="713232" cy="50292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24" name="spoke 1"/>
          <p:cNvSpPr/>
          <p:nvPr/>
        </p:nvSpPr>
        <p:spPr>
          <a:xfrm flipH="1">
            <a:off x="7178040" y="2331720"/>
            <a:ext cx="713232" cy="50292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25" name="spoke 2"/>
          <p:cNvSpPr/>
          <p:nvPr/>
        </p:nvSpPr>
        <p:spPr>
          <a:xfrm>
            <a:off x="7178040" y="2834640"/>
            <a:ext cx="914" cy="676656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26" name="spoke 3"/>
          <p:cNvSpPr/>
          <p:nvPr/>
        </p:nvSpPr>
        <p:spPr>
          <a:xfrm flipH="1">
            <a:off x="5715000" y="2834640"/>
            <a:ext cx="146304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27" name="spoke 4"/>
          <p:cNvSpPr/>
          <p:nvPr/>
        </p:nvSpPr>
        <p:spPr>
          <a:xfrm>
            <a:off x="7178040" y="2834640"/>
            <a:ext cx="146304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28" name="hub IndiHome"/>
          <p:cNvSpPr/>
          <p:nvPr/>
        </p:nvSpPr>
        <p:spPr>
          <a:xfrm>
            <a:off x="6720840" y="2377440"/>
            <a:ext cx="914400" cy="914400"/>
          </a:xfrm>
          <a:prstGeom prst="ellipse">
            <a:avLst/>
          </a:prstGeom>
          <a:solidFill>
            <a:srgbClr val="A5002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2084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IndiHome</a:t>
            </a:r>
            <a:endParaRPr lang="en-US" sz="900" dirty="0"/>
          </a:p>
        </p:txBody>
      </p:sp>
      <p:sp>
        <p:nvSpPr>
          <p:cNvPr id="30" name="satellite Orbit 0"/>
          <p:cNvSpPr/>
          <p:nvPr/>
        </p:nvSpPr>
        <p:spPr>
          <a:xfrm>
            <a:off x="6217920" y="2084832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4002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17920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</a:t>
            </a:r>
            <a:endParaRPr lang="en-US" sz="700" dirty="0"/>
          </a:p>
        </p:txBody>
      </p:sp>
      <p:sp>
        <p:nvSpPr>
          <p:cNvPr id="32" name="satellite Orbit 1"/>
          <p:cNvSpPr/>
          <p:nvPr/>
        </p:nvSpPr>
        <p:spPr>
          <a:xfrm>
            <a:off x="7644384" y="2084832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40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44384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</a:t>
            </a:r>
            <a:endParaRPr lang="en-US" sz="700" dirty="0"/>
          </a:p>
        </p:txBody>
      </p:sp>
      <p:sp>
        <p:nvSpPr>
          <p:cNvPr id="34" name="satellite Orbit 2"/>
          <p:cNvSpPr/>
          <p:nvPr/>
        </p:nvSpPr>
        <p:spPr>
          <a:xfrm>
            <a:off x="6931152" y="3264408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4002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31152" y="32644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</a:t>
            </a:r>
            <a:endParaRPr lang="en-US" sz="700" dirty="0"/>
          </a:p>
        </p:txBody>
      </p:sp>
      <p:sp>
        <p:nvSpPr>
          <p:cNvPr id="36" name="satellite Orbit 3"/>
          <p:cNvSpPr/>
          <p:nvPr/>
        </p:nvSpPr>
        <p:spPr>
          <a:xfrm>
            <a:off x="5468112" y="2862072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400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68112" y="2862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</a:t>
            </a:r>
            <a:endParaRPr lang="en-US" sz="700" dirty="0"/>
          </a:p>
        </p:txBody>
      </p:sp>
      <p:sp>
        <p:nvSpPr>
          <p:cNvPr id="38" name="satellite Orbit 4"/>
          <p:cNvSpPr/>
          <p:nvPr/>
        </p:nvSpPr>
        <p:spPr>
          <a:xfrm>
            <a:off x="8394192" y="2862072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400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94192" y="2862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580644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IndiHome as the family's home hub; Orbit as the flexible start, in and beyond the home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109728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Telkomsel · IndiHome · Orbit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1188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A50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30175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summary: fitting each home to the right product, then growing and keeping it, is worth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Rp394bn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over the life of the homes won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468172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[1]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Telkom 1H26 Info Memo · 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[2]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Appendix 6 · 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[3]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Surge disclosures, Appendix 7 · 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[4]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Telkomsel website (10 Oct 2026), Appendix 9 · 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[5]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Appendix 10 · 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[6]</a:t>
            </a:r>
            <a:pPr indent="0" marL="0">
              <a:buNone/>
            </a:pPr>
            <a:r>
              <a:rPr lang="en-US" sz="65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Opensignal, Appendix 8 · model: Appendix 21–24</a:t>
            </a:r>
            <a:endParaRPr lang="en-US" sz="65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4919472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Projection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8412480" y="491947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700" dirty="0"/>
          </a:p>
        </p:txBody>
      </p:sp>
      <p:sp>
        <p:nvSpPr>
          <p:cNvPr id="8" name="head H"/>
          <p:cNvSpPr/>
          <p:nvPr/>
        </p:nvSpPr>
        <p:spPr>
          <a:xfrm>
            <a:off x="1133856" y="850392"/>
            <a:ext cx="2535936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badge H"/>
          <p:cNvSpPr/>
          <p:nvPr/>
        </p:nvSpPr>
        <p:spPr>
          <a:xfrm>
            <a:off x="1179576" y="886968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9576" y="8869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850392"/>
            <a:ext cx="2170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fit</a:t>
            </a:r>
            <a:endParaRPr lang="en-US" sz="850" dirty="0"/>
          </a:p>
        </p:txBody>
      </p:sp>
      <p:sp>
        <p:nvSpPr>
          <p:cNvPr id="12" name="head O"/>
          <p:cNvSpPr/>
          <p:nvPr/>
        </p:nvSpPr>
        <p:spPr>
          <a:xfrm>
            <a:off x="3733800" y="850392"/>
            <a:ext cx="2535936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badge O"/>
          <p:cNvSpPr/>
          <p:nvPr/>
        </p:nvSpPr>
        <p:spPr>
          <a:xfrm>
            <a:off x="3779520" y="886968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79520" y="8869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44696" y="850392"/>
            <a:ext cx="2170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 a path up</a:t>
            </a:r>
            <a:endParaRPr lang="en-US" sz="850" dirty="0"/>
          </a:p>
        </p:txBody>
      </p:sp>
      <p:sp>
        <p:nvSpPr>
          <p:cNvPr id="16" name="head M"/>
          <p:cNvSpPr/>
          <p:nvPr/>
        </p:nvSpPr>
        <p:spPr>
          <a:xfrm>
            <a:off x="6333744" y="850392"/>
            <a:ext cx="2535936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badge M"/>
          <p:cNvSpPr/>
          <p:nvPr/>
        </p:nvSpPr>
        <p:spPr>
          <a:xfrm>
            <a:off x="6379464" y="886968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9464" y="8869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44640" y="850392"/>
            <a:ext cx="2170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staying better</a:t>
            </a:r>
            <a:endParaRPr lang="en-US" sz="850" dirty="0"/>
          </a:p>
        </p:txBody>
      </p:sp>
      <p:sp>
        <p:nvSpPr>
          <p:cNvPr id="20" name="rail Situation"/>
          <p:cNvSpPr/>
          <p:nvPr/>
        </p:nvSpPr>
        <p:spPr>
          <a:xfrm>
            <a:off x="274320" y="1161288"/>
            <a:ext cx="786384" cy="34747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29184" y="1161288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Situation</a:t>
            </a:r>
            <a:endParaRPr lang="en-US" sz="750" dirty="0"/>
          </a:p>
        </p:txBody>
      </p:sp>
      <p:sp>
        <p:nvSpPr>
          <p:cNvPr id="22" name="situation"/>
          <p:cNvSpPr/>
          <p:nvPr/>
        </p:nvSpPr>
        <p:spPr>
          <a:xfrm>
            <a:off x="1133856" y="1161288"/>
            <a:ext cx="7735824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07008" y="11612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revenue fell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1.6%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2025 and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3.8%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1H26 </a:t>
            </a:r>
            <a:pPr indent="0" marL="0">
              <a:buNone/>
            </a:pPr>
            <a:r>
              <a:rPr lang="en-US" sz="80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[1]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while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≈58–60M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homes are still unconnected </a:t>
            </a:r>
            <a:pPr indent="0" marL="0">
              <a:buNone/>
            </a:pPr>
            <a:r>
              <a:rPr lang="en-US" sz="80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[2]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Rp100k fiber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took the growth: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Surge added 1.98M homes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12 months </a:t>
            </a:r>
            <a:pPr indent="0" marL="0">
              <a:buNone/>
            </a:pPr>
            <a:r>
              <a:rPr lang="en-US" sz="80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[3]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" dirty="0"/>
          </a:p>
        </p:txBody>
      </p:sp>
      <p:sp>
        <p:nvSpPr>
          <p:cNvPr id="24" name="rail Complication"/>
          <p:cNvSpPr/>
          <p:nvPr/>
        </p:nvSpPr>
        <p:spPr>
          <a:xfrm>
            <a:off x="274320" y="1545336"/>
            <a:ext cx="786384" cy="64008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9184" y="1545336"/>
            <a:ext cx="67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Complication</a:t>
            </a:r>
            <a:endParaRPr lang="en-US" sz="750" dirty="0"/>
          </a:p>
        </p:txBody>
      </p:sp>
      <p:sp>
        <p:nvSpPr>
          <p:cNvPr id="26" name="comp 0"/>
          <p:cNvSpPr/>
          <p:nvPr/>
        </p:nvSpPr>
        <p:spPr>
          <a:xfrm>
            <a:off x="1133856" y="1545336"/>
            <a:ext cx="2535936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97864" y="1591056"/>
            <a:ext cx="240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Products placed by network and price tier: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none of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product pages routes a household across products </a:t>
            </a:r>
            <a:pPr indent="0" marL="0">
              <a:buNone/>
            </a:pPr>
            <a:r>
              <a:rPr lang="en-US" sz="75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[4]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0.8–1.2M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inactive accounts came in on loose terms </a:t>
            </a:r>
            <a:pPr indent="0" marL="0">
              <a:buNone/>
            </a:pPr>
            <a:r>
              <a:rPr lang="en-US" sz="75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[1]</a:t>
            </a:r>
            <a:endParaRPr lang="en-US" sz="750" dirty="0"/>
          </a:p>
        </p:txBody>
      </p:sp>
      <p:sp>
        <p:nvSpPr>
          <p:cNvPr id="28" name="comp 1"/>
          <p:cNvSpPr/>
          <p:nvPr/>
        </p:nvSpPr>
        <p:spPr>
          <a:xfrm>
            <a:off x="3733800" y="1545336"/>
            <a:ext cx="2535936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97808" y="1591056"/>
            <a:ext cx="240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Extras are lent: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Double Speed lasts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 or 360 days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75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[4]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the average home pays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2.5% below to 8.4% above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entry price </a:t>
            </a:r>
            <a:pPr indent="0" marL="0">
              <a:buNone/>
            </a:pPr>
            <a:r>
              <a:rPr lang="en-US" sz="75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[5]</a:t>
            </a:r>
            <a:endParaRPr lang="en-US" sz="750" dirty="0"/>
          </a:p>
        </p:txBody>
      </p:sp>
      <p:sp>
        <p:nvSpPr>
          <p:cNvPr id="30" name="comp 2"/>
          <p:cNvSpPr/>
          <p:nvPr/>
        </p:nvSpPr>
        <p:spPr>
          <a:xfrm>
            <a:off x="6333744" y="1545336"/>
            <a:ext cx="2535936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7752" y="1591056"/>
            <a:ext cx="240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cities IndiHome wins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of 50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award slots and is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 of 8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upload </a:t>
            </a:r>
            <a:pPr indent="0" marL="0">
              <a:buNone/>
            </a:pPr>
            <a:r>
              <a:rPr lang="en-US" sz="750" baseline="30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[6]</a:t>
            </a:r>
            <a:endParaRPr lang="en-US" sz="750" dirty="0"/>
          </a:p>
        </p:txBody>
      </p:sp>
      <p:sp>
        <p:nvSpPr>
          <p:cNvPr id="32" name="rail Solution"/>
          <p:cNvSpPr/>
          <p:nvPr/>
        </p:nvSpPr>
        <p:spPr>
          <a:xfrm>
            <a:off x="274320" y="2221992"/>
            <a:ext cx="786384" cy="89611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9184" y="2221992"/>
            <a:ext cx="6766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endParaRPr lang="en-US" sz="750" dirty="0"/>
          </a:p>
        </p:txBody>
      </p:sp>
      <p:sp>
        <p:nvSpPr>
          <p:cNvPr id="34" name="sol 0"/>
          <p:cNvSpPr/>
          <p:nvPr/>
        </p:nvSpPr>
        <p:spPr>
          <a:xfrm>
            <a:off x="1133856" y="2221992"/>
            <a:ext cx="2535936" cy="8961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97864" y="2267712"/>
            <a:ext cx="2407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five-question check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app, web, GraPARI, 188 and agents;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 = flexible start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IndiHome = family hub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opt-in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check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Telkomsel families a rival is about to connect; sales paid on homes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paying at 3 and 12 months</a:t>
            </a:r>
            <a:endParaRPr lang="en-US" sz="750" dirty="0"/>
          </a:p>
        </p:txBody>
      </p:sp>
      <p:sp>
        <p:nvSpPr>
          <p:cNvPr id="36" name="sol 1"/>
          <p:cNvSpPr/>
          <p:nvPr/>
        </p:nvSpPr>
        <p:spPr>
          <a:xfrm>
            <a:off x="3733800" y="2221992"/>
            <a:ext cx="2535936" cy="8961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797808" y="2267712"/>
            <a:ext cx="2407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IndiHome ladder steps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(single → family, EZnet → IndiHome); a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chosen option before each boost ends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the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plan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rewards each added line with quota and services, not a discount</a:t>
            </a:r>
            <a:endParaRPr lang="en-US" sz="750" dirty="0"/>
          </a:p>
        </p:txBody>
      </p:sp>
      <p:sp>
        <p:nvSpPr>
          <p:cNvPr id="38" name="sol 2"/>
          <p:cNvSpPr/>
          <p:nvPr/>
        </p:nvSpPr>
        <p:spPr>
          <a:xfrm>
            <a:off x="6333744" y="2221992"/>
            <a:ext cx="2535936" cy="89611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97752" y="2267712"/>
            <a:ext cx="2407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Wi-Fi promise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contested cities;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triggers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a random hold-out; cheaper plans offered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to save a home</a:t>
            </a:r>
            <a:endParaRPr lang="en-US" sz="750" dirty="0"/>
          </a:p>
        </p:txBody>
      </p:sp>
      <p:sp>
        <p:nvSpPr>
          <p:cNvPr id="40" name="rail Impact ~(est.)~"/>
          <p:cNvSpPr/>
          <p:nvPr/>
        </p:nvSpPr>
        <p:spPr>
          <a:xfrm>
            <a:off x="274320" y="3154680"/>
            <a:ext cx="786384" cy="3657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29184" y="3154680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(est.)</a:t>
            </a:r>
            <a:endParaRPr lang="en-US" sz="750" dirty="0"/>
          </a:p>
        </p:txBody>
      </p:sp>
      <p:sp>
        <p:nvSpPr>
          <p:cNvPr id="42" name="impact 0"/>
          <p:cNvSpPr/>
          <p:nvPr/>
        </p:nvSpPr>
        <p:spPr>
          <a:xfrm>
            <a:off x="1133856" y="3154680"/>
            <a:ext cx="253593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002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97864" y="315468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213k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paying homes by 2031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750" dirty="0"/>
          </a:p>
        </p:txBody>
      </p:sp>
      <p:sp>
        <p:nvSpPr>
          <p:cNvPr id="44" name="impact 1"/>
          <p:cNvSpPr/>
          <p:nvPr/>
        </p:nvSpPr>
        <p:spPr>
          <a:xfrm>
            <a:off x="3733800" y="3154680"/>
            <a:ext cx="253593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002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97808" y="315468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Rp534bn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over the life of the homes;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Rp415bn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revenue a year by 2031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750" dirty="0"/>
          </a:p>
        </p:txBody>
      </p:sp>
      <p:sp>
        <p:nvSpPr>
          <p:cNvPr id="46" name="impact 2"/>
          <p:cNvSpPr/>
          <p:nvPr/>
        </p:nvSpPr>
        <p:spPr>
          <a:xfrm>
            <a:off x="6333744" y="3154680"/>
            <a:ext cx="253593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002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97752" y="315468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204k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homes kept by 2031; </a:t>
            </a:r>
            <a:pPr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Rp174bn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over the life of the homes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750" dirty="0"/>
          </a:p>
        </p:txBody>
      </p:sp>
      <p:sp>
        <p:nvSpPr>
          <p:cNvPr id="48" name="E foundation"/>
          <p:cNvSpPr/>
          <p:nvPr/>
        </p:nvSpPr>
        <p:spPr>
          <a:xfrm>
            <a:off x="274320" y="3584448"/>
            <a:ext cx="8595360" cy="384048"/>
          </a:xfrm>
          <a:prstGeom prst="rect">
            <a:avLst/>
          </a:prstGeom>
          <a:solidFill>
            <a:srgbClr val="A50021"/>
          </a:solidFill>
          <a:ln/>
        </p:spPr>
      </p:sp>
      <p:sp>
        <p:nvSpPr>
          <p:cNvPr id="49" name="badge E"/>
          <p:cNvSpPr/>
          <p:nvPr/>
        </p:nvSpPr>
        <p:spPr>
          <a:xfrm>
            <a:off x="347472" y="3657600"/>
            <a:ext cx="237744" cy="237744"/>
          </a:xfrm>
          <a:prstGeom prst="roundRect">
            <a:avLst>
              <a:gd name="adj" fmla="val 18000"/>
            </a:avLst>
          </a:prstGeom>
          <a:solidFill>
            <a:srgbClr val="E4002B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7472" y="3657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76656" y="3584448"/>
            <a:ext cx="8119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· Evaluate household value:</a:t>
            </a:r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one </a:t>
            </a:r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identity</a:t>
            </a:r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(opt-in), </a:t>
            </a:r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KPIs</a:t>
            </a:r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the 2027 KPI contracts, </a:t>
            </a:r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owner</a:t>
            </a:r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household value. Telkom already states 'Maximize LTV' for IndiHome </a:t>
            </a:r>
            <a:pPr indent="0" marL="0">
              <a:buNone/>
            </a:pPr>
            <a:r>
              <a:rPr lang="en-US" sz="750" baseline="30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[1]</a:t>
            </a:r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E extends it across </a:t>
            </a:r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Orbit and mobile</a:t>
            </a:r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750" dirty="0"/>
          </a:p>
        </p:txBody>
      </p:sp>
      <p:sp>
        <p:nvSpPr>
          <p:cNvPr id="52" name="num NPV over the life of the homes won"/>
          <p:cNvSpPr/>
          <p:nvPr/>
        </p:nvSpPr>
        <p:spPr>
          <a:xfrm>
            <a:off x="274320" y="4041648"/>
            <a:ext cx="1180882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0040" y="4087368"/>
            <a:ext cx="10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Rp394bn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320040" y="4352544"/>
            <a:ext cx="10894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NPV over the life of the homes won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650" dirty="0"/>
          </a:p>
        </p:txBody>
      </p:sp>
      <p:sp>
        <p:nvSpPr>
          <p:cNvPr id="55" name="num IRR"/>
          <p:cNvSpPr/>
          <p:nvPr/>
        </p:nvSpPr>
        <p:spPr>
          <a:xfrm>
            <a:off x="1510066" y="4041648"/>
            <a:ext cx="1180882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555786" y="4087368"/>
            <a:ext cx="10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35.1%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1555786" y="4352544"/>
            <a:ext cx="10894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650" dirty="0"/>
          </a:p>
        </p:txBody>
      </p:sp>
      <p:sp>
        <p:nvSpPr>
          <p:cNvPr id="58" name="num B/C"/>
          <p:cNvSpPr/>
          <p:nvPr/>
        </p:nvSpPr>
        <p:spPr>
          <a:xfrm>
            <a:off x="2745813" y="4041648"/>
            <a:ext cx="1180882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791533" y="4087368"/>
            <a:ext cx="10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2.95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2791533" y="4352544"/>
            <a:ext cx="10894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B/C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650" dirty="0"/>
          </a:p>
        </p:txBody>
      </p:sp>
      <p:sp>
        <p:nvSpPr>
          <p:cNvPr id="61" name="num Cash payback"/>
          <p:cNvSpPr/>
          <p:nvPr/>
        </p:nvSpPr>
        <p:spPr>
          <a:xfrm>
            <a:off x="3981559" y="4041648"/>
            <a:ext cx="1180882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027279" y="4087368"/>
            <a:ext cx="10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2031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4027279" y="4352544"/>
            <a:ext cx="10894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payback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650" dirty="0"/>
          </a:p>
        </p:txBody>
      </p:sp>
      <p:sp>
        <p:nvSpPr>
          <p:cNvPr id="64" name="num 5-year NPV"/>
          <p:cNvSpPr/>
          <p:nvPr/>
        </p:nvSpPr>
        <p:spPr>
          <a:xfrm>
            <a:off x="5217305" y="4041648"/>
            <a:ext cx="1180882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263025" y="4087368"/>
            <a:ext cx="10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−Rp46bn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5263025" y="4352544"/>
            <a:ext cx="10894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5-year NPV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650" dirty="0"/>
          </a:p>
        </p:txBody>
      </p:sp>
      <p:sp>
        <p:nvSpPr>
          <p:cNvPr id="67" name="num Capex"/>
          <p:cNvSpPr/>
          <p:nvPr/>
        </p:nvSpPr>
        <p:spPr>
          <a:xfrm>
            <a:off x="6453051" y="4041648"/>
            <a:ext cx="1180882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498771" y="4087368"/>
            <a:ext cx="10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Rp295bn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498771" y="4352544"/>
            <a:ext cx="10894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Capex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650" dirty="0"/>
          </a:p>
        </p:txBody>
      </p:sp>
      <p:sp>
        <p:nvSpPr>
          <p:cNvPr id="70" name="num Failed-pilot cash"/>
          <p:cNvSpPr/>
          <p:nvPr/>
        </p:nvSpPr>
        <p:spPr>
          <a:xfrm>
            <a:off x="7688798" y="4041648"/>
            <a:ext cx="1180882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734518" y="4087368"/>
            <a:ext cx="10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Rp98bn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7734518" y="4352544"/>
            <a:ext cx="10894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Failed-pilot cash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H.O.M.E.: Telkomsel household connectivity portfolio</dc:title>
  <dc:subject>PptxGenJS Presentation</dc:subject>
  <dc:creator>Team [name]</dc:creator>
  <cp:lastModifiedBy>Team [name]</cp:lastModifiedBy>
  <cp:revision>1</cp:revision>
  <dcterms:created xsi:type="dcterms:W3CDTF">2026-10-12T02:30:50Z</dcterms:created>
  <dcterms:modified xsi:type="dcterms:W3CDTF">2026-10-12T02:30:50Z</dcterms:modified>
</cp:coreProperties>
</file>