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1827" y="129354"/>
            <a:ext cx="7545699" cy="2802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1800" b="1" i="1">
                <a:solidFill>
                  <a:srgbClr val="0B63F6"/>
                </a:solidFill>
                <a:latin typeface="Arial"/>
              </a:rPr>
              <a:t>Root-Cause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01827" y="388064"/>
            <a:ext cx="8623657" cy="28026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1600" b="1" i="0">
                <a:solidFill>
                  <a:srgbClr val="0B63F6"/>
                </a:solidFill>
                <a:latin typeface="Arial"/>
              </a:rPr>
              <a:t>Three root causes</a:t>
            </a:r>
            <a:r>
              <a:rPr sz="1600" b="0" i="0">
                <a:solidFill>
                  <a:srgbClr val="000000"/>
                </a:solidFill>
                <a:latin typeface="Arial"/>
              </a:rPr>
              <a:t> — not awareness or commission rate — explain the adoption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9054839" y="150913"/>
            <a:ext cx="1401344" cy="43118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CAREER</a:t>
            </a:r>
          </a:p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INSIGHT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0082" y="172473"/>
            <a:ext cx="10779" cy="388064"/>
          </a:xfrm>
          <a:prstGeom prst="rect">
            <a:avLst/>
          </a:prstGeom>
          <a:solidFill>
            <a:srgbClr val="BBBBB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671775" y="150913"/>
            <a:ext cx="1293548" cy="43118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2200" b="1" i="0">
                <a:solidFill>
                  <a:srgbClr val="0B63F6"/>
                </a:solidFill>
                <a:latin typeface="Arial"/>
              </a:rPr>
              <a:t>blibli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827" y="1121075"/>
            <a:ext cx="1767849" cy="4559758"/>
          </a:xfrm>
          <a:prstGeom prst="roundRect">
            <a:avLst>
              <a:gd name="adj" fmla="val 3000"/>
            </a:avLst>
          </a:prstGeom>
          <a:solidFill>
            <a:srgbClr val="0A4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182" y="1228871"/>
            <a:ext cx="1509139" cy="17247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900" b="1" i="0">
                <a:solidFill>
                  <a:srgbClr val="FFC000"/>
                </a:solidFill>
                <a:latin typeface="Arial"/>
              </a:rPr>
              <a:t>KEY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182" y="1444462"/>
            <a:ext cx="1530699" cy="1293548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rIns="0" tIns="25400" bIns="25400"/>
          <a:lstStyle/>
          <a:p>
            <a:pPr algn="l"/>
            <a:r>
              <a:rPr sz="1200" b="1" i="1">
                <a:solidFill>
                  <a:srgbClr val="FFFFFF"/>
                </a:solidFill>
                <a:latin typeface="Arial"/>
              </a:rPr>
              <a:t>Why does Blibli Affiliate win so little creator effort despite its trust and ecosystem assets?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182" y="4311828"/>
            <a:ext cx="1552258" cy="127198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b" wrap="square" lIns="0" rIns="0" tIns="25400" bIns="25400"/>
          <a:lstStyle/>
          <a:p>
            <a:pPr algn="l"/>
            <a:r>
              <a:rPr sz="800" b="0" i="0">
                <a:solidFill>
                  <a:srgbClr val="FFFFFF"/>
                </a:solidFill>
                <a:latin typeface="Arial"/>
              </a:rPr>
              <a:t>The tree is MECE on a creator's expected value per post: </a:t>
            </a:r>
            <a:r>
              <a:rPr sz="800" b="1" i="0">
                <a:solidFill>
                  <a:srgbClr val="FFC000"/>
                </a:solidFill>
                <a:latin typeface="Arial"/>
              </a:rPr>
              <a:t>buyers reached (A)</a:t>
            </a:r>
            <a:r>
              <a:rPr sz="800" b="0" i="0">
                <a:solidFill>
                  <a:srgbClr val="FFFFFF"/>
                </a:solidFill>
                <a:latin typeface="Arial"/>
              </a:rPr>
              <a:t> × </a:t>
            </a:r>
            <a:r>
              <a:rPr sz="800" b="1" i="0">
                <a:solidFill>
                  <a:srgbClr val="FFC000"/>
                </a:solidFill>
                <a:latin typeface="Arial"/>
              </a:rPr>
              <a:t>pay per buyer (B)</a:t>
            </a:r>
            <a:r>
              <a:rPr sz="800" b="0" i="0">
                <a:solidFill>
                  <a:srgbClr val="FFFFFF"/>
                </a:solidFill>
                <a:latin typeface="Arial"/>
              </a:rPr>
              <a:t> × </a:t>
            </a:r>
            <a:r>
              <a:rPr sz="800" b="1" i="0">
                <a:solidFill>
                  <a:srgbClr val="FFC000"/>
                </a:solidFill>
                <a:latin typeface="Arial"/>
              </a:rPr>
              <a:t>confidence to act (C)</a:t>
            </a:r>
            <a:r>
              <a:rPr baseline="30000" sz="600" b="0" i="0">
                <a:solidFill>
                  <a:srgbClr val="FFFFFF"/>
                </a:solidFill>
                <a:latin typeface="Arial"/>
              </a:rPr>
              <a:t>[1]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55914" y="1897204"/>
            <a:ext cx="0" cy="3007500"/>
          </a:xfrm>
          <a:prstGeom prst="line">
            <a:avLst/>
          </a:prstGeom>
          <a:ln w="15875">
            <a:solidFill>
              <a:srgbClr val="0A4AA6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069677" y="1897204"/>
            <a:ext cx="204812" cy="0"/>
          </a:xfrm>
          <a:prstGeom prst="line">
            <a:avLst/>
          </a:prstGeom>
          <a:ln w="15875">
            <a:solidFill>
              <a:srgbClr val="0A4AA6"/>
            </a:solidFill>
          </a:ln>
        </p:spPr>
      </p:cxnSp>
      <p:sp>
        <p:nvSpPr>
          <p:cNvPr id="13" name="Rounded Rectangle 12"/>
          <p:cNvSpPr/>
          <p:nvPr/>
        </p:nvSpPr>
        <p:spPr>
          <a:xfrm>
            <a:off x="2274489" y="1218091"/>
            <a:ext cx="1821747" cy="1358225"/>
          </a:xfrm>
          <a:prstGeom prst="roundRect">
            <a:avLst>
              <a:gd name="adj" fmla="val 6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82285" y="1336666"/>
            <a:ext cx="258709" cy="25870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1100" b="1" i="0">
                <a:solidFill>
                  <a:srgbClr val="0A4AA6"/>
                </a:solidFill>
                <a:latin typeface="Arial"/>
              </a:rPr>
              <a:t>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4892" y="1304328"/>
            <a:ext cx="1347446" cy="3018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Demand access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82285" y="1670833"/>
            <a:ext cx="1638494" cy="75456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rIns="0" tIns="25400" bIns="25400"/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creators can't turn their audience into Blibli buyers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0269" y="1218091"/>
            <a:ext cx="4958602" cy="4096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6505" y="1218091"/>
            <a:ext cx="4150134" cy="40962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Few followers buy on Blibli: ≈1–3% of physical-goods e-commerce GMV</a:t>
            </a:r>
            <a:r>
              <a:rPr baseline="30000" sz="850" b="0" i="0">
                <a:solidFill>
                  <a:srgbClr val="000000"/>
                </a:solidFill>
                <a:latin typeface="Arial"/>
              </a:rPr>
              <a:t>[2]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77554" y="1304328"/>
            <a:ext cx="485080" cy="237150"/>
          </a:xfrm>
          <a:prstGeom prst="roundRect">
            <a:avLst>
              <a:gd name="adj" fmla="val 20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E* U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096237" y="1422903"/>
            <a:ext cx="194032" cy="474301"/>
          </a:xfrm>
          <a:prstGeom prst="line">
            <a:avLst/>
          </a:prstGeom>
          <a:ln w="9525">
            <a:solidFill>
              <a:srgbClr val="0A4AA6"/>
            </a:solidFill>
          </a:ln>
        </p:spPr>
      </p:cxnSp>
      <p:sp>
        <p:nvSpPr>
          <p:cNvPr id="21" name="Rounded Rectangle 20"/>
          <p:cNvSpPr/>
          <p:nvPr/>
        </p:nvSpPr>
        <p:spPr>
          <a:xfrm>
            <a:off x="4290269" y="1692392"/>
            <a:ext cx="4958602" cy="4096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6505" y="1692392"/>
            <a:ext cx="4150134" cy="40962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Its strongest categories are bought rarely: ≈0.65 orders per user a month</a:t>
            </a:r>
            <a:r>
              <a:rPr baseline="30000" sz="850" b="0" i="0">
                <a:solidFill>
                  <a:srgbClr val="000000"/>
                </a:solidFill>
                <a:latin typeface="Arial"/>
              </a:rPr>
              <a:t>[2]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77554" y="1778629"/>
            <a:ext cx="485080" cy="237150"/>
          </a:xfrm>
          <a:prstGeom prst="roundRect">
            <a:avLst>
              <a:gd name="adj" fmla="val 20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E*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096237" y="1897204"/>
            <a:ext cx="194032" cy="0"/>
          </a:xfrm>
          <a:prstGeom prst="line">
            <a:avLst/>
          </a:prstGeom>
          <a:ln w="9525">
            <a:solidFill>
              <a:srgbClr val="0A4AA6"/>
            </a:solidFill>
          </a:ln>
        </p:spPr>
      </p:cxnSp>
      <p:sp>
        <p:nvSpPr>
          <p:cNvPr id="25" name="Rounded Rectangle 24"/>
          <p:cNvSpPr/>
          <p:nvPr/>
        </p:nvSpPr>
        <p:spPr>
          <a:xfrm>
            <a:off x="4290269" y="2166693"/>
            <a:ext cx="4958602" cy="4096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76505" y="2166693"/>
            <a:ext cx="4150134" cy="40962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TikTok keeps commerce in-app; Blibli's own affiliate channels are YouTube, IG, WhatsApp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77554" y="2252930"/>
            <a:ext cx="485080" cy="237150"/>
          </a:xfrm>
          <a:prstGeom prst="roundRect">
            <a:avLst>
              <a:gd name="adj" fmla="val 20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U 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96237" y="1897204"/>
            <a:ext cx="194032" cy="474301"/>
          </a:xfrm>
          <a:prstGeom prst="line">
            <a:avLst/>
          </a:prstGeom>
          <a:ln w="9525">
            <a:solidFill>
              <a:srgbClr val="0A4AA6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2069677" y="3395564"/>
            <a:ext cx="204812" cy="0"/>
          </a:xfrm>
          <a:prstGeom prst="line">
            <a:avLst/>
          </a:prstGeom>
          <a:ln w="15875">
            <a:solidFill>
              <a:srgbClr val="0A4AA6"/>
            </a:solidFill>
          </a:ln>
        </p:spPr>
      </p:cxnSp>
      <p:sp>
        <p:nvSpPr>
          <p:cNvPr id="30" name="Rounded Rectangle 29"/>
          <p:cNvSpPr/>
          <p:nvPr/>
        </p:nvSpPr>
        <p:spPr>
          <a:xfrm>
            <a:off x="2274489" y="2716451"/>
            <a:ext cx="1821747" cy="1358225"/>
          </a:xfrm>
          <a:prstGeom prst="roundRect">
            <a:avLst>
              <a:gd name="adj" fmla="val 6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382285" y="2835027"/>
            <a:ext cx="258709" cy="25870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1100" b="1" i="0">
                <a:solidFill>
                  <a:srgbClr val="0A4AA6"/>
                </a:solidFill>
                <a:latin typeface="Arial"/>
              </a:rPr>
              <a:t>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4892" y="2802688"/>
            <a:ext cx="1347446" cy="3018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Earnings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82285" y="3169193"/>
            <a:ext cx="1638494" cy="75456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rIns="0" tIns="25400" bIns="25400"/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the upside is Blibli-funded, capped and narrow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0269" y="2716451"/>
            <a:ext cx="4958602" cy="4096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76505" y="2716451"/>
            <a:ext cx="4150134" cy="40962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No scalable partner-funded upside: Shopee's seller XTRA is uncapped; Blibli's brand bonus is small</a:t>
            </a:r>
            <a:r>
              <a:rPr baseline="30000" sz="850" b="0" i="0">
                <a:solidFill>
                  <a:srgbClr val="000000"/>
                </a:solidFill>
                <a:latin typeface="Arial"/>
              </a:rPr>
              <a:t>[3]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77554" y="2802688"/>
            <a:ext cx="485080" cy="237150"/>
          </a:xfrm>
          <a:prstGeom prst="roundRect">
            <a:avLst>
              <a:gd name="adj" fmla="val 20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4096237" y="2921263"/>
            <a:ext cx="194032" cy="474301"/>
          </a:xfrm>
          <a:prstGeom prst="line">
            <a:avLst/>
          </a:prstGeom>
          <a:ln w="9525">
            <a:solidFill>
              <a:srgbClr val="0A4AA6"/>
            </a:solidFill>
          </a:ln>
        </p:spPr>
      </p:cxnSp>
      <p:sp>
        <p:nvSpPr>
          <p:cNvPr id="38" name="Rounded Rectangle 37"/>
          <p:cNvSpPr/>
          <p:nvPr/>
        </p:nvSpPr>
        <p:spPr>
          <a:xfrm>
            <a:off x="4290269" y="3190753"/>
            <a:ext cx="4958602" cy="4096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76505" y="3190753"/>
            <a:ext cx="4150134" cy="40962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Narrow earnable surface: ≈39–52% of online B2C TPV earns nothing; cross-vertical buys void</a:t>
            </a:r>
            <a:r>
              <a:rPr baseline="30000" sz="850" b="0" i="0">
                <a:solidFill>
                  <a:srgbClr val="000000"/>
                </a:solidFill>
                <a:latin typeface="Arial"/>
              </a:rPr>
              <a:t>[3]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77554" y="3276989"/>
            <a:ext cx="485080" cy="237150"/>
          </a:xfrm>
          <a:prstGeom prst="roundRect">
            <a:avLst>
              <a:gd name="adj" fmla="val 20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E* 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096237" y="3395564"/>
            <a:ext cx="194032" cy="0"/>
          </a:xfrm>
          <a:prstGeom prst="line">
            <a:avLst/>
          </a:prstGeom>
          <a:ln w="9525">
            <a:solidFill>
              <a:srgbClr val="0A4AA6"/>
            </a:solidFill>
          </a:ln>
        </p:spPr>
      </p:cxnSp>
      <p:sp>
        <p:nvSpPr>
          <p:cNvPr id="42" name="Rounded Rectangle 41"/>
          <p:cNvSpPr/>
          <p:nvPr/>
        </p:nvSpPr>
        <p:spPr>
          <a:xfrm>
            <a:off x="4290269" y="3665054"/>
            <a:ext cx="4958602" cy="4096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76505" y="3665054"/>
            <a:ext cx="4150134" cy="40962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Short credit on travel (24 h) and two separate balances</a:t>
            </a:r>
            <a:r>
              <a:rPr baseline="30000" sz="850" b="0" i="0">
                <a:solidFill>
                  <a:srgbClr val="000000"/>
                </a:solidFill>
                <a:latin typeface="Arial"/>
              </a:rPr>
              <a:t>[3]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77554" y="3751290"/>
            <a:ext cx="485080" cy="237150"/>
          </a:xfrm>
          <a:prstGeom prst="roundRect">
            <a:avLst>
              <a:gd name="adj" fmla="val 20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096237" y="3395564"/>
            <a:ext cx="194032" cy="474302"/>
          </a:xfrm>
          <a:prstGeom prst="line">
            <a:avLst/>
          </a:prstGeom>
          <a:ln w="9525">
            <a:solidFill>
              <a:srgbClr val="0A4AA6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2069677" y="4904704"/>
            <a:ext cx="204812" cy="0"/>
          </a:xfrm>
          <a:prstGeom prst="line">
            <a:avLst/>
          </a:prstGeom>
          <a:ln w="15875">
            <a:solidFill>
              <a:srgbClr val="0A4AA6"/>
            </a:solidFill>
          </a:ln>
        </p:spPr>
      </p:cxnSp>
      <p:sp>
        <p:nvSpPr>
          <p:cNvPr id="47" name="Rounded Rectangle 46"/>
          <p:cNvSpPr/>
          <p:nvPr/>
        </p:nvSpPr>
        <p:spPr>
          <a:xfrm>
            <a:off x="2274489" y="4225591"/>
            <a:ext cx="1821747" cy="1358225"/>
          </a:xfrm>
          <a:prstGeom prst="roundRect">
            <a:avLst>
              <a:gd name="adj" fmla="val 6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82285" y="4344167"/>
            <a:ext cx="258709" cy="258709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1100" b="1" i="0">
                <a:solidFill>
                  <a:srgbClr val="0A4AA6"/>
                </a:solidFill>
                <a:latin typeface="Arial"/>
              </a:rPr>
              <a:t>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4892" y="4311828"/>
            <a:ext cx="1347446" cy="30182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Rules &amp; trust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82285" y="4678333"/>
            <a:ext cx="1638494" cy="75456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rIns="0" tIns="25400" bIns="25400"/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grassroots creators can't predict or defend earnings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0269" y="4225591"/>
            <a:ext cx="4958602" cy="4096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76505" y="4225591"/>
            <a:ext cx="4150134" cy="40962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Circle selling is voidable: "relasi", resale, dropship and bulk purchases excluded</a:t>
            </a:r>
            <a:r>
              <a:rPr baseline="30000" sz="850" b="0" i="0">
                <a:solidFill>
                  <a:srgbClr val="000000"/>
                </a:solidFill>
                <a:latin typeface="Arial"/>
              </a:rPr>
              <a:t>[3]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77554" y="4311828"/>
            <a:ext cx="485080" cy="237150"/>
          </a:xfrm>
          <a:prstGeom prst="roundRect">
            <a:avLst>
              <a:gd name="adj" fmla="val 20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</a:t>
            </a:r>
          </a:p>
        </p:txBody>
      </p:sp>
      <p:cxnSp>
        <p:nvCxnSpPr>
          <p:cNvPr id="54" name="Connector 53"/>
          <p:cNvCxnSpPr/>
          <p:nvPr/>
        </p:nvCxnSpPr>
        <p:spPr>
          <a:xfrm flipV="1">
            <a:off x="4096237" y="4430403"/>
            <a:ext cx="194032" cy="474301"/>
          </a:xfrm>
          <a:prstGeom prst="line">
            <a:avLst/>
          </a:prstGeom>
          <a:ln w="9525">
            <a:solidFill>
              <a:srgbClr val="0A4AA6"/>
            </a:solidFill>
          </a:ln>
        </p:spPr>
      </p:cxnSp>
      <p:sp>
        <p:nvSpPr>
          <p:cNvPr id="55" name="Rounded Rectangle 54"/>
          <p:cNvSpPr/>
          <p:nvPr/>
        </p:nvSpPr>
        <p:spPr>
          <a:xfrm>
            <a:off x="4290269" y="4699893"/>
            <a:ext cx="4958602" cy="4096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76505" y="4699893"/>
            <a:ext cx="4150134" cy="40962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"Affiliate" carries scam stigma — Blibli repeatedly warns of fake schemes</a:t>
            </a:r>
            <a:r>
              <a:rPr baseline="30000" sz="850" b="0" i="0">
                <a:solidFill>
                  <a:srgbClr val="000000"/>
                </a:solidFill>
                <a:latin typeface="Arial"/>
              </a:rPr>
              <a:t>[5]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677554" y="4786129"/>
            <a:ext cx="485080" cy="237150"/>
          </a:xfrm>
          <a:prstGeom prst="roundRect">
            <a:avLst>
              <a:gd name="adj" fmla="val 20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 U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4096237" y="4904704"/>
            <a:ext cx="194032" cy="0"/>
          </a:xfrm>
          <a:prstGeom prst="line">
            <a:avLst/>
          </a:prstGeom>
          <a:ln w="9525">
            <a:solidFill>
              <a:srgbClr val="0A4AA6"/>
            </a:solidFill>
          </a:ln>
        </p:spPr>
      </p:cxnSp>
      <p:sp>
        <p:nvSpPr>
          <p:cNvPr id="59" name="Rounded Rectangle 58"/>
          <p:cNvSpPr/>
          <p:nvPr/>
        </p:nvSpPr>
        <p:spPr>
          <a:xfrm>
            <a:off x="4290269" y="5174194"/>
            <a:ext cx="4958602" cy="40962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76505" y="5174194"/>
            <a:ext cx="4150134" cy="40962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No public level, sample or progression ladder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677554" y="5260430"/>
            <a:ext cx="485080" cy="237150"/>
          </a:xfrm>
          <a:prstGeom prst="roundRect">
            <a:avLst>
              <a:gd name="adj" fmla="val 20000"/>
            </a:avLst>
          </a:prstGeom>
          <a:solidFill>
            <a:srgbClr val="0B63F6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P M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096237" y="4904704"/>
            <a:ext cx="194032" cy="474302"/>
          </a:xfrm>
          <a:prstGeom prst="line">
            <a:avLst/>
          </a:prstGeom>
          <a:ln w="9525">
            <a:solidFill>
              <a:srgbClr val="0A4AA6"/>
            </a:solidFill>
          </a:ln>
        </p:spPr>
      </p:cxnSp>
      <p:sp>
        <p:nvSpPr>
          <p:cNvPr id="63" name="Rectangle 62"/>
          <p:cNvSpPr/>
          <p:nvPr/>
        </p:nvSpPr>
        <p:spPr>
          <a:xfrm>
            <a:off x="9399786" y="1121075"/>
            <a:ext cx="2479301" cy="215591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1000" b="1" i="0">
                <a:solidFill>
                  <a:srgbClr val="D93A3A"/>
                </a:solidFill>
                <a:latin typeface="Arial"/>
              </a:rPr>
              <a:t>Rejected as the primary cause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399786" y="1358225"/>
            <a:ext cx="2479301" cy="560537"/>
          </a:xfrm>
          <a:prstGeom prst="roundRect">
            <a:avLst>
              <a:gd name="adj" fmla="val 8000"/>
            </a:avLst>
          </a:prstGeom>
          <a:solidFill>
            <a:srgbClr val="FB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496802" y="1466021"/>
            <a:ext cx="194032" cy="194032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66291" y="1401344"/>
            <a:ext cx="2069677" cy="49586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rIns="0" tIns="25400" bIns="2540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Low awareness</a:t>
            </a:r>
          </a:p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Moderate, not root: unmeasured, entry is easy — and A's in-app prompt reaches buyers anyway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399786" y="1994220"/>
            <a:ext cx="2479301" cy="506639"/>
          </a:xfrm>
          <a:prstGeom prst="roundRect">
            <a:avLst>
              <a:gd name="adj" fmla="val 8000"/>
            </a:avLst>
          </a:prstGeom>
          <a:solidFill>
            <a:srgbClr val="FB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496802" y="2102016"/>
            <a:ext cx="194032" cy="194032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766291" y="2037338"/>
            <a:ext cx="2069677" cy="441962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rIns="0" tIns="25400" bIns="2540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Registration friction</a:t>
            </a:r>
          </a:p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No follower minimum; links work before KYC</a:t>
            </a:r>
            <a:r>
              <a:rPr baseline="30000" sz="800" b="0" i="0">
                <a:solidFill>
                  <a:srgbClr val="000000"/>
                </a:solidFill>
                <a:latin typeface="Arial"/>
              </a:rPr>
              <a:t>[3]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399786" y="2630215"/>
            <a:ext cx="2479301" cy="571317"/>
          </a:xfrm>
          <a:prstGeom prst="roundRect">
            <a:avLst>
              <a:gd name="adj" fmla="val 8000"/>
            </a:avLst>
          </a:prstGeom>
          <a:solidFill>
            <a:srgbClr val="FBE4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496802" y="2738011"/>
            <a:ext cx="194032" cy="194032"/>
          </a:xfrm>
          <a:prstGeom prst="ellipse">
            <a:avLst/>
          </a:prstGeom>
          <a:solidFill>
            <a:srgbClr val="D93A3A"/>
          </a:solidFill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766291" y="2673333"/>
            <a:ext cx="2069677" cy="50663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rIns="0" tIns="25400" bIns="25400"/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Commission rate too low</a:t>
            </a:r>
          </a:p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Blibli's caps (Rp30–150k) sit above Shopee's Rp10k base cap</a:t>
            </a:r>
            <a:r>
              <a:rPr baseline="30000" sz="800" b="0" i="0">
                <a:solidFill>
                  <a:srgbClr val="000000"/>
                </a:solidFill>
                <a:latin typeface="Arial"/>
              </a:rPr>
              <a:t>[4]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399786" y="3352446"/>
            <a:ext cx="2479301" cy="2317607"/>
          </a:xfrm>
          <a:prstGeom prst="roundRect">
            <a:avLst>
              <a:gd name="adj" fmla="val 3000"/>
            </a:avLst>
          </a:prstGeom>
          <a:solidFill>
            <a:srgbClr val="FFF4C7"/>
          </a:solidFill>
          <a:ln w="9525">
            <a:solidFill>
              <a:srgbClr val="FFC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529141" y="3449462"/>
            <a:ext cx="2263709" cy="2155914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rIns="0" tIns="25400" bIns="25400"/>
          <a:lstStyle/>
          <a:p>
            <a:pPr algn="l"/>
            <a:r>
              <a:rPr sz="950" b="1" i="0">
                <a:solidFill>
                  <a:srgbClr val="0A4AA6"/>
                </a:solidFill>
                <a:latin typeface="Arial"/>
              </a:rPr>
              <a:t>Five Whys — all three chains converge</a:t>
            </a:r>
            <a:r>
              <a:rPr baseline="30000" sz="950" b="1" i="0">
                <a:solidFill>
                  <a:srgbClr val="0A4AA6"/>
                </a:solidFill>
                <a:latin typeface="Arial"/>
              </a:rPr>
              <a:t>[6]</a:t>
            </a:r>
          </a:p>
          <a:p>
            <a:pPr algn="l"/>
          </a:p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Affiliate is run as a Blibli-funded performance channel on a mostly first-party, travel-heavy ecosystem, with rules written for fraud control rather than for creators. The assets exist; the operating model doesn't let creators use them.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01827" y="5788629"/>
            <a:ext cx="11577259" cy="603655"/>
          </a:xfrm>
          <a:prstGeom prst="roundRect">
            <a:avLst>
              <a:gd name="adj" fmla="val 12000"/>
            </a:avLst>
          </a:prstGeom>
          <a:solidFill>
            <a:srgbClr val="0A4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1182" y="5788629"/>
            <a:ext cx="11318549" cy="603655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1000" b="1" i="0">
                <a:solidFill>
                  <a:srgbClr val="FFC000"/>
                </a:solidFill>
                <a:latin typeface="Arial"/>
              </a:rPr>
              <a:t>Restated: </a:t>
            </a:r>
            <a:r>
              <a:rPr sz="1000" b="0" i="0">
                <a:solidFill>
                  <a:srgbClr val="FFFFFF"/>
                </a:solidFill>
                <a:latin typeface="Arial"/>
              </a:rPr>
              <a:t>the gap is driven by (A) demand access — audiences rarely buy on Blibli and its best categories are bought rarely; (B) earnings design — the upside is Blibli-funded, capped and narrow; (C) rules &amp; trust — circle selling is voidable and "affiliate" carries scam stigma.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1827" y="6467742"/>
            <a:ext cx="7545699" cy="258709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0" rIns="0" tIns="25400" bIns="25400"/>
          <a:lstStyle/>
          <a:p>
            <a:pPr algn="l"/>
            <a:r>
              <a:rPr sz="650" b="0" i="1">
                <a:solidFill>
                  <a:srgbClr val="666666"/>
                </a:solidFill>
                <a:latin typeface="Arial"/>
              </a:rPr>
              <a:t>Source: </a:t>
            </a:r>
            <a:r>
              <a:rPr baseline="30000" sz="650" b="0" i="1">
                <a:solidFill>
                  <a:srgbClr val="666666"/>
                </a:solidFill>
                <a:latin typeface="Arial"/>
              </a:rPr>
              <a:t>[1]</a:t>
            </a:r>
            <a:r>
              <a:rPr sz="650" b="0" i="1">
                <a:solidFill>
                  <a:srgbClr val="666666"/>
                </a:solidFill>
                <a:latin typeface="Arial"/>
              </a:rPr>
              <a:t> Issue tree, Appendix 18  </a:t>
            </a:r>
            <a:r>
              <a:rPr baseline="30000" sz="650" b="0" i="1">
                <a:solidFill>
                  <a:srgbClr val="666666"/>
                </a:solidFill>
                <a:latin typeface="Arial"/>
              </a:rPr>
              <a:t>[2]</a:t>
            </a:r>
            <a:r>
              <a:rPr sz="650" b="0" i="1">
                <a:solidFill>
                  <a:srgbClr val="666666"/>
                </a:solidFill>
                <a:latin typeface="Arial"/>
              </a:rPr>
              <a:t> GDN 1H26 results; Appendix 10  </a:t>
            </a:r>
            <a:r>
              <a:rPr baseline="30000" sz="650" b="0" i="1">
                <a:solidFill>
                  <a:srgbClr val="666666"/>
                </a:solidFill>
                <a:latin typeface="Arial"/>
              </a:rPr>
              <a:t>[3]</a:t>
            </a:r>
            <a:r>
              <a:rPr sz="650" b="0" i="1">
                <a:solidFill>
                  <a:srgbClr val="666666"/>
                </a:solidFill>
                <a:latin typeface="Arial"/>
              </a:rPr>
              <a:t> Blibli Tiket Affiliate S&amp;K (2026); Appendix 20  </a:t>
            </a:r>
            <a:r>
              <a:rPr baseline="30000" sz="650" b="0" i="1">
                <a:solidFill>
                  <a:srgbClr val="666666"/>
                </a:solidFill>
                <a:latin typeface="Arial"/>
              </a:rPr>
              <a:t>[4]</a:t>
            </a:r>
            <a:r>
              <a:rPr sz="650" b="0" i="1">
                <a:solidFill>
                  <a:srgbClr val="666666"/>
                </a:solidFill>
                <a:latin typeface="Arial"/>
              </a:rPr>
              <a:t> Shopee Help Centre (2025)  </a:t>
            </a:r>
            <a:r>
              <a:rPr baseline="30000" sz="650" b="0" i="1">
                <a:solidFill>
                  <a:srgbClr val="666666"/>
                </a:solidFill>
                <a:latin typeface="Arial"/>
              </a:rPr>
              <a:t>[5]</a:t>
            </a:r>
            <a:r>
              <a:rPr sz="650" b="0" i="1">
                <a:solidFill>
                  <a:srgbClr val="666666"/>
                </a:solidFill>
                <a:latin typeface="Arial"/>
              </a:rPr>
              <a:t> Blibli advisories; Appendix 21  </a:t>
            </a:r>
            <a:r>
              <a:rPr baseline="30000" sz="650" b="0" i="1">
                <a:solidFill>
                  <a:srgbClr val="666666"/>
                </a:solidFill>
                <a:latin typeface="Arial"/>
              </a:rPr>
              <a:t>[6]</a:t>
            </a:r>
            <a:r>
              <a:rPr sz="650" b="0" i="1">
                <a:solidFill>
                  <a:srgbClr val="666666"/>
                </a:solidFill>
                <a:latin typeface="Arial"/>
              </a:rPr>
              <a:t> Five Whys &amp; qualification, Appendix 19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76882" y="6532420"/>
            <a:ext cx="3557258" cy="150913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l"/>
            <a:r>
              <a:rPr sz="700" b="0" i="0">
                <a:solidFill>
                  <a:srgbClr val="AAAAAA"/>
                </a:solidFill>
                <a:latin typeface="Arial"/>
              </a:rPr>
              <a:t>Background    </a:t>
            </a:r>
            <a:r>
              <a:rPr sz="700" b="1" i="0">
                <a:solidFill>
                  <a:srgbClr val="0B63F6"/>
                </a:solidFill>
                <a:latin typeface="Arial"/>
              </a:rPr>
              <a:t>Analysis    </a:t>
            </a:r>
            <a:r>
              <a:rPr sz="700" b="0" i="0">
                <a:solidFill>
                  <a:srgbClr val="AAAAAA"/>
                </a:solidFill>
                <a:latin typeface="Arial"/>
              </a:rPr>
              <a:t>Solution    </a:t>
            </a:r>
            <a:r>
              <a:rPr sz="700" b="0" i="0">
                <a:solidFill>
                  <a:srgbClr val="AAAAAA"/>
                </a:solidFill>
                <a:latin typeface="Arial"/>
              </a:rPr>
              <a:t>Implementation    </a:t>
            </a:r>
            <a:r>
              <a:rPr sz="700" b="0" i="0">
                <a:solidFill>
                  <a:srgbClr val="AAAAAA"/>
                </a:solidFill>
                <a:latin typeface="Arial"/>
              </a:rPr>
              <a:t>Projection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588039" y="6467742"/>
            <a:ext cx="291048" cy="215591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0" rIns="0" tIns="25400" bIns="25400"/>
          <a:lstStyle/>
          <a:p>
            <a:pPr algn="r"/>
            <a:r>
              <a:rPr sz="1100" b="1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